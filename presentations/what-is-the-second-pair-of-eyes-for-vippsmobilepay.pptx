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3 and 4 quietly assume the reviewer can read what they are given. This is the step that makes that true. Kemerer and Paulk measured in 2009 what happens to a reviewer who speeds up: up to 200 lines an hour they found most of the defects, faster than that about half. One in four AI-written pull requests now runs past 400 lines, which is two hours of one person's attention for a single change. Adyen, the one regulated payment company in this deck with a published account, keeps its automated changes under five files on average. Make the CI check a warning everywhere and a failure on the repositories the tier marked as carrying risk. Two honest limits: a size threshold is not a quality bar, and no number makes a change worth reading. And the draft-until-green rule is mine rather than a finding.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Keep the change small enough to be read</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Where each step lives</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First, decide what this repository touches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Does it move money, hold customer data, or neither?</a:t>
            </a:r>
          </a:p>
          <a:p>
            <a:pPr>
              <a:lnSpc>
                <a:spcPct val="115000"/>
              </a:lnSpc>
              <a:spcAft>
                <a:spcPts val="400"/>
              </a:spcAft>
            </a:pPr>
            <a:r>
              <a:rPr sz="1625" b="1">
                <a:solidFill>
                  <a:srgbClr val="5A78FF"/>
                </a:solidFill>
                <a:latin typeface="Arial"/>
              </a:rPr>
              <a:t>—  </a:t>
            </a:r>
            <a:r>
              <a:rPr b="0" sz="1625" i="0">
                <a:solidFill>
                  <a:srgbClr val="161225"/>
                </a:solidFill>
                <a:latin typeface="Arial"/>
              </a:rPr>
              <a:t>Write the answer in the README, under a short "Review rules" heading</a:t>
            </a:r>
          </a:p>
          <a:p>
            <a:pPr>
              <a:lnSpc>
                <a:spcPct val="115000"/>
              </a:lnSpc>
              <a:spcAft>
                <a:spcPts val="400"/>
              </a:spcAft>
            </a:pPr>
            <a:r>
              <a:rPr sz="1625" b="1">
                <a:solidFill>
                  <a:srgbClr val="5A78FF"/>
                </a:solidFill>
                <a:latin typeface="Arial"/>
              </a:rPr>
              <a:t>—  </a:t>
            </a:r>
            <a:r>
              <a:rPr b="0" sz="1625" i="0">
                <a:solidFill>
                  <a:srgbClr val="161225"/>
                </a:solidFill>
                <a:latin typeface="Arial"/>
              </a:rPr>
              <a:t>Say what follows: how many reviewers, whether a machine may approve, whether a security review is mandatory</a:t>
            </a:r>
          </a:p>
          <a:p>
            <a:pPr>
              <a:lnSpc>
                <a:spcPct val="115000"/>
              </a:lnSpc>
              <a:spcAft>
                <a:spcPts val="400"/>
              </a:spcAft>
            </a:pPr>
            <a:r>
              <a:rPr sz="1625" b="1">
                <a:solidFill>
                  <a:srgbClr val="5A78FF"/>
                </a:solidFill>
                <a:latin typeface="Arial"/>
              </a:rPr>
              <a:t>—  </a:t>
            </a:r>
            <a:r>
              <a:rPr b="0" sz="1625" i="0">
                <a:solidFill>
                  <a:srgbClr val="161225"/>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that follow from the tier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Keep the change small enough to be read</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716430"/>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reviewer named a moment ago has to be able to do the job. A change nobody can read in one sitting gets approved anyway.</a:t>
            </a:r>
          </a:p>
        </p:txBody>
      </p:sp>
      <p:sp>
        <p:nvSpPr>
          <p:cNvPr id="9" name="Rounded Rectangle 8"/>
          <p:cNvSpPr/>
          <p:nvPr/>
        </p:nvSpPr>
        <p:spPr>
          <a:xfrm>
            <a:off x="548640"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1" name="TextBox 10"/>
          <p:cNvSpPr txBox="1"/>
          <p:nvPr/>
        </p:nvSpPr>
        <p:spPr>
          <a:xfrm>
            <a:off x="731520"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found about half the defects</a:t>
            </a:r>
          </a:p>
        </p:txBody>
      </p:sp>
      <p:sp>
        <p:nvSpPr>
          <p:cNvPr id="12" name="Rounded Rectangle 11"/>
          <p:cNvSpPr/>
          <p:nvPr/>
        </p:nvSpPr>
        <p:spPr>
          <a:xfrm>
            <a:off x="4307738"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0618"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4" name="TextBox 13"/>
          <p:cNvSpPr txBox="1"/>
          <p:nvPr/>
        </p:nvSpPr>
        <p:spPr>
          <a:xfrm>
            <a:off x="4490618"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runs past 400 lines</a:t>
            </a:r>
          </a:p>
        </p:txBody>
      </p:sp>
      <p:sp>
        <p:nvSpPr>
          <p:cNvPr id="15" name="Rounded Rectangle 14"/>
          <p:cNvSpPr/>
          <p:nvPr/>
        </p:nvSpPr>
        <p:spPr>
          <a:xfrm>
            <a:off x="8066836"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9716"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&lt; 5 files</a:t>
            </a:r>
          </a:p>
        </p:txBody>
      </p:sp>
      <p:sp>
        <p:nvSpPr>
          <p:cNvPr id="17" name="TextBox 16"/>
          <p:cNvSpPr txBox="1"/>
          <p:nvPr/>
        </p:nvSpPr>
        <p:spPr>
          <a:xfrm>
            <a:off x="8249716"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Adyen's automated changes, which is what makes them "fast to review, easy to approve"</a:t>
            </a:r>
          </a:p>
        </p:txBody>
      </p:sp>
      <p:sp>
        <p:nvSpPr>
          <p:cNvPr id="18" name="Rectangle 17"/>
          <p:cNvSpPr/>
          <p:nvPr/>
        </p:nvSpPr>
        <p:spPr>
          <a:xfrm>
            <a:off x="548640" y="4827117"/>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918557"/>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Agree a size the repository does not go past without saying why, check it in CI, and keep the pull request in draft until the checks are green.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28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Where each step lives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graphicFrame>
        <p:nvGraphicFramePr>
          <p:cNvPr id="8" name="Table 7"/>
          <p:cNvGraphicFramePr>
            <a:graphicFrameLocks noGrp="1"/>
          </p:cNvGraphicFramePr>
          <p:nvPr/>
        </p:nvGraphicFramePr>
        <p:xfrm>
          <a:off x="548640" y="1371600"/>
          <a:ext cx="11094413" cy="3744468"/>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F5F5F2"/>
                          </a:solidFill>
                          <a:latin typeface="Arial"/>
                        </a:rPr>
                        <a:t>Step</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Where it lives</a:t>
                      </a:r>
                    </a:p>
                  </a:txBody>
                  <a:tcPr marL="73152" marR="73152" marT="45720" marB="45720" anchor="t">
                    <a:solidFill>
                      <a:srgbClr val="161225"/>
                    </a:solidFill>
                  </a:tcPr>
                </a:tc>
              </a:tr>
              <a:tr h="372618">
                <a:tc>
                  <a:txBody>
                    <a:bodyPr wrap="square"/>
                    <a:lstStyle/>
                    <a:p>
                      <a:pPr>
                        <a:lnSpc>
                          <a:spcPct val="110000"/>
                        </a:lnSpc>
                      </a:pPr>
                      <a:r>
                        <a:rPr b="1" sz="1365" i="0">
                          <a:solidFill>
                            <a:srgbClr val="161225"/>
                          </a:solidFill>
                          <a:latin typeface="Arial"/>
                        </a:rPr>
                        <a:t>01</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Write down what this repository touches, and what follows from it</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02</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Format, lint, test, static analysis, dependency and secret scanning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.github/workflows/, .github/dependabot.yml, settings</a:t>
                      </a:r>
                    </a:p>
                  </a:txBody>
                  <a:tcPr marL="73152" marR="73152" marT="45720" marB="45720" anchor="t">
                    <a:solidFill>
                      <a:srgbClr val="ECEBE6"/>
                    </a:solidFill>
                  </a:tcPr>
                </a:tc>
              </a:tr>
              <a:tr h="580644">
                <a:tc>
                  <a:txBody>
                    <a:bodyPr wrap="square"/>
                    <a:lstStyle/>
                    <a:p>
                      <a:pPr>
                        <a:lnSpc>
                          <a:spcPct val="110000"/>
                        </a:lnSpc>
                      </a:pPr>
                      <a:r>
                        <a:rPr b="1" sz="1365" i="0">
                          <a:solidFill>
                            <a:srgbClr val="161225"/>
                          </a:solidFill>
                          <a:latin typeface="Arial"/>
                        </a:rPr>
                        <a:t>03</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Require those checks, require a pull request, stop direct pushes, dismiss stale approvals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Branch protection, or a ruleset</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04</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named reviewer for the paths that carry risk</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.github/CODEOWNERS</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05</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Whether a machine may approve here, and why</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06</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size the repository does not go past without saying why</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CI check, plus draft until green</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07</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The template that explains and asks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.github/pull_request_template.md</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08</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Read ten merged pull requests and ask what you are seeing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calendar entry, not a tool</a:t>
                      </a:r>
                    </a:p>
                  </a:txBody>
                  <a:tcPr marL="73152" marR="73152" marT="45720" marB="45720" anchor="t">
                    <a:solidFill>
                      <a:srgbClr val="ECEBE6"/>
                    </a:solidFill>
                  </a:tcPr>
                </a:tc>
              </a:tr>
            </a:tbl>
          </a:graphicData>
        </a:graphic>
      </p:graphicFrame>
      <p:sp>
        <p:nvSpPr>
          <p:cNvPr id="9" name="TextBox 8"/>
          <p:cNvSpPr txBox="1"/>
          <p:nvPr/>
        </p:nvSpPr>
        <p:spPr>
          <a:xfrm>
            <a:off x="548640" y="5459806"/>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Every step but the last is a file or a setting, copied to the next repository in minutes and reverted by deleting a line. The last one is half an hour a month. </a:t>
            </a:r>
            <a:r>
              <a:rPr b="1" sz="1690" i="0">
                <a:solidFill>
                  <a:srgbClr val="161225"/>
                </a:solidFill>
                <a:latin typeface="Arial"/>
              </a:rPr>
              <a:t>I have not checked which of these are already on in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34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34</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35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35</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