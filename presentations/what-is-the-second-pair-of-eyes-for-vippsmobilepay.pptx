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3 and 4 quietly assume the reviewer can read what they are given. This is the step that makes that true. Kemerer and Paulk measured in 2009 what happens to a reviewer who speeds up: up to 200 lines an hour they found most of the defects, faster than that about half. One in four AI-written pull requests now runs past 400 lines, which is two hours of one person's attention for a single change. Adyen, the one regulated payment company in this deck with a published account, keeps its automated changes under five files on average. Make the CI check a warning everywhere and a failure on the repositories the tier marked as carrying risk. Two honest limits: a size threshold is not a quality bar, and no number makes a change worth reading. And the draft-until-green rule is mine rather than a finding.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 row above it can be in place and still stop working: the checks stay green, the approvals keep arriving, the template keeps getting filled in, and none of that requires anyone to have read the change. What to look for in those ten pull requests: approvals that arrived a minute after opening on changes too long to read in a minute, template sections filled with N/A or the branch name, one person approving everything, code owners approving paths they never otherwise touch.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5F5F2"/>
                </a:solidFill>
                <a:latin typeface="Arial"/>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FF5B24"/>
                </a:solidFill>
                <a:latin typeface="Arial"/>
              </a:rPr>
              <a:t>For?</a:t>
            </a:r>
          </a:p>
        </p:txBody>
      </p:sp>
      <p:sp>
        <p:nvSpPr>
          <p:cNvPr id="8" name="Oval 7"/>
          <p:cNvSpPr/>
          <p:nvPr/>
        </p:nvSpPr>
        <p:spPr>
          <a:xfrm>
            <a:off x="9646920" y="4800600"/>
            <a:ext cx="566928" cy="566928"/>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FF5B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F5F5F2"/>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F5F5F2"/>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F5F5F2"/>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Who lives with the change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Defects, or understanding</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regulator's pair of eyes</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pull request does three jobs</a:t>
            </a:r>
          </a:p>
        </p:txBody>
      </p:sp>
      <p:sp>
        <p:nvSpPr>
          <p:cNvPr id="19" name="Oval 1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pull request was a request to integrate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a:t>
            </a:r>
          </a:p>
        </p:txBody>
      </p:sp>
      <p:sp>
        <p:nvSpPr>
          <p:cNvPr id="8" name="Rectangle 7"/>
          <p:cNvSpPr/>
          <p:nvPr/>
        </p:nvSpPr>
        <p:spPr>
          <a:xfrm>
            <a:off x="548640" y="2286000"/>
            <a:ext cx="11094415" cy="18288"/>
          </a:xfrm>
          <a:prstGeom prst="rect">
            <a:avLst/>
          </a:prstGeom>
          <a:solidFill>
            <a:srgbClr val="DEDD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FF5B24"/>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5A78FF"/>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Who lives with the change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Why people wanted another person</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Google's reason was different from the start: review exists so that other developers can </a:t>
            </a:r>
            <a:r>
              <a:rPr b="1" sz="1690" i="0">
                <a:solidFill>
                  <a:srgbClr val="161225"/>
                </a:solidFill>
                <a:latin typeface="Arial"/>
              </a:rPr>
              <a:t>understand</a:t>
            </a:r>
            <a:r>
              <a:rPr b="0" sz="1690" i="0">
                <a:solidFill>
                  <a:srgbClr val="161225"/>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regulator's pair of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6</a:t>
            </a:r>
          </a:p>
        </p:txBody>
      </p:sp>
      <p:sp>
        <p:nvSpPr>
          <p:cNvPr id="8" name="Rectangle 7"/>
          <p:cNvSpPr/>
          <p:nvPr/>
        </p:nvSpPr>
        <p:spPr>
          <a:xfrm>
            <a:off x="548640" y="2097963"/>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pull request does three jobs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Writing became cheap</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Familiarity replaced reading</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numbers stopped adding up</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Four ways out</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approval became a setting</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Writing became cheap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Familiarity replaced reading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30,1% →</a:t>
            </a:r>
          </a:p>
          <a:p>
            <a:pPr algn="l">
              <a:lnSpc>
                <a:spcPct val="110000"/>
              </a:lnSpc>
              <a:spcAft>
                <a:spcPts val="0"/>
              </a:spcAft>
            </a:pPr>
            <a:r>
              <a:rPr b="1" sz="3120" i="0">
                <a:solidFill>
                  <a:srgbClr val="FF5B24"/>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Three failures that look like one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Approved, when nobody read it.</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numbers stopped adding up</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Nobody can review everything properly anymore. Most teams have already stopped reviewing some changes. </a:t>
            </a:r>
            <a:r>
              <a:rPr b="1" sz="1690" i="0">
                <a:solidFill>
                  <a:srgbClr val="161225"/>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Four ways out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approval became a setting</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it would cost</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One answer: a centralized AI reviewer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Because nobody asked them to.</a:t>
            </a:r>
          </a:p>
        </p:txBody>
      </p:sp>
      <p:sp>
        <p:nvSpPr>
          <p:cNvPr id="20" name="Rectangle 19"/>
          <p:cNvSpPr/>
          <p:nvPr/>
        </p:nvSpPr>
        <p:spPr>
          <a:xfrm>
            <a:off x="548640" y="3842194"/>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it would cost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$43.000 to</a:t>
            </a:r>
          </a:p>
          <a:p>
            <a:pPr algn="l">
              <a:lnSpc>
                <a:spcPct val="110000"/>
              </a:lnSpc>
              <a:spcAft>
                <a:spcPts val="0"/>
              </a:spcAft>
            </a:pPr>
            <a:r>
              <a:rPr b="1" sz="3120" i="0">
                <a:solidFill>
                  <a:srgbClr val="FF5B24"/>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Centralize the machinery, keep the decision local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Atlassian replaced 20 CI/CD servers with one platform and cut lead time from 2 days to 90 minutes. Cloudflare runs one reviewer with per-team config and a logged break-glass. </a:t>
            </a:r>
            <a:r>
              <a:rPr b="1" sz="1690" i="0">
                <a:solidFill>
                  <a:srgbClr val="161225"/>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The author's half of four eyes</a:t>
            </a:r>
          </a:p>
        </p:txBody>
      </p:sp>
      <p:sp>
        <p:nvSpPr>
          <p:cNvPr id="13" name="Oval 12"/>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would try before building a review service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1.  </a:t>
            </a:r>
            <a:r>
              <a:rPr b="1" sz="1625" i="0">
                <a:solidFill>
                  <a:srgbClr val="161225"/>
                </a:solidFill>
                <a:latin typeface="Arial"/>
              </a:rPr>
              <a:t>Turn on what already exists.</a:t>
            </a:r>
            <a:r>
              <a:rPr b="0" sz="1625" i="0">
                <a:solidFill>
                  <a:srgbClr val="161225"/>
                </a:solidFill>
                <a:latin typeface="Arial"/>
              </a:rPr>
              <a:t> Required reviews, status checks, secret and dependency scanning. I have not checked what is on today.</a:t>
            </a:r>
          </a:p>
          <a:p>
            <a:pPr>
              <a:lnSpc>
                <a:spcPct val="115000"/>
              </a:lnSpc>
              <a:spcAft>
                <a:spcPts val="400"/>
              </a:spcAft>
            </a:pPr>
            <a:r>
              <a:rPr sz="1625" b="1">
                <a:solidFill>
                  <a:srgbClr val="5A78FF"/>
                </a:solidFill>
                <a:latin typeface="Arial"/>
              </a:rPr>
              <a:t>2.  </a:t>
            </a:r>
            <a:r>
              <a:rPr b="1" sz="1625" i="0">
                <a:solidFill>
                  <a:srgbClr val="161225"/>
                </a:solidFill>
                <a:latin typeface="Arial"/>
              </a:rPr>
              <a:t>Tier repositories by what they touch.</a:t>
            </a:r>
            <a:r>
              <a:rPr b="0" sz="1625" i="0">
                <a:solidFill>
                  <a:srgbClr val="161225"/>
                </a:solidFill>
                <a:latin typeface="Arial"/>
              </a:rPr>
              <a:t> More from the ones that move money, less from the internal chatbot.</a:t>
            </a:r>
          </a:p>
          <a:p>
            <a:pPr>
              <a:lnSpc>
                <a:spcPct val="115000"/>
              </a:lnSpc>
              <a:spcAft>
                <a:spcPts val="400"/>
              </a:spcAft>
            </a:pPr>
            <a:r>
              <a:rPr sz="1625" b="1">
                <a:solidFill>
                  <a:srgbClr val="5A78FF"/>
                </a:solidFill>
                <a:latin typeface="Arial"/>
              </a:rPr>
              <a:t>3.  </a:t>
            </a:r>
            <a:r>
              <a:rPr b="1" sz="1625" i="0">
                <a:solidFill>
                  <a:srgbClr val="161225"/>
                </a:solidFill>
                <a:latin typeface="Arial"/>
              </a:rPr>
              <a:t>Centralize the machinery.</a:t>
            </a:r>
            <a:r>
              <a:rPr b="0" sz="1625" i="0">
                <a:solidFill>
                  <a:srgbClr val="161225"/>
                </a:solidFill>
                <a:latin typeface="Arial"/>
              </a:rPr>
              <a:t> Formatters, linters, scanners, once for the company.</a:t>
            </a:r>
          </a:p>
          <a:p>
            <a:pPr>
              <a:lnSpc>
                <a:spcPct val="115000"/>
              </a:lnSpc>
              <a:spcAft>
                <a:spcPts val="400"/>
              </a:spcAft>
            </a:pPr>
            <a:r>
              <a:rPr sz="1625" b="1">
                <a:solidFill>
                  <a:srgbClr val="5A78FF"/>
                </a:solidFill>
                <a:latin typeface="Arial"/>
              </a:rPr>
              <a:t>4.  </a:t>
            </a:r>
            <a:r>
              <a:rPr b="1" sz="1625" i="0">
                <a:solidFill>
                  <a:srgbClr val="161225"/>
                </a:solidFill>
                <a:latin typeface="Arial"/>
              </a:rPr>
              <a:t>Pair models across vendors.</a:t>
            </a:r>
            <a:r>
              <a:rPr b="0" sz="1625" i="0">
                <a:solidFill>
                  <a:srgbClr val="161225"/>
                </a:solidFill>
                <a:latin typeface="Arial"/>
              </a:rPr>
              <a:t> A different model family reviews what the first one wrote.</a:t>
            </a:r>
          </a:p>
          <a:p>
            <a:pPr>
              <a:lnSpc>
                <a:spcPct val="115000"/>
              </a:lnSpc>
              <a:spcAft>
                <a:spcPts val="400"/>
              </a:spcAft>
            </a:pPr>
            <a:r>
              <a:rPr sz="1625" b="1">
                <a:solidFill>
                  <a:srgbClr val="5A78FF"/>
                </a:solidFill>
                <a:latin typeface="Arial"/>
              </a:rPr>
              <a:t>5.  </a:t>
            </a:r>
            <a:r>
              <a:rPr b="1" sz="1625" i="0">
                <a:solidFill>
                  <a:srgbClr val="161225"/>
                </a:solidFill>
                <a:latin typeface="Arial"/>
              </a:rPr>
              <a:t>The author's half of four eyes.</a:t>
            </a:r>
            <a:r>
              <a:rPr b="0" sz="1625" i="0">
                <a:solidFill>
                  <a:srgbClr val="161225"/>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The author's half of four eyes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161225"/>
                </a:solidFill>
                <a:latin typeface="Arial"/>
              </a:rPr>
              <a:t>Status:</a:t>
            </a:r>
            <a:r>
              <a:rPr b="0" sz="1690" i="0">
                <a:solidFill>
                  <a:srgbClr val="161225"/>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FF5B24"/>
                </a:solidFill>
                <a:latin typeface="Arial"/>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What would I do in a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Keep the change small enough to be read</a:t>
            </a:r>
          </a:p>
        </p:txBody>
      </p:sp>
      <p:sp>
        <p:nvSpPr>
          <p:cNvPr id="17" name="Rectangle 16"/>
          <p:cNvSpPr/>
          <p:nvPr/>
        </p:nvSpPr>
        <p:spPr>
          <a:xfrm>
            <a:off x="2697480" y="5181091"/>
            <a:ext cx="146304" cy="1828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Ask the author for what no check can see</a:t>
            </a:r>
          </a:p>
        </p:txBody>
      </p:sp>
      <p:sp>
        <p:nvSpPr>
          <p:cNvPr id="19" name="Rectangle 18"/>
          <p:cNvSpPr/>
          <p:nvPr/>
        </p:nvSpPr>
        <p:spPr>
          <a:xfrm>
            <a:off x="2697480" y="5455411"/>
            <a:ext cx="146304" cy="18288"/>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B9B8BE"/>
                </a:solidFill>
                <a:latin typeface="Arial"/>
              </a:rPr>
              <a:t>Where each step lives</a:t>
            </a:r>
          </a:p>
        </p:txBody>
      </p:sp>
      <p:sp>
        <p:nvSpPr>
          <p:cNvPr id="21" name="Oval 20"/>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23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First, decide what this repository touches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23</a:t>
            </a:r>
          </a:p>
        </p:txBody>
      </p:sp>
      <p:sp>
        <p:nvSpPr>
          <p:cNvPr id="8" name="TextBox 7"/>
          <p:cNvSpPr txBox="1"/>
          <p:nvPr/>
        </p:nvSpPr>
        <p:spPr>
          <a:xfrm>
            <a:off x="548640" y="1692912"/>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Chapter 04 tiered repositories and never said who does the tiering. Every step after this one is stricter or lighter depending on the answer. Without one, this repository gets the same treatment as every other, whatever it holds.</a:t>
            </a:r>
          </a:p>
        </p:txBody>
      </p:sp>
      <p:sp>
        <p:nvSpPr>
          <p:cNvPr id="9" name="TextBox 8"/>
          <p:cNvSpPr txBox="1"/>
          <p:nvPr/>
        </p:nvSpPr>
        <p:spPr>
          <a:xfrm>
            <a:off x="548640" y="2999665"/>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Does it move money, hold customer data, or neither?</a:t>
            </a:r>
          </a:p>
          <a:p>
            <a:pPr>
              <a:lnSpc>
                <a:spcPct val="115000"/>
              </a:lnSpc>
              <a:spcAft>
                <a:spcPts val="400"/>
              </a:spcAft>
            </a:pPr>
            <a:r>
              <a:rPr sz="1625" b="1">
                <a:solidFill>
                  <a:srgbClr val="5A78FF"/>
                </a:solidFill>
                <a:latin typeface="Arial"/>
              </a:rPr>
              <a:t>—  </a:t>
            </a:r>
            <a:r>
              <a:rPr b="0" sz="1625" i="0">
                <a:solidFill>
                  <a:srgbClr val="161225"/>
                </a:solidFill>
                <a:latin typeface="Arial"/>
              </a:rPr>
              <a:t>Write the answer in the README, under a short "Review rules" heading</a:t>
            </a:r>
          </a:p>
          <a:p>
            <a:pPr>
              <a:lnSpc>
                <a:spcPct val="115000"/>
              </a:lnSpc>
              <a:spcAft>
                <a:spcPts val="400"/>
              </a:spcAft>
            </a:pPr>
            <a:r>
              <a:rPr sz="1625" b="1">
                <a:solidFill>
                  <a:srgbClr val="5A78FF"/>
                </a:solidFill>
                <a:latin typeface="Arial"/>
              </a:rPr>
              <a:t>—  </a:t>
            </a:r>
            <a:r>
              <a:rPr b="0" sz="1625" i="0">
                <a:solidFill>
                  <a:srgbClr val="161225"/>
                </a:solidFill>
                <a:latin typeface="Arial"/>
              </a:rPr>
              <a:t>Say what follows: how many reviewers, whether a machine may approve, whether a security review is mandatory</a:t>
            </a:r>
          </a:p>
          <a:p>
            <a:pPr>
              <a:lnSpc>
                <a:spcPct val="115000"/>
              </a:lnSpc>
              <a:spcAft>
                <a:spcPts val="400"/>
              </a:spcAft>
            </a:pPr>
            <a:r>
              <a:rPr sz="1625" b="1">
                <a:solidFill>
                  <a:srgbClr val="5A78FF"/>
                </a:solidFill>
                <a:latin typeface="Arial"/>
              </a:rPr>
              <a:t>—  </a:t>
            </a:r>
            <a:r>
              <a:rPr b="0" sz="1625" i="0">
                <a:solidFill>
                  <a:srgbClr val="161225"/>
                </a:solidFill>
                <a:latin typeface="Arial"/>
              </a:rPr>
              <a:t>Revisit it when the repository starts touching something new</a:t>
            </a:r>
          </a:p>
        </p:txBody>
      </p:sp>
      <p:sp>
        <p:nvSpPr>
          <p:cNvPr id="10" name="Rectangle 9"/>
          <p:cNvSpPr/>
          <p:nvPr/>
        </p:nvSpPr>
        <p:spPr>
          <a:xfrm>
            <a:off x="548640" y="4874154"/>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6559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It is also the risk assessment the rules ask for: a policy "based on a risk assessment approach", with nothing said about it having to be elaborate.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24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Make the mechanical checks unskippable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25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Two decisions that follow from the tier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26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Keep the change small enough to be read</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26</a:t>
            </a:r>
          </a:p>
        </p:txBody>
      </p:sp>
      <p:sp>
        <p:nvSpPr>
          <p:cNvPr id="8" name="TextBox 7"/>
          <p:cNvSpPr txBox="1"/>
          <p:nvPr/>
        </p:nvSpPr>
        <p:spPr>
          <a:xfrm>
            <a:off x="548640" y="1716430"/>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The reviewer named a moment ago has to be able to do the job. A change nobody can read in one sitting gets approved anyway.</a:t>
            </a:r>
          </a:p>
        </p:txBody>
      </p:sp>
      <p:sp>
        <p:nvSpPr>
          <p:cNvPr id="9" name="Rounded Rectangle 8"/>
          <p:cNvSpPr/>
          <p:nvPr/>
        </p:nvSpPr>
        <p:spPr>
          <a:xfrm>
            <a:off x="548640" y="2761335"/>
            <a:ext cx="3576218" cy="158115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200 lines / h</a:t>
            </a:r>
          </a:p>
        </p:txBody>
      </p:sp>
      <p:sp>
        <p:nvSpPr>
          <p:cNvPr id="11" name="TextBox 10"/>
          <p:cNvSpPr txBox="1"/>
          <p:nvPr/>
        </p:nvSpPr>
        <p:spPr>
          <a:xfrm>
            <a:off x="731520"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beyond this, reviewers found about half the defects</a:t>
            </a:r>
          </a:p>
        </p:txBody>
      </p:sp>
      <p:sp>
        <p:nvSpPr>
          <p:cNvPr id="12" name="Rounded Rectangle 11"/>
          <p:cNvSpPr/>
          <p:nvPr/>
        </p:nvSpPr>
        <p:spPr>
          <a:xfrm>
            <a:off x="4307738" y="2761335"/>
            <a:ext cx="3576218" cy="158115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0618"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5A78FF"/>
                </a:solidFill>
                <a:latin typeface="Arial"/>
              </a:rPr>
              <a:t>1 in 4</a:t>
            </a:r>
          </a:p>
        </p:txBody>
      </p:sp>
      <p:sp>
        <p:nvSpPr>
          <p:cNvPr id="14" name="TextBox 13"/>
          <p:cNvSpPr txBox="1"/>
          <p:nvPr/>
        </p:nvSpPr>
        <p:spPr>
          <a:xfrm>
            <a:off x="4490618"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AI-written pull requests runs past 400 lines</a:t>
            </a:r>
          </a:p>
        </p:txBody>
      </p:sp>
      <p:sp>
        <p:nvSpPr>
          <p:cNvPr id="15" name="Rounded Rectangle 14"/>
          <p:cNvSpPr/>
          <p:nvPr/>
        </p:nvSpPr>
        <p:spPr>
          <a:xfrm>
            <a:off x="8066836" y="2761335"/>
            <a:ext cx="3576218" cy="1581150"/>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9716"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FF5B24"/>
                </a:solidFill>
                <a:latin typeface="Arial"/>
              </a:rPr>
              <a:t>&lt; 5 files</a:t>
            </a:r>
          </a:p>
        </p:txBody>
      </p:sp>
      <p:sp>
        <p:nvSpPr>
          <p:cNvPr id="17" name="TextBox 16"/>
          <p:cNvSpPr txBox="1"/>
          <p:nvPr/>
        </p:nvSpPr>
        <p:spPr>
          <a:xfrm>
            <a:off x="8249716"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6F6C77"/>
                </a:solidFill>
                <a:latin typeface="Arial"/>
              </a:rPr>
              <a:t>Adyen's automated changes, which is what makes them "fast to review, easy to approve"</a:t>
            </a:r>
          </a:p>
        </p:txBody>
      </p:sp>
      <p:sp>
        <p:nvSpPr>
          <p:cNvPr id="18" name="Rectangle 17"/>
          <p:cNvSpPr/>
          <p:nvPr/>
        </p:nvSpPr>
        <p:spPr>
          <a:xfrm>
            <a:off x="548640" y="4827117"/>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918557"/>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Agree a size the repository does not go past without saying why, check it in CI, and keep the pull request in draft until the checks are green.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27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Ask the author for what no check can see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27</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5A78FF"/>
                </a:solidFill>
                <a:latin typeface="Arial"/>
              </a:rPr>
              <a:t>—  </a:t>
            </a:r>
            <a:r>
              <a:rPr b="0" sz="1625" i="0">
                <a:solidFill>
                  <a:srgbClr val="161225"/>
                </a:solidFill>
                <a:latin typeface="Arial"/>
              </a:rPr>
              <a:t>What changed, and why it belongs here</a:t>
            </a:r>
          </a:p>
          <a:p>
            <a:pPr>
              <a:lnSpc>
                <a:spcPct val="115000"/>
              </a:lnSpc>
              <a:spcAft>
                <a:spcPts val="400"/>
              </a:spcAft>
            </a:pPr>
            <a:r>
              <a:rPr sz="1625" b="1">
                <a:solidFill>
                  <a:srgbClr val="5A78FF"/>
                </a:solidFill>
                <a:latin typeface="Arial"/>
              </a:rPr>
              <a:t>—  </a:t>
            </a:r>
            <a:r>
              <a:rPr b="0" sz="1625" i="0">
                <a:solidFill>
                  <a:srgbClr val="161225"/>
                </a:solidFill>
                <a:latin typeface="Arial"/>
              </a:rPr>
              <a:t>What you want looked at, specifically</a:t>
            </a:r>
          </a:p>
          <a:p>
            <a:pPr>
              <a:lnSpc>
                <a:spcPct val="115000"/>
              </a:lnSpc>
              <a:spcAft>
                <a:spcPts val="400"/>
              </a:spcAft>
            </a:pPr>
            <a:r>
              <a:rPr sz="1625" b="1">
                <a:solidFill>
                  <a:srgbClr val="5A78FF"/>
                </a:solidFill>
                <a:latin typeface="Arial"/>
              </a:rPr>
              <a:t>—  </a:t>
            </a:r>
            <a:r>
              <a:rPr b="0" sz="1625" i="0">
                <a:solidFill>
                  <a:srgbClr val="161225"/>
                </a:solidFill>
                <a:latin typeface="Arial"/>
              </a:rPr>
              <a:t>How to undo it</a:t>
            </a:r>
          </a:p>
          <a:p>
            <a:pPr>
              <a:lnSpc>
                <a:spcPct val="115000"/>
              </a:lnSpc>
              <a:spcAft>
                <a:spcPts val="400"/>
              </a:spcAft>
            </a:pPr>
            <a:r>
              <a:rPr sz="1625" b="1">
                <a:solidFill>
                  <a:srgbClr val="5A78FF"/>
                </a:solidFill>
                <a:latin typeface="Arial"/>
              </a:rPr>
              <a:t>—  </a:t>
            </a:r>
            <a:r>
              <a:rPr b="0" sz="1625" i="0">
                <a:solidFill>
                  <a:srgbClr val="161225"/>
                </a:solidFill>
                <a:latin typeface="Arial"/>
              </a:rPr>
              <a:t>Which parts an agent wrote</a:t>
            </a:r>
          </a:p>
        </p:txBody>
      </p:sp>
      <p:sp>
        <p:nvSpPr>
          <p:cNvPr id="10" name="Rectangle 9"/>
          <p:cNvSpPr/>
          <p:nvPr/>
        </p:nvSpPr>
        <p:spPr>
          <a:xfrm>
            <a:off x="548640" y="4366801"/>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28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Where each step lives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28</a:t>
            </a:r>
          </a:p>
        </p:txBody>
      </p:sp>
      <p:graphicFrame>
        <p:nvGraphicFramePr>
          <p:cNvPr id="8" name="Table 7"/>
          <p:cNvGraphicFramePr>
            <a:graphicFrameLocks noGrp="1"/>
          </p:cNvGraphicFramePr>
          <p:nvPr/>
        </p:nvGraphicFramePr>
        <p:xfrm>
          <a:off x="548640" y="1371600"/>
          <a:ext cx="11094413" cy="3744468"/>
        </p:xfrm>
        <a:graphic>
          <a:graphicData uri="http://schemas.openxmlformats.org/drawingml/2006/table">
            <a:tbl>
              <a:tblPr firstRow="0" bandRow="0">
                <a:tableStyleId>{5C22544A-7EE6-4342-B048-85BDC9FD1C3A}</a:tableStyleId>
              </a:tblPr>
              <a:tblGrid>
                <a:gridCol w="1497405"/>
                <a:gridCol w="6057686"/>
                <a:gridCol w="3539322"/>
              </a:tblGrid>
              <a:tr h="347472">
                <a:tc>
                  <a:txBody>
                    <a:bodyPr wrap="square"/>
                    <a:lstStyle/>
                    <a:p>
                      <a:pPr>
                        <a:lnSpc>
                          <a:spcPct val="110000"/>
                        </a:lnSpc>
                      </a:pPr>
                      <a:r>
                        <a:rPr b="1" sz="1365" i="0">
                          <a:solidFill>
                            <a:srgbClr val="F5F5F2"/>
                          </a:solidFill>
                          <a:latin typeface="Arial"/>
                        </a:rPr>
                        <a:t>Step</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Do</a:t>
                      </a:r>
                    </a:p>
                  </a:txBody>
                  <a:tcPr marL="73152" marR="73152" marT="45720" marB="45720" anchor="t">
                    <a:solidFill>
                      <a:srgbClr val="161225"/>
                    </a:solidFill>
                  </a:tcPr>
                </a:tc>
                <a:tc>
                  <a:txBody>
                    <a:bodyPr wrap="square"/>
                    <a:lstStyle/>
                    <a:p>
                      <a:pPr>
                        <a:lnSpc>
                          <a:spcPct val="110000"/>
                        </a:lnSpc>
                      </a:pPr>
                      <a:r>
                        <a:rPr b="1" sz="1365" i="0">
                          <a:solidFill>
                            <a:srgbClr val="F5F5F2"/>
                          </a:solidFill>
                          <a:latin typeface="Arial"/>
                        </a:rPr>
                        <a:t>Where it lives</a:t>
                      </a:r>
                    </a:p>
                  </a:txBody>
                  <a:tcPr marL="73152" marR="73152" marT="45720" marB="45720" anchor="t">
                    <a:solidFill>
                      <a:srgbClr val="161225"/>
                    </a:solidFill>
                  </a:tcPr>
                </a:tc>
              </a:tr>
              <a:tr h="372618">
                <a:tc>
                  <a:txBody>
                    <a:bodyPr wrap="square"/>
                    <a:lstStyle/>
                    <a:p>
                      <a:pPr>
                        <a:lnSpc>
                          <a:spcPct val="110000"/>
                        </a:lnSpc>
                      </a:pPr>
                      <a:r>
                        <a:rPr b="1" sz="1365" i="0">
                          <a:solidFill>
                            <a:srgbClr val="161225"/>
                          </a:solidFill>
                          <a:latin typeface="Arial"/>
                        </a:rPr>
                        <a:t>01</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Write down what this repository touches, and what follows from it</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README, under "Review rules"</a:t>
                      </a:r>
                    </a:p>
                  </a:txBody>
                  <a:tcPr marL="73152" marR="73152" marT="45720" marB="45720" anchor="t">
                    <a:solidFill>
                      <a:srgbClr val="FFFFFF"/>
                    </a:solidFill>
                  </a:tcPr>
                </a:tc>
              </a:tr>
              <a:tr h="580644">
                <a:tc>
                  <a:txBody>
                    <a:bodyPr wrap="square"/>
                    <a:lstStyle/>
                    <a:p>
                      <a:pPr>
                        <a:lnSpc>
                          <a:spcPct val="110000"/>
                        </a:lnSpc>
                      </a:pPr>
                      <a:r>
                        <a:rPr b="1" sz="1365" i="0">
                          <a:solidFill>
                            <a:srgbClr val="161225"/>
                          </a:solidFill>
                          <a:latin typeface="Arial"/>
                        </a:rPr>
                        <a:t>02</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Format, lint, test, static analysis, dependency and secret scanning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.github/workflows/, .github/dependabot.yml, settings</a:t>
                      </a:r>
                    </a:p>
                  </a:txBody>
                  <a:tcPr marL="73152" marR="73152" marT="45720" marB="45720" anchor="t">
                    <a:solidFill>
                      <a:srgbClr val="ECEBE6"/>
                    </a:solidFill>
                  </a:tcPr>
                </a:tc>
              </a:tr>
              <a:tr h="580644">
                <a:tc>
                  <a:txBody>
                    <a:bodyPr wrap="square"/>
                    <a:lstStyle/>
                    <a:p>
                      <a:pPr>
                        <a:lnSpc>
                          <a:spcPct val="110000"/>
                        </a:lnSpc>
                      </a:pPr>
                      <a:r>
                        <a:rPr b="1" sz="1365" i="0">
                          <a:solidFill>
                            <a:srgbClr val="161225"/>
                          </a:solidFill>
                          <a:latin typeface="Arial"/>
                        </a:rPr>
                        <a:t>03</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Require those checks, require a pull request, stop direct pushes, dismiss stale approvals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Branch protection, or a ruleset</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04</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named reviewer for the paths that carry risk</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.github/CODEOWNERS</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05</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Whether a machine may approve here, and why</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README, under "Review rules"</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06</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size the repository does not go past without saying why</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CI check, plus draft until green</a:t>
                      </a:r>
                    </a:p>
                  </a:txBody>
                  <a:tcPr marL="73152" marR="73152" marT="45720" marB="45720" anchor="t">
                    <a:solidFill>
                      <a:srgbClr val="ECEBE6"/>
                    </a:solidFill>
                  </a:tcPr>
                </a:tc>
              </a:tr>
              <a:tr h="372618">
                <a:tc>
                  <a:txBody>
                    <a:bodyPr wrap="square"/>
                    <a:lstStyle/>
                    <a:p>
                      <a:pPr>
                        <a:lnSpc>
                          <a:spcPct val="110000"/>
                        </a:lnSpc>
                      </a:pPr>
                      <a:r>
                        <a:rPr b="1" sz="1365" i="0">
                          <a:solidFill>
                            <a:srgbClr val="161225"/>
                          </a:solidFill>
                          <a:latin typeface="Arial"/>
                        </a:rPr>
                        <a:t>07</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The template that explains and asks</a:t>
                      </a:r>
                    </a:p>
                  </a:txBody>
                  <a:tcPr marL="73152" marR="73152" marT="45720" marB="45720" anchor="t">
                    <a:solidFill>
                      <a:srgbClr val="FFFFFF"/>
                    </a:solidFill>
                  </a:tcPr>
                </a:tc>
                <a:tc>
                  <a:txBody>
                    <a:bodyPr wrap="square"/>
                    <a:lstStyle/>
                    <a:p>
                      <a:pPr>
                        <a:lnSpc>
                          <a:spcPct val="110000"/>
                        </a:lnSpc>
                      </a:pPr>
                      <a:r>
                        <a:rPr b="0" sz="1365" i="0">
                          <a:solidFill>
                            <a:srgbClr val="161225"/>
                          </a:solidFill>
                          <a:latin typeface="Arial"/>
                        </a:rPr>
                        <a:t>.github/pull_request_template.md</a:t>
                      </a:r>
                    </a:p>
                  </a:txBody>
                  <a:tcPr marL="73152" marR="73152" marT="45720" marB="45720" anchor="t">
                    <a:solidFill>
                      <a:srgbClr val="FFFFFF"/>
                    </a:solidFill>
                  </a:tcPr>
                </a:tc>
              </a:tr>
              <a:tr h="372618">
                <a:tc>
                  <a:txBody>
                    <a:bodyPr wrap="square"/>
                    <a:lstStyle/>
                    <a:p>
                      <a:pPr>
                        <a:lnSpc>
                          <a:spcPct val="110000"/>
                        </a:lnSpc>
                      </a:pPr>
                      <a:r>
                        <a:rPr b="1" sz="1365" i="0">
                          <a:solidFill>
                            <a:srgbClr val="161225"/>
                          </a:solidFill>
                          <a:latin typeface="Arial"/>
                        </a:rPr>
                        <a:t>08</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Read ten merged pull requests and ask what you are seeing</a:t>
                      </a:r>
                    </a:p>
                  </a:txBody>
                  <a:tcPr marL="73152" marR="73152" marT="45720" marB="45720" anchor="t">
                    <a:solidFill>
                      <a:srgbClr val="ECEBE6"/>
                    </a:solidFill>
                  </a:tcPr>
                </a:tc>
                <a:tc>
                  <a:txBody>
                    <a:bodyPr wrap="square"/>
                    <a:lstStyle/>
                    <a:p>
                      <a:pPr>
                        <a:lnSpc>
                          <a:spcPct val="110000"/>
                        </a:lnSpc>
                      </a:pPr>
                      <a:r>
                        <a:rPr b="0" sz="1365" i="0">
                          <a:solidFill>
                            <a:srgbClr val="161225"/>
                          </a:solidFill>
                          <a:latin typeface="Arial"/>
                        </a:rPr>
                        <a:t>A calendar entry, not a tool</a:t>
                      </a:r>
                    </a:p>
                  </a:txBody>
                  <a:tcPr marL="73152" marR="73152" marT="45720" marB="45720" anchor="t">
                    <a:solidFill>
                      <a:srgbClr val="ECEBE6"/>
                    </a:solidFill>
                  </a:tcPr>
                </a:tc>
              </a:tr>
            </a:tbl>
          </a:graphicData>
        </a:graphic>
      </p:graphicFrame>
      <p:sp>
        <p:nvSpPr>
          <p:cNvPr id="9" name="TextBox 8"/>
          <p:cNvSpPr txBox="1"/>
          <p:nvPr/>
        </p:nvSpPr>
        <p:spPr>
          <a:xfrm>
            <a:off x="548640" y="5459806"/>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161225"/>
                </a:solidFill>
                <a:latin typeface="Arial"/>
              </a:rPr>
              <a:t>Every step but the last is a file or a setting, copied to the next repository in minutes and reverted by deleting a line. The last one is half an hour a month. </a:t>
            </a:r>
            <a:r>
              <a:rPr b="1" sz="1690" i="0">
                <a:solidFill>
                  <a:srgbClr val="161225"/>
                </a:solidFill>
                <a:latin typeface="Arial"/>
              </a:rPr>
              <a:t>I have not checked which of these are already on in ours.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12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F5F5F2"/>
                </a:solidFill>
                <a:latin typeface="Arial"/>
              </a:rPr>
              <a:t>Vipps MobilePay</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29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F5F5F2"/>
                </a:solidFill>
                <a:latin typeface="Arial"/>
              </a:rPr>
              <a:t>Vipps MobilePay</a:t>
            </a:r>
          </a:p>
        </p:txBody>
      </p:sp>
      <p:sp>
        <p:nvSpPr>
          <p:cNvPr id="6" name="Rectangle 5"/>
          <p:cNvSpPr/>
          <p:nvPr/>
        </p:nvSpPr>
        <p:spPr>
          <a:xfrm>
            <a:off x="548640" y="2555240"/>
            <a:ext cx="822960" cy="54864"/>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F5F5F2"/>
                </a:solidFill>
                <a:latin typeface="Arial"/>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F5F5F2"/>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5A78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30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moves, and what doesn't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30</a:t>
            </a:r>
          </a:p>
        </p:txBody>
      </p:sp>
      <p:sp>
        <p:nvSpPr>
          <p:cNvPr id="8" name="Rounded Rectangle 7"/>
          <p:cNvSpPr/>
          <p:nvPr/>
        </p:nvSpPr>
        <p:spPr>
          <a:xfrm>
            <a:off x="548640"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161225"/>
                </a:solidFill>
                <a:latin typeface="Arial"/>
              </a:rPr>
              <a:t>The approval stays with a human who is independent of whoever implemented the change. That is the one line that does not move.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31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What I don't know yet</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31</a:t>
            </a:r>
          </a:p>
        </p:txBody>
      </p:sp>
      <p:sp>
        <p:nvSpPr>
          <p:cNvPr id="8" name="Rounded Rectangle 7"/>
          <p:cNvSpPr/>
          <p:nvPr/>
        </p:nvSpPr>
        <p:spPr>
          <a:xfrm>
            <a:off x="548640"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161225"/>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161225"/>
                </a:solidFill>
                <a:latin typeface="Arial"/>
              </a:rPr>
              <a:t>Nobody has used it.</a:t>
            </a:r>
          </a:p>
        </p:txBody>
      </p:sp>
      <p:sp>
        <p:nvSpPr>
          <p:cNvPr id="24" name="Rectangle 23"/>
          <p:cNvSpPr/>
          <p:nvPr/>
        </p:nvSpPr>
        <p:spPr>
          <a:xfrm>
            <a:off x="548640"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5A7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FFFFFF"/>
          </a:solidFill>
          <a:ln w="9525">
            <a:solidFill>
              <a:srgbClr val="DEDD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161225"/>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161225"/>
                </a:solidFill>
                <a:latin typeface="Arial"/>
              </a:rPr>
              <a:t>A regulated company whose auditor accepted a machine's approval.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32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A1 — Who did what about the queue</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32</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6F6C77"/>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F5F5F2"/>
                          </a:solidFill>
                          <a:latin typeface="Arial"/>
                        </a:rPr>
                        <a:t>Who</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What they did</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Human approver?</a:t>
                      </a:r>
                    </a:p>
                  </a:txBody>
                  <a:tcPr marL="73152" marR="73152" marT="45720" marB="45720" anchor="t">
                    <a:solidFill>
                      <a:srgbClr val="161225"/>
                    </a:solidFill>
                  </a:tcPr>
                </a:tc>
                <a:tc>
                  <a:txBody>
                    <a:bodyPr wrap="square"/>
                    <a:lstStyle/>
                    <a:p>
                      <a:pPr>
                        <a:lnSpc>
                          <a:spcPct val="110000"/>
                        </a:lnSpc>
                      </a:pPr>
                      <a:r>
                        <a:rPr b="1" sz="1008" i="0">
                          <a:solidFill>
                            <a:srgbClr val="F5F5F2"/>
                          </a:solidFill>
                          <a:latin typeface="Arial"/>
                        </a:rPr>
                        <a:t>Regulated?</a:t>
                      </a:r>
                    </a:p>
                  </a:txBody>
                  <a:tcPr marL="73152" marR="73152" marT="45720" marB="45720" anchor="t">
                    <a:solidFill>
                      <a:srgbClr val="161225"/>
                    </a:solidFill>
                  </a:tcPr>
                </a:tc>
              </a:tr>
              <a:tr h="318211">
                <a:tc>
                  <a:txBody>
                    <a:bodyPr wrap="square"/>
                    <a:lstStyle/>
                    <a:p>
                      <a:pPr>
                        <a:lnSpc>
                          <a:spcPct val="110000"/>
                        </a:lnSpc>
                      </a:pPr>
                      <a:r>
                        <a:rPr b="1" sz="1008" i="0">
                          <a:solidFill>
                            <a:srgbClr val="161225"/>
                          </a:solidFill>
                          <a:latin typeface="Arial"/>
                        </a:rPr>
                        <a:t>Meta</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Risk score per change, low-risk merged automatically. 331.000+ to production.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Zalando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Classifier on open. 33% auto-approved as low-risk, author merges.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 for low risk</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318211">
                <a:tc>
                  <a:txBody>
                    <a:bodyPr wrap="square"/>
                    <a:lstStyle/>
                    <a:p>
                      <a:pPr>
                        <a:lnSpc>
                          <a:spcPct val="110000"/>
                        </a:lnSpc>
                      </a:pPr>
                      <a:r>
                        <a:rPr b="1" sz="1008" i="0">
                          <a:solidFill>
                            <a:srgbClr val="161225"/>
                          </a:solidFill>
                          <a:latin typeface="Arial"/>
                        </a:rPr>
                        <a:t>Spotify</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76% more pull requests. Auto-merges what it judges safe. Soundcheck tiers checks per component type.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 for safe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Shopify</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System writes and explains security fixes, freshness-gated merge queue. Backlog down ~70% in 11 days.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Adyen</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4.000+ automated merge requests from a deterministic bot, under five files each. Designated person re-reads approved changes.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r>
              <a:tr h="471830">
                <a:tc>
                  <a:txBody>
                    <a:bodyPr wrap="square"/>
                    <a:lstStyle/>
                    <a:p>
                      <a:pPr>
                        <a:lnSpc>
                          <a:spcPct val="110000"/>
                        </a:lnSpc>
                      </a:pPr>
                      <a:r>
                        <a:rPr b="1" sz="1008" i="0">
                          <a:solidFill>
                            <a:srgbClr val="161225"/>
                          </a:solidFill>
                          <a:latin typeface="Arial"/>
                        </a:rPr>
                        <a:t>Monzo</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"An engineer still reviews and merges, but the bottleneck moves from 'find an engineer with capacity' to 'find a reviewer'."</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Cloudflare</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Godot</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Banned AI-generated contributions. "All PRs must be reviewed and approved by a human before merging."</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Rust (five teams)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Circuit breaker: AI over half of merges in six weeks, AI changes stop for ten days.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r h="318211">
                <a:tc>
                  <a:txBody>
                    <a:bodyPr wrap="square"/>
                    <a:lstStyle/>
                    <a:p>
                      <a:pPr>
                        <a:lnSpc>
                          <a:spcPct val="110000"/>
                        </a:lnSpc>
                      </a:pPr>
                      <a:r>
                        <a:rPr b="1" sz="1008" i="0">
                          <a:solidFill>
                            <a:srgbClr val="161225"/>
                          </a:solidFill>
                          <a:latin typeface="Arial"/>
                        </a:rPr>
                        <a:t>curl</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Ended its bug bounty in January 2026. About 20% of security submissions were slop.</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Yes</a:t>
                      </a:r>
                    </a:p>
                  </a:txBody>
                  <a:tcPr marL="73152" marR="73152" marT="45720" marB="45720" anchor="t">
                    <a:solidFill>
                      <a:srgbClr val="ECEBE6"/>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ECEBE6"/>
                    </a:solidFill>
                  </a:tcPr>
                </a:tc>
              </a:tr>
              <a:tr h="471830">
                <a:tc>
                  <a:txBody>
                    <a:bodyPr wrap="square"/>
                    <a:lstStyle/>
                    <a:p>
                      <a:pPr>
                        <a:lnSpc>
                          <a:spcPct val="110000"/>
                        </a:lnSpc>
                      </a:pPr>
                      <a:r>
                        <a:rPr b="1" sz="1008" i="0">
                          <a:solidFill>
                            <a:srgbClr val="161225"/>
                          </a:solidFill>
                          <a:latin typeface="Arial"/>
                        </a:rPr>
                        <a:t>GitHub</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Per-contributor limit on open pull requests. Copilot approval can count toward required approvals since 1 Sep 2026.</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Setting</a:t>
                      </a:r>
                    </a:p>
                  </a:txBody>
                  <a:tcPr marL="73152" marR="73152" marT="45720" marB="45720" anchor="t">
                    <a:solidFill>
                      <a:srgbClr val="FFFFFF"/>
                    </a:solidFill>
                  </a:tcPr>
                </a:tc>
                <a:tc>
                  <a:txBody>
                    <a:bodyPr wrap="square"/>
                    <a:lstStyle/>
                    <a:p>
                      <a:pPr>
                        <a:lnSpc>
                          <a:spcPct val="110000"/>
                        </a:lnSpc>
                      </a:pPr>
                      <a:r>
                        <a:rPr b="0" sz="1008" i="0">
                          <a:solidFill>
                            <a:srgbClr val="161225"/>
                          </a:solidFill>
                          <a:latin typeface="Arial"/>
                        </a:rPr>
                        <a:t>No</a:t>
                      </a:r>
                    </a:p>
                  </a:txBody>
                  <a:tcPr marL="73152" marR="73152" marT="45720" marB="45720" anchor="t">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33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A2 — The regulatory detail</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33</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5A78FF"/>
                </a:solidFill>
                <a:latin typeface="Arial"/>
              </a:rPr>
              <a:t>—  </a:t>
            </a:r>
            <a:r>
              <a:rPr b="1" sz="1250" i="0">
                <a:solidFill>
                  <a:srgbClr val="161225"/>
                </a:solidFill>
                <a:latin typeface="Arial"/>
              </a:rPr>
              <a:t>Two persons direct the business.</a:t>
            </a:r>
            <a:r>
              <a:rPr b="0" sz="1250" i="0">
                <a:solidFill>
                  <a:srgbClr val="161225"/>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5A78FF"/>
                </a:solidFill>
                <a:latin typeface="Arial"/>
              </a:rPr>
              <a:t>—  </a:t>
            </a:r>
            <a:r>
              <a:rPr b="1" sz="1250" i="0">
                <a:solidFill>
                  <a:srgbClr val="161225"/>
                </a:solidFill>
                <a:latin typeface="Arial"/>
              </a:rPr>
              <a:t>Dual control on a sensitive action.</a:t>
            </a:r>
            <a:r>
              <a:rPr b="0" sz="1250" i="0">
                <a:solidFill>
                  <a:srgbClr val="161225"/>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before July 2025.</a:t>
            </a:r>
            <a:r>
              <a:rPr b="0" sz="1250" i="0">
                <a:solidFill>
                  <a:srgbClr val="161225"/>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5A78FF"/>
                </a:solidFill>
                <a:latin typeface="Arial"/>
              </a:rPr>
              <a:t>—  </a:t>
            </a:r>
            <a:r>
              <a:rPr b="1" sz="1250" i="0">
                <a:solidFill>
                  <a:srgbClr val="161225"/>
                </a:solidFill>
                <a:latin typeface="Arial"/>
              </a:rPr>
              <a:t>Change management since July 2025.</a:t>
            </a:r>
            <a:r>
              <a:rPr b="0" sz="1250" i="0">
                <a:solidFill>
                  <a:srgbClr val="161225"/>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5A78FF"/>
                </a:solidFill>
                <a:latin typeface="Arial"/>
              </a:rPr>
              <a:t>—  </a:t>
            </a:r>
            <a:r>
              <a:rPr b="1" sz="1250" i="0">
                <a:solidFill>
                  <a:srgbClr val="161225"/>
                </a:solidFill>
                <a:latin typeface="Arial"/>
              </a:rPr>
              <a:t>Not defined:</a:t>
            </a:r>
            <a:r>
              <a:rPr b="0" sz="1250" i="0">
                <a:solidFill>
                  <a:srgbClr val="161225"/>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FF5B24"/>
                </a:solidFill>
                <a:latin typeface="Arial"/>
              </a:rPr>
              <a:t>SLIDE 34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A3 — How far to trust each number</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34</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6F6C77"/>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F5F5F2"/>
                          </a:solidFill>
                          <a:latin typeface="Arial"/>
                        </a:rPr>
                        <a:t>Number</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Where it comes from</a:t>
                      </a:r>
                    </a:p>
                  </a:txBody>
                  <a:tcPr marL="73152" marR="73152" marT="45720" marB="45720" anchor="t">
                    <a:solidFill>
                      <a:srgbClr val="161225"/>
                    </a:solidFill>
                  </a:tcPr>
                </a:tc>
                <a:tc>
                  <a:txBody>
                    <a:bodyPr wrap="square"/>
                    <a:lstStyle/>
                    <a:p>
                      <a:pPr>
                        <a:lnSpc>
                          <a:spcPct val="110000"/>
                        </a:lnSpc>
                      </a:pPr>
                      <a:r>
                        <a:rPr b="1" sz="839" i="0">
                          <a:solidFill>
                            <a:srgbClr val="F5F5F2"/>
                          </a:solidFill>
                          <a:latin typeface="Arial"/>
                        </a:rPr>
                        <a:t>How far it carries</a:t>
                      </a:r>
                    </a:p>
                  </a:txBody>
                  <a:tcPr marL="73152" marR="73152" marT="45720" marB="45720" anchor="t">
                    <a:solidFill>
                      <a:srgbClr val="161225"/>
                    </a:solidFill>
                  </a:tcPr>
                </a:tc>
              </a:tr>
              <a:tr h="420623">
                <a:tc>
                  <a:txBody>
                    <a:bodyPr wrap="square"/>
                    <a:lstStyle/>
                    <a:p>
                      <a:pPr>
                        <a:lnSpc>
                          <a:spcPct val="110000"/>
                        </a:lnSpc>
                      </a:pPr>
                      <a:r>
                        <a:rPr b="1" sz="839" i="0">
                          <a:solidFill>
                            <a:srgbClr val="161225"/>
                          </a:solidFill>
                          <a:latin typeface="Arial"/>
                        </a:rPr>
                        <a:t>30,1% → 36,8% approval, comments −22%</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400 reviewers, 11.429 reviews, seven months, three controls. KDD 2026 workshop paper.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Measures repetition and load, not team boundaries.</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96% distrust, 48% always verify</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Sonar survey, about 1.150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200 lines an hour</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Kemerer &amp; Paulk, 2009.</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One study. The 2-hour arithmetic is mine and rests on it.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h and 6,4 h a week reviewing</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 telemetry; open-source survey of 287 respondents.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The open-source figure is self-reported.</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62% vs 53,7%; 60% vs 50,5%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Greptile, two sets of 500 pull requests, July 2026.</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Vendor research selling the feature. Directional only.</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32 of 33 vulnerabilities passed review</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Preprint, March 2026, 33 CVEs across 20 projects.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Not peer-reviewed. The mechanism carries even if the number moves.</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Fewer unreviewed PRs, fewer security bugs</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3.126 projects, nearly 400.000 pull requests, PROMISE 2017.</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Association, open source only. Effect called small but significant.</a:t>
                      </a:r>
                    </a:p>
                  </a:txBody>
                  <a:tcPr marL="73152" marR="73152" marT="45720" marB="45720" anchor="t">
                    <a:solidFill>
                      <a:srgbClr val="FFFFFF"/>
                    </a:solidFill>
                  </a:tcPr>
                </a:tc>
              </a:tr>
              <a:tr h="292607">
                <a:tc>
                  <a:txBody>
                    <a:bodyPr wrap="square"/>
                    <a:lstStyle/>
                    <a:p>
                      <a:pPr>
                        <a:lnSpc>
                          <a:spcPct val="110000"/>
                        </a:lnSpc>
                      </a:pPr>
                      <a:r>
                        <a:rPr b="1" sz="839" i="0">
                          <a:solidFill>
                            <a:srgbClr val="161225"/>
                          </a:solidFill>
                          <a:latin typeface="Arial"/>
                        </a:rPr>
                        <a:t>2,6× more likely worst performers</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Google's DORA (DevOps Research and Assessment), 2019.</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Correlation across survey respondents.</a:t>
                      </a:r>
                    </a:p>
                  </a:txBody>
                  <a:tcPr marL="73152" marR="73152" marT="45720" marB="45720" anchor="t">
                    <a:solidFill>
                      <a:srgbClr val="ECEBE6"/>
                    </a:solidFill>
                  </a:tcPr>
                </a:tc>
              </a:tr>
              <a:tr h="292607">
                <a:tc>
                  <a:txBody>
                    <a:bodyPr wrap="square"/>
                    <a:lstStyle/>
                    <a:p>
                      <a:pPr>
                        <a:lnSpc>
                          <a:spcPct val="110000"/>
                        </a:lnSpc>
                      </a:pPr>
                      <a:r>
                        <a:rPr b="1" sz="839" i="0">
                          <a:solidFill>
                            <a:srgbClr val="161225"/>
                          </a:solidFill>
                          <a:latin typeface="Arial"/>
                        </a:rPr>
                        <a:t>&gt;90% of riskiest changes approved</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UK FCA multi-firm review, 23 firms, over a million changes, 2021.</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Major changes are selected into board review for being risky.</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Close time 6 h → 8 h after turning a reviewer on</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 4.335 pull requests, ICSE 2025 industry track.</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One company.</a:t>
                      </a:r>
                    </a:p>
                  </a:txBody>
                  <a:tcPr marL="73152" marR="73152" marT="45720" marB="45720" anchor="t">
                    <a:solidFill>
                      <a:srgbClr val="ECEBE6"/>
                    </a:solidFill>
                  </a:tcPr>
                </a:tc>
              </a:tr>
              <a:tr h="420623">
                <a:tc>
                  <a:txBody>
                    <a:bodyPr wrap="square"/>
                    <a:lstStyle/>
                    <a:p>
                      <a:pPr>
                        <a:lnSpc>
                          <a:spcPct val="110000"/>
                        </a:lnSpc>
                      </a:pPr>
                      <a:r>
                        <a:rPr b="1" sz="839" i="0">
                          <a:solidFill>
                            <a:srgbClr val="161225"/>
                          </a:solidFill>
                          <a:latin typeface="Arial"/>
                        </a:rPr>
                        <a:t>Atlassian 75% / 96% / $4 million</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Atlassian engineering blog, August 2025.</a:t>
                      </a:r>
                    </a:p>
                  </a:txBody>
                  <a:tcPr marL="73152" marR="73152" marT="45720" marB="45720" anchor="t">
                    <a:solidFill>
                      <a:srgbClr val="FFFFFF"/>
                    </a:solidFill>
                  </a:tcPr>
                </a:tc>
                <a:tc>
                  <a:txBody>
                    <a:bodyPr wrap="square"/>
                    <a:lstStyle/>
                    <a:p>
                      <a:pPr>
                        <a:lnSpc>
                          <a:spcPct val="110000"/>
                        </a:lnSpc>
                      </a:pPr>
                      <a:r>
                        <a:rPr b="0" sz="839" i="0">
                          <a:solidFill>
                            <a:srgbClr val="161225"/>
                          </a:solidFill>
                          <a:latin typeface="Arial"/>
                        </a:rPr>
                        <a:t>First-party. A 2026 review finds no proof platforms cause such gains.</a:t>
                      </a:r>
                    </a:p>
                  </a:txBody>
                  <a:tcPr marL="73152" marR="73152" marT="45720" marB="45720" anchor="t">
                    <a:solidFill>
                      <a:srgbClr val="FFFFFF"/>
                    </a:solidFill>
                  </a:tcPr>
                </a:tc>
              </a:tr>
              <a:tr h="420623">
                <a:tc>
                  <a:txBody>
                    <a:bodyPr wrap="square"/>
                    <a:lstStyle/>
                    <a:p>
                      <a:pPr>
                        <a:lnSpc>
                          <a:spcPct val="110000"/>
                        </a:lnSpc>
                      </a:pPr>
                      <a:r>
                        <a:rPr b="1" sz="839" i="0">
                          <a:solidFill>
                            <a:srgbClr val="161225"/>
                          </a:solidFill>
                          <a:latin typeface="Arial"/>
                        </a:rPr>
                        <a:t>60 to 70% of platform initiatives fail</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Conference reporting in The New Stack, October 2025.</a:t>
                      </a:r>
                    </a:p>
                  </a:txBody>
                  <a:tcPr marL="73152" marR="73152" marT="45720" marB="45720" anchor="t">
                    <a:solidFill>
                      <a:srgbClr val="ECEBE6"/>
                    </a:solidFill>
                  </a:tcPr>
                </a:tc>
                <a:tc>
                  <a:txBody>
                    <a:bodyPr wrap="square"/>
                    <a:lstStyle/>
                    <a:p>
                      <a:pPr>
                        <a:lnSpc>
                          <a:spcPct val="110000"/>
                        </a:lnSpc>
                      </a:pPr>
                      <a:r>
                        <a:rPr b="0" sz="839" i="0">
                          <a:solidFill>
                            <a:srgbClr val="161225"/>
                          </a:solidFill>
                          <a:latin typeface="Arial"/>
                        </a:rPr>
                        <a:t>Industry reporting, not a study. About platforms in general, not review.</a:t>
                      </a:r>
                    </a:p>
                  </a:txBody>
                  <a:tcPr marL="73152" marR="73152" marT="45720" marB="45720" anchor="t">
                    <a:solidFill>
                      <a:srgbClr val="ECEBE6"/>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5A78FF"/>
                </a:solidFill>
                <a:latin typeface="Arial"/>
              </a:rPr>
              <a:t>SLIDE 35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161225"/>
                </a:solidFill>
                <a:latin typeface="Arial"/>
              </a:rPr>
              <a:t>A4 — Names and terms</a:t>
            </a:r>
          </a:p>
        </p:txBody>
      </p:sp>
      <p:sp>
        <p:nvSpPr>
          <p:cNvPr id="5" name="Rectangle 4"/>
          <p:cNvSpPr/>
          <p:nvPr/>
        </p:nvSpPr>
        <p:spPr>
          <a:xfrm>
            <a:off x="548640" y="1115568"/>
            <a:ext cx="1097280" cy="41148"/>
          </a:xfrm>
          <a:prstGeom prst="rect">
            <a:avLst/>
          </a:prstGeom>
          <a:solidFill>
            <a:srgbClr val="FF5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161225"/>
                </a:solidFill>
                <a:latin typeface="Arial"/>
              </a:rPr>
              <a:t>Vipps MobilePay</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6F6C77"/>
                </a:solidFill>
                <a:latin typeface="Arial"/>
              </a:rPr>
              <a:t>35</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6F6C77"/>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F5F5F2"/>
                          </a:solidFill>
                          <a:latin typeface="Arial"/>
                        </a:rPr>
                        <a:t>Term</a:t>
                      </a:r>
                    </a:p>
                  </a:txBody>
                  <a:tcPr marL="73152" marR="73152" marT="45720" marB="45720" anchor="t">
                    <a:solidFill>
                      <a:srgbClr val="161225"/>
                    </a:solidFill>
                  </a:tcPr>
                </a:tc>
                <a:tc>
                  <a:txBody>
                    <a:bodyPr wrap="square"/>
                    <a:lstStyle/>
                    <a:p>
                      <a:pPr>
                        <a:lnSpc>
                          <a:spcPct val="110000"/>
                        </a:lnSpc>
                      </a:pPr>
                      <a:r>
                        <a:rPr b="1" sz="1050" i="0">
                          <a:solidFill>
                            <a:srgbClr val="F5F5F2"/>
                          </a:solidFill>
                          <a:latin typeface="Arial"/>
                        </a:rPr>
                        <a:t>Meaning in this deck</a:t>
                      </a:r>
                    </a:p>
                  </a:txBody>
                  <a:tcPr marL="73152" marR="73152" marT="45720" marB="45720" anchor="t">
                    <a:solidFill>
                      <a:srgbClr val="161225"/>
                    </a:solidFill>
                  </a:tcPr>
                </a:tc>
              </a:tr>
              <a:tr h="484632">
                <a:tc>
                  <a:txBody>
                    <a:bodyPr wrap="square"/>
                    <a:lstStyle/>
                    <a:p>
                      <a:pPr>
                        <a:lnSpc>
                          <a:spcPct val="110000"/>
                        </a:lnSpc>
                      </a:pPr>
                      <a:r>
                        <a:rPr b="1" sz="1050" i="0">
                          <a:solidFill>
                            <a:srgbClr val="161225"/>
                          </a:solidFill>
                          <a:latin typeface="Arial"/>
                        </a:rPr>
                        <a:t>Four eyes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DORA (EU)</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Digital Operational Resilience Act, EU 2022/2554. Applies to payment institutions since July 2025.</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DORA (Google)</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DevOps Research and Assessment. Google Cloud's research programme on software delivery. Coined "the verification tax" in 2026.</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RTS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Regulatory Technical Standard. The detailed rules under DORA (EU). 2024/1774 art. 17 is the change-management one.</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Required approvals, code owners</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GitHub branch-protection rules from 2016 and 2017. One more person has to say yes before a merge.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Break-glass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A logged override that lets a team bypass a check in an emergency. Cloudflare's reviewer has one; GitHub's org-wide rulesets do not.</a:t>
                      </a:r>
                    </a:p>
                  </a:txBody>
                  <a:tcPr marL="73152" marR="73152" marT="45720" marB="45720" anchor="t">
                    <a:solidFill>
                      <a:srgbClr val="ECEBE6"/>
                    </a:solidFill>
                  </a:tcPr>
                </a:tc>
              </a:tr>
              <a:tr h="324612">
                <a:tc>
                  <a:txBody>
                    <a:bodyPr wrap="square"/>
                    <a:lstStyle/>
                    <a:p>
                      <a:pPr>
                        <a:lnSpc>
                          <a:spcPct val="110000"/>
                        </a:lnSpc>
                      </a:pPr>
                      <a:r>
                        <a:rPr b="1" sz="1050" i="0">
                          <a:solidFill>
                            <a:srgbClr val="161225"/>
                          </a:solidFill>
                          <a:latin typeface="Arial"/>
                        </a:rPr>
                        <a:t>Tricorder</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Google's static-analysis platform. Runs on every change before a human reviewer sees it.</a:t>
                      </a:r>
                    </a:p>
                  </a:txBody>
                  <a:tcPr marL="73152" marR="73152" marT="45720" marB="45720" anchor="t">
                    <a:solidFill>
                      <a:srgbClr val="FFFFFF"/>
                    </a:solidFill>
                  </a:tcPr>
                </a:tc>
              </a:tr>
              <a:tr h="324612">
                <a:tc>
                  <a:txBody>
                    <a:bodyPr wrap="square"/>
                    <a:lstStyle/>
                    <a:p>
                      <a:pPr>
                        <a:lnSpc>
                          <a:spcPct val="110000"/>
                        </a:lnSpc>
                      </a:pPr>
                      <a:r>
                        <a:rPr b="1" sz="1050" i="0">
                          <a:solidFill>
                            <a:srgbClr val="161225"/>
                          </a:solidFill>
                          <a:latin typeface="Arial"/>
                        </a:rPr>
                        <a:t>Soundcheck</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Spotify's platform for running different tiers of checks per kind of component.</a:t>
                      </a:r>
                    </a:p>
                  </a:txBody>
                  <a:tcPr marL="73152" marR="73152" marT="45720" marB="45720" anchor="t">
                    <a:solidFill>
                      <a:srgbClr val="ECEBE6"/>
                    </a:solidFill>
                  </a:tcPr>
                </a:tc>
              </a:tr>
              <a:tr h="484632">
                <a:tc>
                  <a:txBody>
                    <a:bodyPr wrap="square"/>
                    <a:lstStyle/>
                    <a:p>
                      <a:pPr>
                        <a:lnSpc>
                          <a:spcPct val="110000"/>
                        </a:lnSpc>
                      </a:pPr>
                      <a:r>
                        <a:rPr b="1" sz="1050" i="0">
                          <a:solidFill>
                            <a:srgbClr val="161225"/>
                          </a:solidFill>
                          <a:latin typeface="Arial"/>
                        </a:rPr>
                        <a:t>Self-review</a:t>
                      </a:r>
                    </a:p>
                  </a:txBody>
                  <a:tcPr marL="73152" marR="73152" marT="45720" marB="45720" anchor="t">
                    <a:solidFill>
                      <a:srgbClr val="FFFFFF"/>
                    </a:solidFill>
                  </a:tcPr>
                </a:tc>
                <a:tc>
                  <a:txBody>
                    <a:bodyPr wrap="square"/>
                    <a:lstStyle/>
                    <a:p>
                      <a:pPr>
                        <a:lnSpc>
                          <a:spcPct val="110000"/>
                        </a:lnSpc>
                      </a:pPr>
                      <a:r>
                        <a:rPr b="0" sz="1050" i="0">
                          <a:solidFill>
                            <a:srgbClr val="161225"/>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FFFFFF"/>
                    </a:solidFill>
                  </a:tcPr>
                </a:tc>
              </a:tr>
              <a:tr h="484632">
                <a:tc>
                  <a:txBody>
                    <a:bodyPr wrap="square"/>
                    <a:lstStyle/>
                    <a:p>
                      <a:pPr>
                        <a:lnSpc>
                          <a:spcPct val="110000"/>
                        </a:lnSpc>
                      </a:pPr>
                      <a:r>
                        <a:rPr b="1" sz="1050" i="0">
                          <a:solidFill>
                            <a:srgbClr val="161225"/>
                          </a:solidFill>
                          <a:latin typeface="Arial"/>
                        </a:rPr>
                        <a:t>The author's half of four eyes</a:t>
                      </a:r>
                    </a:p>
                  </a:txBody>
                  <a:tcPr marL="73152" marR="73152" marT="45720" marB="45720" anchor="t">
                    <a:solidFill>
                      <a:srgbClr val="ECEBE6"/>
                    </a:solidFill>
                  </a:tcPr>
                </a:tc>
                <a:tc>
                  <a:txBody>
                    <a:bodyPr wrap="square"/>
                    <a:lstStyle/>
                    <a:p>
                      <a:pPr>
                        <a:lnSpc>
                          <a:spcPct val="110000"/>
                        </a:lnSpc>
                      </a:pPr>
                      <a:r>
                        <a:rPr b="0" sz="1050" i="0">
                          <a:solidFill>
                            <a:srgbClr val="161225"/>
                          </a:solidFill>
                          <a:latin typeface="Arial"/>
                        </a:rPr>
                        <a:t>My name for a check that asks the author to explain the change in their own words before opening a pull request. A design, not yet a result.</a:t>
                      </a:r>
                    </a:p>
                  </a:txBody>
                  <a:tcPr marL="73152" marR="73152" marT="45720" marB="45720" anchor="t">
                    <a:solidFill>
                      <a:srgbClr val="ECEBE6"/>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