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code reviews happen in a pull request. A developer opens it, another developer reads and approves it, and the branch is merged. We use the pull request as a review tool and the approval as the second pair of eyes. Two things have changed. The change itself may now be written by an AI, and on 1 September 2026 GitHub shipped a setting that lets Copilot's review count toward a repository's required approvals. So the question in the title is no longer rhetorical. Nobody is being asked to approve or fund anything today. I want to hear where this reasoning breaks in your context.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asking who should own the check, it is worth asking what the check was ever for. Three separate answers, from three places, all from a time when changes were scarce. Nobody designed the pull request to carry all three at once, which is why it carries them badly now.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2002, Jeff Garzik wrote a short guide for developers who wanted their changes in the Linux kernel: publish the change in a repository Linus Torvalds can pull from, write a summary, list the files you changed. The rules existed to save Linus work. The contributor could not write to the maintainer's repository, so writing and accepting were two acts by two people from the beginning. GitHub made the pull request a feature in 2008. In 2010 it allowed pull requests between branches of the same repository, which changed the reason for opening one: inside a company everyone can already merge, so a team opens a pull request so that someone looks first. Required approvals and code owners arrived between 2011 and 2017. The pull request worked as a request to integrate for years without any of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kernel every change passed through Linus because only he could pull it, and he would live with every change he pulled. Inside a company the second person disappears, because everyone on the team can merge. A required approval brings that person back: one more person has to say yes. But there is no Linus at the keyboard. At a payment company the one who lives with the change is the company. When a change moves money the wrong way, the company answers to its customers and to its supervisor. That is not ownership of an asset. It is exposure to an outcome, and it sits nowhere near the merge button. The company never reads the change. What it is exposed to depends entirely on the one developer who does.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developers why review exists and the answer is to catch mistakes. Michael Fagan's 1976 paper on inspections found one case where inspection caught 82% of the errors eventually found. But look at what reviewers actually write. At Microsoft, developers ranked finding defects as their top reason for reviewing. Researchers then read the comments. Only 14% pointed at a defect. The largest group, 29%, were suggestions to improve code that already worked. At Google, the person credited with introducing review gave a different reason from the start: to force developers to write code that other developers could understand. So a review answers two questions. A one-line configuration fix needs the first. A change to how payments are calculated needs both, and needs someone who understands payments to answer the second. Both go through the same pull request and get the same single approval.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Vipps MobilePay there is a third reason for a second pair of eyes: the law requires one. Four eyes in banking means three different things. Two persons must direct the business, which is where the German Vier-Augen-Prinzip comes from. A second person must check a sensitive manual action, such as lowering a customer's money-laundering risk level. And since July 2025, under the EU's Digital Operational Resilience Act and its technical standard, the function that approves a change must be independent of the function that requests and implements it. The rule says functions, and everywhere else the law uses that word it means a role, not a human. The policy must be risk-based. Where the rules require source code review they define it as static and dynamic testing, a tool rather than a person. And the European supervisors' July 2026 statement on frontier AI never used the words approval, human, or four eyes. The rule asks neither of the developer questions from the previous slide. It never asks whether the approver understood the change. Detail in appendix A2.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pair of eyes came from three places. Fagan wanted defects found early. Linus wanted to choose what went into his own code. The regulator wants an independent function to approve, a record of it, and more care where the risk is higher. Today one pull request does all three jobs. The comments are the reading, the approval is the gate, the pull request is the record. The problem is the approval. The approver is usually another developer on the same team with the same manager. The rule never says whether that is independent enough or whether the approver must sit outside the team. That question stays open for the whole deck. And all three roots come from a time when changes were scarce. An inspection needed a meeting. Linus read what he pulled. Nobody asked what happens when the changes outnumber the readers.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is the evidence. It is the part where I expect the most disagreement, so stop me on any number. Every figure has a caveat and they are collected in appendix A3.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 reports 51% more changes per developer in one year, with agents causing over 80% of that growth. On GitHub, merged pull requests went from about 25 million a month in January 2023 to over 90 million by June 2026, which is platform growth rather than the AI share. A pull request written with AI waits more than 16 hours to be picked up against about 3 for a human-written one. Once picked up it reaches a decision in about 194 minutes against 252, which sounds like reviewing got faster. But those changes are over 400 lines against 157, and nobody measured how many of the minutes were spent reading. A change nearly three times the size, decided in less time, is probably not really read. Meta now scores each change for risk and merges the low-risk ones with no human approval. More than 331.000 changes reached production that way.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Researchers followed 400 reviewers through more than 11.000 reviews of agent-written code over seven months. As each reviewer saw more of it, their approval rate rose from 30,1% to 36,8% and their inline comments fell by 22%. The changes stayed the same size and waiting times got longer, not shorter. The code did not get better. It got familiar. Authors are no more careful. Sonar asked about 1.150 developers: 96% said they do not fully trust that AI output is correct, but only 48% said they always verify it before committing. Google reviewed code so that the next developer could understand it. Now half of the authors do not check their own.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three problems, not one. The first overwhelms the reading: more arrives than anyone can read. The third breaks the record, which now says a change was approved when nobody read it. I have done the third one. I approved a change because the tests were green, without reading it. The green check stood in for my judgement, and the recorded approval recorded confidence in the tests rather than a reading of the change. The second failure is different. An agent writes 400 lines, the author skims them and opens the pull request. The understanding that used to come with writing the change never happens. The tests still pass and the approval still shows a name, but nothing on a pull request shows whether anyone understood the change. Nobody built a check for that, because the first reading used to come free with the work. It is the failure I want to design for at the end.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2009, Kemerer and Paulk measured what happens as a reviewer speeds up. Up to 200 lines an hour people found most of the defects. Faster than that, about half. One in four AI-written pull requests has over 400 lines, so at 200 lines an hour that is two hours of one person's attention for a single change. Before AI, developers spent about 3,2 hours a week reviewing at Google and about 6,4 in open source. That is one to three changes a week read properly, against 51% more changes per developer. One caution: nobody publishes how many minutes a reviewer actually spends on a change, so the 200 lines an hour is an assumption from one 2009 study. Treat the arithmetic as a shape, not a measurement. The point survives the caution. Nobody can review everything properly anymore, so most teams have already stopped reviewing some changes. The question is whether anyone chose which ones.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Godot Foundation said in June 2026 that the reviewer shortage was already a problem, and one they had ignored. Four kinds of answer are in use. Open source mostly restricts the input: Godot banned AI-generated code, five Rust teams run a circuit breaker on the share of AI-written merges, curl ended its bug bounty over slop. Companies mostly relax the gate: Meta, Zalando and Spotify auto-approve what they judge low-risk, and none of the three is a regulated financial company. A third answer moves the check earlier: Claude Code, Codex and Cursor run a review on your branch before you open a pull request, and Rust's policy says that does not substitute for self-review. The fourth makes each change easier to approve. Adyen, the only regulated payment company here, runs over 4.000 automated merge requests with a human approving each, and added a designated person who re-reads approved changes because reviewers had started to pattern-match. Two caveats: Adyen's changes came from a deterministic bot, not a model. And whether a classifier that approves low-risk changes counts as an independent function under DORA, nobody has written down. Full list in appendix A1.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1 September 2026, GitHub shipped a setting that lets Copilot's review count toward a repository's required-approvals rule. It is off by default for enterprises and in public preview, and I have not found anyone using it. The rule that authors cannot approve their own pull request works on identities, and Copilot has two: one that writes and one that reviews. The writing identity is blocked. The reviewing identity is free to approve. If I ask Copilot to make a change, GitHub will not let me approve it, because it knows I am too close. Copilot's reviewer has no such limit. GitHub's own documentation says the agent gets a second opinion on its code with Copilot code review, which is a second opinion from itself. Nothing in the documentation mentions segregation of duties or independence. The approval shows on the pull request under Copilot's name, but the organisation audit log has no event for it. To find what Copilot approved last quarter you would open every pull request. The approval is a setting now, and on most teams nobody has been given the job of deciding how it is set.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Nobody at work asked for a centralized reviewer. This was my own first instinct, and this chapter is me arguing against it. If you think the argument is wrong, this is the chapter to interrupt.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answer: our developer experience team runs one AI reviewer for every repository, approving low-risk changes without a human. Three reasons are usually given. An outsider sees more: but the research measures whether the reviewer has context, such as why a workaround exists and what the team already decided. Nine out of ten Microsoft developers said a change takes longer to review when they do not know the code, and a first read of a diff never supplies that, however fast. AI never gets tired: but the people reading its reviews do, and one person facing every change will at some point just trust and approve. Nobody on the team looks for security: true, 614 of almost 21.000 review comments in two open source projects touched it. But asked directly, the same developers said they always think about it. Nobody had asked them to, and asking is cheaper than a service. What a managed reviewer does do better is coverage. It reads every change, and projects with fewer unreviewed pull requests had fewer security bugs. It could also keep a better record than GitHub's audit log, which only notes that a review happened and reaches back 180 days. What it has not managed to do better is the approval.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managed review service costs $12 to $72 per developer per month, so $43.000 to $260.000 a year for us, paid whether or not the queue gets shorter. That is the smallest cost. The first real cost is what happens to a check when one function reviews for everyone. Google's central readability review certifies 1 to 2% of engineers, so most teams go outside for every review. Google's DORA research, the DevOps Research and Assessment programme, found companies with outside approvers 2,6 times more likely to be in the worst-performing group. The UK's FCA looked at 23 firms and over a million changes: their change boards approved more than 90% of the riskiest changes, some every single one. The second cost is that engineers who hand their reviews to a service stop understanding their own code, and that is the part they cannot buy back. The third is a shared blind spot. In a vendor study, Claude caught 62% of Codex's serious bugs but only 53,7% of its own; GPT caught 60% of Claude's but 50,5% of Codex's. Researchers re-planted 33 known vulnerabilities and rewrote the descriptions until the reviewer stopped objecting; 32 got past Claude Code and CodeRabbit. Two more: at one company, turning a reviewer on raised pull request close time from under six hours to over eight. And the lock-in is not the comments, which you own, but the context the tool learns about your code, which none of six vendors lets you export.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the rules require source code review they mean static and dynamic testing, and Google has drawn that line in writing for a decade. Static analysis exists so that human review can focus on issues that are not mechanically verifiable. One Java hash-code bug was flagged, fixed 31 times, then made a compiler error. Developers apply about 3.000 automated fixes a day and click not useful about 250 times, a false-positive rate just below 5%. What remains on the other side is judgment: whether the code is wanted, norms where the style guide is silent, gatekeeping, education. The dividing line is not AI versus human or vendor versus self-built. It is mechanically verifiable versus not, and everything on the first side can be centralized without controversy. Google's DORA research supports shared platforms, since teams that choose their own tools deliver better but unconstrained choice fragments. That argues for a shared platform, not a shared approver. Atlassian replaced more than 20 CI/CD servers with one platform: build time from 6 hours to 90 minutes, lead time from 2 days to 90 minutes, $4 million a year saved by one team, and teams still choose what runs. Cloudflare shows the shape for review: one reviewer company-wide, a config file per team, and a break-glass override logged every time. Caveat: no study has shown platform engineering causes such gains rather than strong teams building platforms.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in this chapter is a proposal for funding. It is the order I would try things in, and I want to know which one you would start with and which one you think is a waste of time.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roughly the order I would try them, cheapest and most certain first. The first four are available today, proven at scale by someone else, and outsource no judgment. First, turn on what already exists: required reviews, required status checks, no direct pushes to protected branches, stale approvals dismissed on new commits, secret and dependency scanning. I have not checked which of these are on across our repositories, and that check is the actual first step. Second, tier repositories by what they touch. A payment repository and an internal chatbot are not the same bet even when a change to each looks equally small. Spotify's Soundcheck runs different tracks of checks per kind of component on one platform. Third, centralize the machinery the way Atlassian did, and keep the approval local. Fourth, pair models across vendors in CI. It fixes exactly one evidenced blind spot for the cost of an API call, which is what Greptile sells as the independent code validator. Fifth is the one idea in this deck that is genuinely new, and the one with the least evidence. Cost and exit for each item: the first three have nothing to leave. GitHub's security add-ons would be about $176.400 a year for 300 active committers, and swapping the scanner takes nothing with it. The real risk is that platform initiatives fail to show impact 60 to 70% of the time and close to half are disbanded within 18 months.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failure from slide 11 was never about volume. Authors stopped understanding what they submit, and nothing on a pull request looks for that, because the first reading used to come free with writing the change. The check I want to design asks the author to explain the change in their own words before opening the pull request. The cognitive-science case is old and solid: prompting someone to explain something in their own words deepens their understanding of it. GitHub already recommends self-review. But a 2026 study of 80.000 pull requests across 156 projects found that descriptions mostly make a negligible difference to review outcomes, with one exception: a description that explains the code and asks for a specific kind of feedback. About a third of pull requests have no description at all. The risk is easy to name. Making an explanation mandatory is trivial, and a required field decays into N/A, which satisfies the check without the understanding it was meant to prove. That is the same empty ritual as the third failure. Prototype 0.1 exists as a design. No team has used it, so I am not presenting results. The whole design problem is making it the second reading, not the ritual.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so far has been a decision somebody else makes. This chapter is for the developer who agrees with the argument and wants to do something on Monday. Nothing in it needs a platform team, a budget, or a vendor. Every item is a file in the repository or a setting on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04 said to tier repositories by what they touch, and never said who does the tiering. A developer with one repository in front of them has to settle it, because the answer decides how strict every step after this one should be: how many reviewers, whether a machine may approve, whether a security review is mandatory. A payment repository and an internal dashboard are not the same bet, even when a change to each looks equally small. Chapter 01 found the regulation asking for exactly this, a policy based on a risk assessment approach, and it never said the assessment had to be elaborate. One sentence in the README, dated, that a new joiner can find, is more than most repositories have today. The date matters because the answer expires: a repository that starts handling customer data has changed tier whether or not anybody wrote it down.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chapter 03's dividing line applied to one repository. Everything mechanically verifiable runs before a person looks at the change. Formatting, linting, the test suite and a static analysis pass go in a workflow file under .github/workflows. Dependency scanning is a dependabot.yml. Secret scanning is a toggle in the repository settings. Google's reason is the one from chapter 03: static analysis exists so that human review can focus on what is not mechanically verifiable. The second step is the one people skip. A check that merely runs is advice. In branch protection or a ruleset, require those status checks by name, require a pull request before merging, and stop direct pushes to the default branch. Then dismiss stale approvals when new commits land. Dismissing stale approvals is the cheapest defence in this whole deck against the third failure, where the record says approved and nobody read the version that shipped.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settled what the whole repository touches. Both decisions here follow from that answer. A CODEOWNERS file requires a named reviewer for the paths that move money or hold customer data, and leaves the rest on the lighter default. That is the risk-based approach the regulation asks for, written as a file rather than a policy nobody reads. It also answers something the approval rule leaves open: not just that someone approved, but that someone who knows this code did. The second decision comes from chapter 02. Whether Copilot's review counts toward this repository's required approvals is a per-repository choice, currently off by default. Write the answer into the README under the same Review rules heading step 1 started, with the reason. The setting has nowhere to hold a reason, and chapter 02 found GitHub's organisation audit log records no event at all when a machine approves, so the README is the only place the decision survives. Both repositories are allowed to answer differently. What neither should do is answer by accident, which is what happens when nobody decides.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author's half of four eyes, in the one place a repository can host it. A pull_request_template.md in the .github folder puts the same questions in front of every pull request. The wording matters more than the existence. Chapter 04 cited a 2026 study of 80.000 pull requests across 156 projects where description elements made largely negligible difference to review outcomes, with one exception: a description that explains the code and asks for a specific kind of feedback. So the template asks for both. A template that only asks for a summary is asking for the thing the study found does not matter. One honest limit: a template is a prompt, not a control. GitHub prefills it and nothing stops someone deleting it. Enforcing it takes a CI check, and an enforced field is exactly where N/A appears.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row is the one nothing else covers. Everything above it decays quietly, and only a person re-reading approved changes notices. That is Adyen's fix from chapter 02, the one regulated payment company in this deck, whose reviewers said they had started to pattern-match after a dozen near-identical changes. At one-repository scale it is a recurring calendar entry rather than a tool: read a sample of merged pull requests and ask whether the approvals on them meant anything. On leverage and freedom: the workflow file and the template are copied to the next repository in minutes, so the second repository costs a fraction of the first. Each item is reverted by deleting a line, with no vendor to ask. What the list cannot do is the job chapter 01 found underneath all three: decide whether the change is wanted. Days 1 to 3 make that decision cheaper to reach, day 4 gives the decider something to read, and the last row checks that the decision is still being made. None of them makes it. And I owe this argument the check in the last line: I do not know how many of these settings are already on in our repositories.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slides. The first is the answer to the title question. The second is where I hand it back to you.</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queue gets shorter by turning on what is already there, centralizing everything mechanical, giving that machinery its own log of approved, rejected and why, the way secret scanning already logs it, and tiering by what the repository touches with a logged break-glass rather than an org-wide switch nobody downstream can turn off. Quality goes up with real evidence in exactly one place: a different model family reviews the change. It might go up in two more, the author's half of four eyes and Adyen's periodic look at already-approved changes to catch the gate going stale, but both are design problems here, not results. Restricting how much AI our engineers may use is set aside, not rejected: Godot, Rust and curl defend against low-trust external contributors, which is a different problem from employed engineers using a tool they were given. The approval itself stays with a human who is independent of whoever implemented the change, including when the change was written by an AI. Two honest notes. The rules are silent on AI approval, not against it, so this is the cautious reading of that silence and not the only one allowed. And whether same-team approval is independent enough is a question this deck raised on slide 7 and never answered.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I do not know. Whether the approver must sit outside the team that shipped the change, which slides 6 and 7 raised and everything since has assumed away. Whether a classifier that auto-approves low-risk changes counts as an independent function under DORA, which depends on who owns it and whether its decision lands where an auditor can read it, and which nobody has written down. Which branch protections and scanners are on across our repositories today, which is a day of work I have not done and the cheapest item on my list rests on it. And whether the author's check survives contact with a real team, or becomes the ritual. What would help me most is a review decision you have already made and had to undo: a rule people bypassed, a gate you loosened, a reviewer you switched off, and what it cost. What would change my mind is a regulated company that let a machine approve changes and had an auditor accept the record, or evidence that a managed reviewer improved the gate itself rather than the coverage.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F5F5F2"/>
                </a:solidFill>
                <a:latin typeface="Arial"/>
              </a:rPr>
              <a:t>Vipps MobilePay</a:t>
            </a:r>
          </a:p>
        </p:txBody>
      </p:sp>
      <p:sp>
        <p:nvSpPr>
          <p:cNvPr id="4" name="TextBox 3"/>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1</a:t>
            </a:r>
          </a:p>
        </p:txBody>
      </p:sp>
      <p:sp>
        <p:nvSpPr>
          <p:cNvPr id="5" name="TextBox 4"/>
          <p:cNvSpPr txBox="1"/>
          <p:nvPr/>
        </p:nvSpPr>
        <p:spPr>
          <a:xfrm>
            <a:off x="548640" y="292608"/>
            <a:ext cx="11094415" cy="274320"/>
          </a:xfrm>
          <a:prstGeom prst="rect">
            <a:avLst/>
          </a:prstGeom>
          <a:noFill/>
        </p:spPr>
        <p:txBody>
          <a:bodyPr wrap="square" lIns="0" rIns="0" tIns="0" bIns="0" anchor="t">
            <a:spAutoFit/>
          </a:bodyPr>
          <a:lstStyle/>
          <a:p>
            <a:pPr algn="l">
              <a:lnSpc>
                <a:spcPct val="115000"/>
              </a:lnSpc>
              <a:spcAft>
                <a:spcPts val="0"/>
              </a:spcAft>
            </a:pPr>
            <a:r>
              <a:rPr b="1" sz="1100" i="0">
                <a:solidFill>
                  <a:srgbClr val="F5F5F2"/>
                </a:solidFill>
                <a:latin typeface="Arial"/>
              </a:rPr>
              <a:t>Vipps MobilePay</a:t>
            </a:r>
          </a:p>
        </p:txBody>
      </p:sp>
      <p:sp>
        <p:nvSpPr>
          <p:cNvPr id="6" name="TextBox 5"/>
          <p:cNvSpPr txBox="1"/>
          <p:nvPr/>
        </p:nvSpPr>
        <p:spPr>
          <a:xfrm>
            <a:off x="548640" y="914400"/>
            <a:ext cx="11094415" cy="640080"/>
          </a:xfrm>
          <a:prstGeom prst="rect">
            <a:avLst/>
          </a:prstGeom>
          <a:noFill/>
        </p:spPr>
        <p:txBody>
          <a:bodyPr wrap="square" lIns="0" rIns="0" tIns="0" bIns="0" anchor="t">
            <a:spAutoFit/>
          </a:bodyPr>
          <a:lstStyle/>
          <a:p>
            <a:pPr algn="l">
              <a:lnSpc>
                <a:spcPct val="115000"/>
              </a:lnSpc>
              <a:spcAft>
                <a:spcPts val="0"/>
              </a:spcAft>
            </a:pPr>
            <a:r>
              <a:rPr b="1" sz="4000" i="0">
                <a:solidFill>
                  <a:srgbClr val="F5F5F2"/>
                </a:solidFill>
                <a:latin typeface="Arial"/>
              </a:rPr>
              <a:t>What Is the Second Pair of Eyes</a:t>
            </a:r>
          </a:p>
        </p:txBody>
      </p:sp>
      <p:sp>
        <p:nvSpPr>
          <p:cNvPr id="7" name="TextBox 6"/>
          <p:cNvSpPr txBox="1"/>
          <p:nvPr/>
        </p:nvSpPr>
        <p:spPr>
          <a:xfrm>
            <a:off x="548640" y="1554480"/>
            <a:ext cx="11094415" cy="640080"/>
          </a:xfrm>
          <a:prstGeom prst="rect">
            <a:avLst/>
          </a:prstGeom>
          <a:noFill/>
        </p:spPr>
        <p:txBody>
          <a:bodyPr wrap="square" lIns="0" rIns="0" tIns="0" bIns="0" anchor="t">
            <a:spAutoFit/>
          </a:bodyPr>
          <a:lstStyle/>
          <a:p>
            <a:pPr algn="l">
              <a:lnSpc>
                <a:spcPct val="115000"/>
              </a:lnSpc>
              <a:spcAft>
                <a:spcPts val="0"/>
              </a:spcAft>
            </a:pPr>
            <a:r>
              <a:rPr b="1" sz="4000" i="0">
                <a:solidFill>
                  <a:srgbClr val="FF5B24"/>
                </a:solidFill>
                <a:latin typeface="Arial"/>
              </a:rPr>
              <a:t>For?</a:t>
            </a:r>
          </a:p>
        </p:txBody>
      </p:sp>
      <p:sp>
        <p:nvSpPr>
          <p:cNvPr id="8" name="Oval 7"/>
          <p:cNvSpPr/>
          <p:nvPr/>
        </p:nvSpPr>
        <p:spPr>
          <a:xfrm>
            <a:off x="9646920" y="4800600"/>
            <a:ext cx="566928" cy="566928"/>
          </a:xfrm>
          <a:prstGeom prst="ellipse">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332720" y="4983480"/>
            <a:ext cx="384048" cy="384048"/>
          </a:xfrm>
          <a:prstGeom prst="roundRect">
            <a:avLst>
              <a:gd name="adj" fmla="val 4000"/>
            </a:avLst>
          </a:prstGeom>
          <a:solidFill>
            <a:srgbClr val="5A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784080" y="5532120"/>
            <a:ext cx="868680" cy="292608"/>
          </a:xfrm>
          <a:prstGeom prst="roundRect">
            <a:avLst>
              <a:gd name="adj" fmla="val 4000"/>
            </a:avLst>
          </a:prstGeom>
          <a:noFill/>
          <a:ln w="19050">
            <a:solidFill>
              <a:srgbClr val="5A7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744200" y="5532120"/>
            <a:ext cx="292608" cy="292608"/>
          </a:xfrm>
          <a:prstGeom prst="ellipse">
            <a:avLst/>
          </a:prstGeom>
          <a:noFill/>
          <a:ln w="19050">
            <a:solidFill>
              <a:srgbClr val="FF5B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514600"/>
            <a:ext cx="11094415" cy="402844"/>
          </a:xfrm>
          <a:prstGeom prst="rect">
            <a:avLst/>
          </a:prstGeom>
          <a:noFill/>
        </p:spPr>
        <p:txBody>
          <a:bodyPr wrap="square" lIns="0" rIns="0" tIns="0" bIns="0" anchor="t">
            <a:spAutoFit/>
          </a:bodyPr>
          <a:lstStyle/>
          <a:p>
            <a:pPr algn="l">
              <a:lnSpc>
                <a:spcPct val="115000"/>
              </a:lnSpc>
              <a:spcAft>
                <a:spcPts val="0"/>
              </a:spcAft>
            </a:pPr>
            <a:r>
              <a:rPr b="0" sz="1300" i="0">
                <a:solidFill>
                  <a:srgbClr val="F5F5F2"/>
                </a:solidFill>
                <a:latin typeface="Arial"/>
              </a:rPr>
              <a:t>One developer opens a pull request. Another reads it and approves it. We call that approval the second pair of eyes. Now the change may have been written by an AI, and since September 2026 an AI can count as the approver too.</a:t>
            </a:r>
          </a:p>
        </p:txBody>
      </p:sp>
      <p:sp>
        <p:nvSpPr>
          <p:cNvPr id="13" name="Rounded Rectangle 12"/>
          <p:cNvSpPr/>
          <p:nvPr/>
        </p:nvSpPr>
        <p:spPr>
          <a:xfrm>
            <a:off x="548640" y="3146044"/>
            <a:ext cx="3576218" cy="1091564"/>
          </a:xfrm>
          <a:prstGeom prst="roundRect">
            <a:avLst>
              <a:gd name="adj" fmla="val 4000"/>
            </a:avLst>
          </a:prstGeom>
          <a:noFill/>
          <a:ln w="15875">
            <a:solidFill>
              <a:srgbClr val="FF5B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3274060"/>
            <a:ext cx="3210458" cy="230251"/>
          </a:xfrm>
          <a:prstGeom prst="rect">
            <a:avLst/>
          </a:prstGeom>
          <a:noFill/>
        </p:spPr>
        <p:txBody>
          <a:bodyPr wrap="square" lIns="0" rIns="0" tIns="0" bIns="0" anchor="t">
            <a:spAutoFit/>
          </a:bodyPr>
          <a:lstStyle/>
          <a:p>
            <a:pPr algn="l">
              <a:lnSpc>
                <a:spcPct val="115000"/>
              </a:lnSpc>
              <a:spcAft>
                <a:spcPts val="0"/>
              </a:spcAft>
            </a:pPr>
            <a:r>
              <a:rPr b="1" sz="1250" i="0">
                <a:solidFill>
                  <a:srgbClr val="F5F5F2"/>
                </a:solidFill>
                <a:latin typeface="Arial"/>
              </a:rPr>
              <a:t>Where did it come from?</a:t>
            </a:r>
          </a:p>
        </p:txBody>
      </p:sp>
      <p:sp>
        <p:nvSpPr>
          <p:cNvPr id="15" name="TextBox 14"/>
          <p:cNvSpPr txBox="1"/>
          <p:nvPr/>
        </p:nvSpPr>
        <p:spPr>
          <a:xfrm>
            <a:off x="749808" y="3577463"/>
            <a:ext cx="3210458" cy="477266"/>
          </a:xfrm>
          <a:prstGeom prst="rect">
            <a:avLst/>
          </a:prstGeom>
          <a:noFill/>
        </p:spPr>
        <p:txBody>
          <a:bodyPr wrap="square" lIns="0" rIns="0" tIns="0" bIns="0" anchor="t">
            <a:spAutoFit/>
          </a:bodyPr>
          <a:lstStyle/>
          <a:p>
            <a:pPr algn="l">
              <a:lnSpc>
                <a:spcPct val="120000"/>
              </a:lnSpc>
              <a:spcAft>
                <a:spcPts val="0"/>
              </a:spcAft>
            </a:pPr>
            <a:r>
              <a:rPr b="0" sz="1100" i="0">
                <a:solidFill>
                  <a:srgbClr val="F5F5F2"/>
                </a:solidFill>
                <a:latin typeface="Arial"/>
              </a:rPr>
              <a:t>Maintainer, reviewer, regulator.</a:t>
            </a:r>
          </a:p>
        </p:txBody>
      </p:sp>
      <p:sp>
        <p:nvSpPr>
          <p:cNvPr id="16" name="Rounded Rectangle 15"/>
          <p:cNvSpPr/>
          <p:nvPr/>
        </p:nvSpPr>
        <p:spPr>
          <a:xfrm>
            <a:off x="4307738" y="3146044"/>
            <a:ext cx="3576218" cy="1091564"/>
          </a:xfrm>
          <a:prstGeom prst="roundRect">
            <a:avLst>
              <a:gd name="adj" fmla="val 4000"/>
            </a:avLst>
          </a:prstGeom>
          <a:noFill/>
          <a:ln w="15875">
            <a:solidFill>
              <a:srgbClr val="5A7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8906" y="3274060"/>
            <a:ext cx="3210458" cy="230251"/>
          </a:xfrm>
          <a:prstGeom prst="rect">
            <a:avLst/>
          </a:prstGeom>
          <a:noFill/>
        </p:spPr>
        <p:txBody>
          <a:bodyPr wrap="square" lIns="0" rIns="0" tIns="0" bIns="0" anchor="t">
            <a:spAutoFit/>
          </a:bodyPr>
          <a:lstStyle/>
          <a:p>
            <a:pPr algn="l">
              <a:lnSpc>
                <a:spcPct val="115000"/>
              </a:lnSpc>
              <a:spcAft>
                <a:spcPts val="0"/>
              </a:spcAft>
            </a:pPr>
            <a:r>
              <a:rPr b="1" sz="1250" i="0">
                <a:solidFill>
                  <a:srgbClr val="F5F5F2"/>
                </a:solidFill>
                <a:latin typeface="Arial"/>
              </a:rPr>
              <a:t>What changed?</a:t>
            </a:r>
          </a:p>
        </p:txBody>
      </p:sp>
      <p:sp>
        <p:nvSpPr>
          <p:cNvPr id="18" name="TextBox 17"/>
          <p:cNvSpPr txBox="1"/>
          <p:nvPr/>
        </p:nvSpPr>
        <p:spPr>
          <a:xfrm>
            <a:off x="4508906" y="3577463"/>
            <a:ext cx="3210458" cy="477266"/>
          </a:xfrm>
          <a:prstGeom prst="rect">
            <a:avLst/>
          </a:prstGeom>
          <a:noFill/>
        </p:spPr>
        <p:txBody>
          <a:bodyPr wrap="square" lIns="0" rIns="0" tIns="0" bIns="0" anchor="t">
            <a:spAutoFit/>
          </a:bodyPr>
          <a:lstStyle/>
          <a:p>
            <a:pPr algn="l">
              <a:lnSpc>
                <a:spcPct val="120000"/>
              </a:lnSpc>
              <a:spcAft>
                <a:spcPts val="0"/>
              </a:spcAft>
            </a:pPr>
            <a:r>
              <a:rPr b="0" sz="1100" i="0">
                <a:solidFill>
                  <a:srgbClr val="F5F5F2"/>
                </a:solidFill>
                <a:latin typeface="Arial"/>
              </a:rPr>
              <a:t>Writing became cheap. Approval became a setting.</a:t>
            </a:r>
          </a:p>
        </p:txBody>
      </p:sp>
      <p:sp>
        <p:nvSpPr>
          <p:cNvPr id="19" name="Rounded Rectangle 18"/>
          <p:cNvSpPr/>
          <p:nvPr/>
        </p:nvSpPr>
        <p:spPr>
          <a:xfrm>
            <a:off x="8066836" y="3146044"/>
            <a:ext cx="3576218" cy="1091564"/>
          </a:xfrm>
          <a:prstGeom prst="roundRect">
            <a:avLst>
              <a:gd name="adj" fmla="val 4000"/>
            </a:avLst>
          </a:prstGeom>
          <a:noFill/>
          <a:ln w="15875">
            <a:solidFill>
              <a:srgbClr val="FF5B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68004" y="3274060"/>
            <a:ext cx="3210458" cy="230251"/>
          </a:xfrm>
          <a:prstGeom prst="rect">
            <a:avLst/>
          </a:prstGeom>
          <a:noFill/>
        </p:spPr>
        <p:txBody>
          <a:bodyPr wrap="square" lIns="0" rIns="0" tIns="0" bIns="0" anchor="t">
            <a:spAutoFit/>
          </a:bodyPr>
          <a:lstStyle/>
          <a:p>
            <a:pPr algn="l">
              <a:lnSpc>
                <a:spcPct val="115000"/>
              </a:lnSpc>
              <a:spcAft>
                <a:spcPts val="0"/>
              </a:spcAft>
            </a:pPr>
            <a:r>
              <a:rPr b="1" sz="1250" i="0">
                <a:solidFill>
                  <a:srgbClr val="F5F5F2"/>
                </a:solidFill>
                <a:latin typeface="Arial"/>
              </a:rPr>
              <a:t>Who should own the check?</a:t>
            </a:r>
          </a:p>
        </p:txBody>
      </p:sp>
      <p:sp>
        <p:nvSpPr>
          <p:cNvPr id="21" name="TextBox 20"/>
          <p:cNvSpPr txBox="1"/>
          <p:nvPr/>
        </p:nvSpPr>
        <p:spPr>
          <a:xfrm>
            <a:off x="8268004" y="3577463"/>
            <a:ext cx="3210458" cy="477266"/>
          </a:xfrm>
          <a:prstGeom prst="rect">
            <a:avLst/>
          </a:prstGeom>
          <a:noFill/>
        </p:spPr>
        <p:txBody>
          <a:bodyPr wrap="square" lIns="0" rIns="0" tIns="0" bIns="0" anchor="t">
            <a:spAutoFit/>
          </a:bodyPr>
          <a:lstStyle/>
          <a:p>
            <a:pPr algn="l">
              <a:lnSpc>
                <a:spcPct val="120000"/>
              </a:lnSpc>
              <a:spcAft>
                <a:spcPts val="0"/>
              </a:spcAft>
            </a:pPr>
            <a:r>
              <a:rPr b="0" sz="1100" i="0">
                <a:solidFill>
                  <a:srgbClr val="F5F5F2"/>
                </a:solidFill>
                <a:latin typeface="Arial"/>
              </a:rPr>
              <a:t>And what I would try first.</a:t>
            </a:r>
          </a:p>
        </p:txBody>
      </p:sp>
      <p:sp>
        <p:nvSpPr>
          <p:cNvPr id="22" name="TextBox 21"/>
          <p:cNvSpPr txBox="1"/>
          <p:nvPr/>
        </p:nvSpPr>
        <p:spPr>
          <a:xfrm>
            <a:off x="548640" y="4511929"/>
            <a:ext cx="11094415" cy="201422"/>
          </a:xfrm>
          <a:prstGeom prst="rect">
            <a:avLst/>
          </a:prstGeom>
          <a:noFill/>
        </p:spPr>
        <p:txBody>
          <a:bodyPr wrap="square" lIns="0" rIns="0" tIns="0" bIns="0" anchor="t">
            <a:spAutoFit/>
          </a:bodyPr>
          <a:lstStyle/>
          <a:p>
            <a:pPr algn="l">
              <a:lnSpc>
                <a:spcPct val="115000"/>
              </a:lnSpc>
              <a:spcAft>
                <a:spcPts val="0"/>
              </a:spcAft>
            </a:pPr>
            <a:r>
              <a:rPr b="0" sz="1300" i="0">
                <a:solidFill>
                  <a:srgbClr val="F5F5F2"/>
                </a:solidFill>
                <a:latin typeface="Arial"/>
              </a:rPr>
              <a:t>An introduction to how far I got. I am looking for reactions and disagreement, not a decision.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F5F5F2"/>
                </a:solidFill>
                <a:latin typeface="Arial"/>
              </a:rPr>
              <a:t>Vipps MobilePay</a:t>
            </a:r>
          </a:p>
        </p:txBody>
      </p:sp>
      <p:sp>
        <p:nvSpPr>
          <p:cNvPr id="4" name="TextBox 3"/>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2</a:t>
            </a:r>
          </a:p>
        </p:txBody>
      </p:sp>
      <p:sp>
        <p:nvSpPr>
          <p:cNvPr id="5" name="TextBox 4"/>
          <p:cNvSpPr txBox="1"/>
          <p:nvPr/>
        </p:nvSpPr>
        <p:spPr>
          <a:xfrm>
            <a:off x="548640" y="292608"/>
            <a:ext cx="11094415" cy="274320"/>
          </a:xfrm>
          <a:prstGeom prst="rect">
            <a:avLst/>
          </a:prstGeom>
          <a:noFill/>
        </p:spPr>
        <p:txBody>
          <a:bodyPr wrap="square" lIns="0" rIns="0" tIns="0" bIns="0" anchor="t">
            <a:spAutoFit/>
          </a:bodyPr>
          <a:lstStyle/>
          <a:p>
            <a:pPr algn="l">
              <a:lnSpc>
                <a:spcPct val="115000"/>
              </a:lnSpc>
              <a:spcAft>
                <a:spcPts val="0"/>
              </a:spcAft>
            </a:pPr>
            <a:r>
              <a:rPr b="1" sz="1100" i="0">
                <a:solidFill>
                  <a:srgbClr val="F5F5F2"/>
                </a:solidFill>
                <a:latin typeface="Arial"/>
              </a:rPr>
              <a:t>Vipps MobilePay</a:t>
            </a:r>
          </a:p>
        </p:txBody>
      </p:sp>
      <p:sp>
        <p:nvSpPr>
          <p:cNvPr id="6" name="TextBox 5"/>
          <p:cNvSpPr txBox="1"/>
          <p:nvPr/>
        </p:nvSpPr>
        <p:spPr>
          <a:xfrm>
            <a:off x="548640" y="1417320"/>
            <a:ext cx="2377440" cy="1371600"/>
          </a:xfrm>
          <a:prstGeom prst="rect">
            <a:avLst/>
          </a:prstGeom>
          <a:noFill/>
        </p:spPr>
        <p:txBody>
          <a:bodyPr wrap="square" lIns="0" rIns="0" tIns="0" bIns="0" anchor="t">
            <a:spAutoFit/>
          </a:bodyPr>
          <a:lstStyle/>
          <a:p>
            <a:pPr algn="l">
              <a:lnSpc>
                <a:spcPct val="100000"/>
              </a:lnSpc>
              <a:spcAft>
                <a:spcPts val="0"/>
              </a:spcAft>
            </a:pPr>
            <a:r>
              <a:rPr b="1" sz="9600" i="0">
                <a:solidFill>
                  <a:srgbClr val="FF5B24"/>
                </a:solidFill>
                <a:latin typeface="Arial"/>
              </a:rPr>
              <a:t>01</a:t>
            </a:r>
          </a:p>
        </p:txBody>
      </p:sp>
      <p:sp>
        <p:nvSpPr>
          <p:cNvPr id="7" name="TextBox 6"/>
          <p:cNvSpPr txBox="1"/>
          <p:nvPr/>
        </p:nvSpPr>
        <p:spPr>
          <a:xfrm>
            <a:off x="2697480" y="1874519"/>
            <a:ext cx="8945575" cy="991615"/>
          </a:xfrm>
          <a:prstGeom prst="rect">
            <a:avLst/>
          </a:prstGeom>
          <a:noFill/>
        </p:spPr>
        <p:txBody>
          <a:bodyPr wrap="square" lIns="0" rIns="0" tIns="0" bIns="0" anchor="b">
            <a:spAutoFit/>
          </a:bodyPr>
          <a:lstStyle/>
          <a:p>
            <a:pPr algn="l">
              <a:lnSpc>
                <a:spcPct val="122000"/>
              </a:lnSpc>
              <a:spcAft>
                <a:spcPts val="0"/>
              </a:spcAft>
            </a:pPr>
            <a:r>
              <a:rPr b="1" sz="3200" i="0">
                <a:solidFill>
                  <a:srgbClr val="F5F5F2"/>
                </a:solidFill>
                <a:latin typeface="Arial"/>
              </a:rPr>
              <a:t>Where did the second pair of eyes come from?</a:t>
            </a:r>
          </a:p>
        </p:txBody>
      </p:sp>
      <p:sp>
        <p:nvSpPr>
          <p:cNvPr id="8" name="TextBox 7"/>
          <p:cNvSpPr txBox="1"/>
          <p:nvPr/>
        </p:nvSpPr>
        <p:spPr>
          <a:xfrm>
            <a:off x="2697480" y="3140455"/>
            <a:ext cx="8945575" cy="495299"/>
          </a:xfrm>
          <a:prstGeom prst="rect">
            <a:avLst/>
          </a:prstGeom>
          <a:noFill/>
        </p:spPr>
        <p:txBody>
          <a:bodyPr wrap="square" lIns="0" rIns="0" tIns="0" bIns="0" anchor="t">
            <a:spAutoFit/>
          </a:bodyPr>
          <a:lstStyle/>
          <a:p>
            <a:pPr algn="l">
              <a:lnSpc>
                <a:spcPct val="130000"/>
              </a:lnSpc>
              <a:spcAft>
                <a:spcPts val="0"/>
              </a:spcAft>
            </a:pPr>
            <a:r>
              <a:rPr b="0" sz="1500" i="0">
                <a:solidFill>
                  <a:srgbClr val="F5F5F2"/>
                </a:solidFill>
                <a:latin typeface="Arial"/>
              </a:rPr>
              <a:t>Three people wanted a second reader, and each wanted something different from it. None of them designed the thing we use today.</a:t>
            </a:r>
          </a:p>
        </p:txBody>
      </p:sp>
      <p:sp>
        <p:nvSpPr>
          <p:cNvPr id="9" name="Rectangle 8"/>
          <p:cNvSpPr/>
          <p:nvPr/>
        </p:nvSpPr>
        <p:spPr>
          <a:xfrm>
            <a:off x="2697480" y="4083812"/>
            <a:ext cx="146304" cy="1828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71800" y="4019804"/>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B9B8BE"/>
                </a:solidFill>
                <a:latin typeface="Arial"/>
              </a:rPr>
              <a:t>The pull request was a request to integrate</a:t>
            </a:r>
          </a:p>
        </p:txBody>
      </p:sp>
      <p:sp>
        <p:nvSpPr>
          <p:cNvPr id="11" name="Rectangle 10"/>
          <p:cNvSpPr/>
          <p:nvPr/>
        </p:nvSpPr>
        <p:spPr>
          <a:xfrm>
            <a:off x="2697480" y="4358132"/>
            <a:ext cx="146304" cy="18288"/>
          </a:xfrm>
          <a:prstGeom prst="rect">
            <a:avLst/>
          </a:prstGeom>
          <a:solidFill>
            <a:srgbClr val="5A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71800" y="4294124"/>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B9B8BE"/>
                </a:solidFill>
                <a:latin typeface="Arial"/>
              </a:rPr>
              <a:t>Who lives with the change</a:t>
            </a:r>
          </a:p>
        </p:txBody>
      </p:sp>
      <p:sp>
        <p:nvSpPr>
          <p:cNvPr id="13" name="Rectangle 12"/>
          <p:cNvSpPr/>
          <p:nvPr/>
        </p:nvSpPr>
        <p:spPr>
          <a:xfrm>
            <a:off x="2697480" y="4632452"/>
            <a:ext cx="146304" cy="1828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1800" y="4568443"/>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B9B8BE"/>
                </a:solidFill>
                <a:latin typeface="Arial"/>
              </a:rPr>
              <a:t>Defects, or understanding</a:t>
            </a:r>
          </a:p>
        </p:txBody>
      </p:sp>
      <p:sp>
        <p:nvSpPr>
          <p:cNvPr id="15" name="Rectangle 14"/>
          <p:cNvSpPr/>
          <p:nvPr/>
        </p:nvSpPr>
        <p:spPr>
          <a:xfrm>
            <a:off x="2697480" y="4906772"/>
            <a:ext cx="146304" cy="18288"/>
          </a:xfrm>
          <a:prstGeom prst="rect">
            <a:avLst/>
          </a:prstGeom>
          <a:solidFill>
            <a:srgbClr val="5A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71800" y="4842763"/>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B9B8BE"/>
                </a:solidFill>
                <a:latin typeface="Arial"/>
              </a:rPr>
              <a:t>The regulator's pair of eyes</a:t>
            </a:r>
          </a:p>
        </p:txBody>
      </p:sp>
      <p:sp>
        <p:nvSpPr>
          <p:cNvPr id="17" name="Rectangle 16"/>
          <p:cNvSpPr/>
          <p:nvPr/>
        </p:nvSpPr>
        <p:spPr>
          <a:xfrm>
            <a:off x="2697480" y="5181091"/>
            <a:ext cx="146304" cy="1828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71800" y="5117083"/>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B9B8BE"/>
                </a:solidFill>
                <a:latin typeface="Arial"/>
              </a:rPr>
              <a:t>One pull request does three jobs</a:t>
            </a:r>
          </a:p>
        </p:txBody>
      </p:sp>
      <p:sp>
        <p:nvSpPr>
          <p:cNvPr id="19" name="Oval 18"/>
          <p:cNvSpPr/>
          <p:nvPr/>
        </p:nvSpPr>
        <p:spPr>
          <a:xfrm>
            <a:off x="10332720" y="5394960"/>
            <a:ext cx="457200" cy="457200"/>
          </a:xfrm>
          <a:prstGeom prst="ellipse">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927080" y="5532120"/>
            <a:ext cx="310896" cy="310896"/>
          </a:xfrm>
          <a:prstGeom prst="roundRect">
            <a:avLst>
              <a:gd name="adj" fmla="val 4000"/>
            </a:avLst>
          </a:prstGeom>
          <a:noFill/>
          <a:ln w="19050">
            <a:solidFill>
              <a:srgbClr val="5A7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5A78FF"/>
                </a:solidFill>
                <a:latin typeface="Arial"/>
              </a:rPr>
              <a:t>SLIDE 3 · 01 · WHERE IT CAME FROM</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161225"/>
                </a:solidFill>
                <a:latin typeface="Arial"/>
              </a:rPr>
              <a:t>The pull request was a request to integrate</a:t>
            </a:r>
          </a:p>
        </p:txBody>
      </p:sp>
      <p:sp>
        <p:nvSpPr>
          <p:cNvPr id="5" name="Rectangle 4"/>
          <p:cNvSpPr/>
          <p:nvPr/>
        </p:nvSpPr>
        <p:spPr>
          <a:xfrm>
            <a:off x="548640" y="1115568"/>
            <a:ext cx="1097280" cy="4114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161225"/>
                </a:solidFill>
                <a:latin typeface="Arial"/>
              </a:rPr>
              <a:t>Vipps MobilePay</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3</a:t>
            </a:r>
          </a:p>
        </p:txBody>
      </p:sp>
      <p:sp>
        <p:nvSpPr>
          <p:cNvPr id="8" name="Rectangle 7"/>
          <p:cNvSpPr/>
          <p:nvPr/>
        </p:nvSpPr>
        <p:spPr>
          <a:xfrm>
            <a:off x="548640" y="2286000"/>
            <a:ext cx="11094415" cy="18288"/>
          </a:xfrm>
          <a:prstGeom prst="rect">
            <a:avLst/>
          </a:prstGeom>
          <a:solidFill>
            <a:srgbClr val="DEDD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2212848"/>
            <a:ext cx="164592" cy="164592"/>
          </a:xfrm>
          <a:prstGeom prst="ellipse">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176272"/>
            <a:ext cx="2362123" cy="274320"/>
          </a:xfrm>
          <a:prstGeom prst="rect">
            <a:avLst/>
          </a:prstGeom>
          <a:noFill/>
        </p:spPr>
        <p:txBody>
          <a:bodyPr wrap="square" lIns="0" rIns="0" tIns="0" bIns="0" anchor="t">
            <a:spAutoFit/>
          </a:bodyPr>
          <a:lstStyle/>
          <a:p>
            <a:pPr algn="l">
              <a:lnSpc>
                <a:spcPct val="115000"/>
              </a:lnSpc>
              <a:spcAft>
                <a:spcPts val="0"/>
              </a:spcAft>
            </a:pPr>
            <a:r>
              <a:rPr b="1" sz="1560" i="0">
                <a:solidFill>
                  <a:srgbClr val="FF5B24"/>
                </a:solidFill>
                <a:latin typeface="Arial"/>
              </a:rPr>
              <a:t>2002</a:t>
            </a:r>
          </a:p>
        </p:txBody>
      </p:sp>
      <p:sp>
        <p:nvSpPr>
          <p:cNvPr id="11" name="TextBox 10"/>
          <p:cNvSpPr txBox="1"/>
          <p:nvPr/>
        </p:nvSpPr>
        <p:spPr>
          <a:xfrm>
            <a:off x="548640" y="2560320"/>
            <a:ext cx="2499283" cy="653796"/>
          </a:xfrm>
          <a:prstGeom prst="rect">
            <a:avLst/>
          </a:prstGeom>
          <a:noFill/>
        </p:spPr>
        <p:txBody>
          <a:bodyPr wrap="square" lIns="0" rIns="0" tIns="0" bIns="0" anchor="t">
            <a:spAutoFit/>
          </a:bodyPr>
          <a:lstStyle/>
          <a:p>
            <a:pPr algn="l">
              <a:lnSpc>
                <a:spcPct val="120000"/>
              </a:lnSpc>
              <a:spcAft>
                <a:spcPts val="0"/>
              </a:spcAft>
            </a:pPr>
            <a:r>
              <a:rPr b="0" sz="1430" i="0">
                <a:solidFill>
                  <a:srgbClr val="161225"/>
                </a:solidFill>
                <a:latin typeface="Arial"/>
              </a:rPr>
              <a:t>Kernel contributors publish a change and ask Linus to pull it</a:t>
            </a:r>
          </a:p>
        </p:txBody>
      </p:sp>
      <p:sp>
        <p:nvSpPr>
          <p:cNvPr id="12" name="Oval 11"/>
          <p:cNvSpPr/>
          <p:nvPr/>
        </p:nvSpPr>
        <p:spPr>
          <a:xfrm>
            <a:off x="3367963" y="2212848"/>
            <a:ext cx="164592" cy="164592"/>
          </a:xfrm>
          <a:prstGeom prst="ellipse">
            <a:avLst/>
          </a:prstGeom>
          <a:solidFill>
            <a:srgbClr val="5A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23995" y="2176272"/>
            <a:ext cx="2362123" cy="274320"/>
          </a:xfrm>
          <a:prstGeom prst="rect">
            <a:avLst/>
          </a:prstGeom>
          <a:noFill/>
        </p:spPr>
        <p:txBody>
          <a:bodyPr wrap="square" lIns="0" rIns="0" tIns="0" bIns="0" anchor="t">
            <a:spAutoFit/>
          </a:bodyPr>
          <a:lstStyle/>
          <a:p>
            <a:pPr algn="l">
              <a:lnSpc>
                <a:spcPct val="115000"/>
              </a:lnSpc>
              <a:spcAft>
                <a:spcPts val="0"/>
              </a:spcAft>
            </a:pPr>
            <a:r>
              <a:rPr b="1" sz="1560" i="0">
                <a:solidFill>
                  <a:srgbClr val="5A78FF"/>
                </a:solidFill>
                <a:latin typeface="Arial"/>
              </a:rPr>
              <a:t>2008</a:t>
            </a:r>
          </a:p>
        </p:txBody>
      </p:sp>
      <p:sp>
        <p:nvSpPr>
          <p:cNvPr id="14" name="TextBox 13"/>
          <p:cNvSpPr txBox="1"/>
          <p:nvPr/>
        </p:nvSpPr>
        <p:spPr>
          <a:xfrm>
            <a:off x="3367963" y="2560320"/>
            <a:ext cx="2499283" cy="653796"/>
          </a:xfrm>
          <a:prstGeom prst="rect">
            <a:avLst/>
          </a:prstGeom>
          <a:noFill/>
        </p:spPr>
        <p:txBody>
          <a:bodyPr wrap="square" lIns="0" rIns="0" tIns="0" bIns="0" anchor="t">
            <a:spAutoFit/>
          </a:bodyPr>
          <a:lstStyle/>
          <a:p>
            <a:pPr algn="l">
              <a:lnSpc>
                <a:spcPct val="120000"/>
              </a:lnSpc>
              <a:spcAft>
                <a:spcPts val="0"/>
              </a:spcAft>
            </a:pPr>
            <a:r>
              <a:rPr b="0" sz="1430" i="0">
                <a:solidFill>
                  <a:srgbClr val="161225"/>
                </a:solidFill>
                <a:latin typeface="Arial"/>
              </a:rPr>
              <a:t>GitHub makes the pull request a feature</a:t>
            </a:r>
          </a:p>
        </p:txBody>
      </p:sp>
      <p:sp>
        <p:nvSpPr>
          <p:cNvPr id="15" name="Oval 14"/>
          <p:cNvSpPr/>
          <p:nvPr/>
        </p:nvSpPr>
        <p:spPr>
          <a:xfrm>
            <a:off x="6187287" y="2212848"/>
            <a:ext cx="164592" cy="164592"/>
          </a:xfrm>
          <a:prstGeom prst="ellipse">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3319" y="2176272"/>
            <a:ext cx="2362123" cy="274320"/>
          </a:xfrm>
          <a:prstGeom prst="rect">
            <a:avLst/>
          </a:prstGeom>
          <a:noFill/>
        </p:spPr>
        <p:txBody>
          <a:bodyPr wrap="square" lIns="0" rIns="0" tIns="0" bIns="0" anchor="t">
            <a:spAutoFit/>
          </a:bodyPr>
          <a:lstStyle/>
          <a:p>
            <a:pPr algn="l">
              <a:lnSpc>
                <a:spcPct val="115000"/>
              </a:lnSpc>
              <a:spcAft>
                <a:spcPts val="0"/>
              </a:spcAft>
            </a:pPr>
            <a:r>
              <a:rPr b="1" sz="1560" i="0">
                <a:solidFill>
                  <a:srgbClr val="FF5B24"/>
                </a:solidFill>
                <a:latin typeface="Arial"/>
              </a:rPr>
              <a:t>2010</a:t>
            </a:r>
          </a:p>
        </p:txBody>
      </p:sp>
      <p:sp>
        <p:nvSpPr>
          <p:cNvPr id="17" name="TextBox 16"/>
          <p:cNvSpPr txBox="1"/>
          <p:nvPr/>
        </p:nvSpPr>
        <p:spPr>
          <a:xfrm>
            <a:off x="6187287" y="2560320"/>
            <a:ext cx="2499283" cy="653796"/>
          </a:xfrm>
          <a:prstGeom prst="rect">
            <a:avLst/>
          </a:prstGeom>
          <a:noFill/>
        </p:spPr>
        <p:txBody>
          <a:bodyPr wrap="square" lIns="0" rIns="0" tIns="0" bIns="0" anchor="t">
            <a:spAutoFit/>
          </a:bodyPr>
          <a:lstStyle/>
          <a:p>
            <a:pPr algn="l">
              <a:lnSpc>
                <a:spcPct val="120000"/>
              </a:lnSpc>
              <a:spcAft>
                <a:spcPts val="0"/>
              </a:spcAft>
            </a:pPr>
            <a:r>
              <a:rPr b="0" sz="1430" i="0">
                <a:solidFill>
                  <a:srgbClr val="161225"/>
                </a:solidFill>
                <a:latin typeface="Arial"/>
              </a:rPr>
              <a:t>Pull requests between branches of one repository</a:t>
            </a:r>
          </a:p>
        </p:txBody>
      </p:sp>
      <p:sp>
        <p:nvSpPr>
          <p:cNvPr id="18" name="Oval 17"/>
          <p:cNvSpPr/>
          <p:nvPr/>
        </p:nvSpPr>
        <p:spPr>
          <a:xfrm>
            <a:off x="9006611" y="2212848"/>
            <a:ext cx="164592" cy="164592"/>
          </a:xfrm>
          <a:prstGeom prst="ellipse">
            <a:avLst/>
          </a:prstGeom>
          <a:solidFill>
            <a:srgbClr val="5A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62643" y="2176272"/>
            <a:ext cx="2362123" cy="274320"/>
          </a:xfrm>
          <a:prstGeom prst="rect">
            <a:avLst/>
          </a:prstGeom>
          <a:noFill/>
        </p:spPr>
        <p:txBody>
          <a:bodyPr wrap="square" lIns="0" rIns="0" tIns="0" bIns="0" anchor="t">
            <a:spAutoFit/>
          </a:bodyPr>
          <a:lstStyle/>
          <a:p>
            <a:pPr algn="l">
              <a:lnSpc>
                <a:spcPct val="115000"/>
              </a:lnSpc>
              <a:spcAft>
                <a:spcPts val="0"/>
              </a:spcAft>
            </a:pPr>
            <a:r>
              <a:rPr b="1" sz="1560" i="0">
                <a:solidFill>
                  <a:srgbClr val="5A78FF"/>
                </a:solidFill>
                <a:latin typeface="Arial"/>
              </a:rPr>
              <a:t>2011–2017</a:t>
            </a:r>
          </a:p>
        </p:txBody>
      </p:sp>
      <p:sp>
        <p:nvSpPr>
          <p:cNvPr id="20" name="TextBox 19"/>
          <p:cNvSpPr txBox="1"/>
          <p:nvPr/>
        </p:nvSpPr>
        <p:spPr>
          <a:xfrm>
            <a:off x="9006611" y="2560320"/>
            <a:ext cx="2499283" cy="653796"/>
          </a:xfrm>
          <a:prstGeom prst="rect">
            <a:avLst/>
          </a:prstGeom>
          <a:noFill/>
        </p:spPr>
        <p:txBody>
          <a:bodyPr wrap="square" lIns="0" rIns="0" tIns="0" bIns="0" anchor="t">
            <a:spAutoFit/>
          </a:bodyPr>
          <a:lstStyle/>
          <a:p>
            <a:pPr algn="l">
              <a:lnSpc>
                <a:spcPct val="120000"/>
              </a:lnSpc>
              <a:spcAft>
                <a:spcPts val="0"/>
              </a:spcAft>
            </a:pPr>
            <a:r>
              <a:rPr b="0" sz="1430" i="0">
                <a:solidFill>
                  <a:srgbClr val="161225"/>
                </a:solidFill>
                <a:latin typeface="Arial"/>
              </a:rPr>
              <a:t>Merge button, protected branches, required reviews, code owners</a:t>
            </a:r>
          </a:p>
        </p:txBody>
      </p:sp>
      <p:sp>
        <p:nvSpPr>
          <p:cNvPr id="21" name="Rectangle 20"/>
          <p:cNvSpPr/>
          <p:nvPr/>
        </p:nvSpPr>
        <p:spPr>
          <a:xfrm>
            <a:off x="548640" y="3899915"/>
            <a:ext cx="54864" cy="746861"/>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59" y="3991355"/>
            <a:ext cx="10682935" cy="563981"/>
          </a:xfrm>
          <a:prstGeom prst="rect">
            <a:avLst/>
          </a:prstGeom>
          <a:noFill/>
        </p:spPr>
        <p:txBody>
          <a:bodyPr wrap="square" lIns="0" rIns="0" tIns="0" bIns="0" anchor="ctr">
            <a:spAutoFit/>
          </a:bodyPr>
          <a:lstStyle/>
          <a:p>
            <a:pPr algn="l">
              <a:lnSpc>
                <a:spcPct val="115000"/>
              </a:lnSpc>
              <a:spcAft>
                <a:spcPts val="0"/>
              </a:spcAft>
            </a:pPr>
            <a:r>
              <a:rPr b="1" sz="1820" i="0">
                <a:solidFill>
                  <a:srgbClr val="161225"/>
                </a:solidFill>
                <a:latin typeface="Arial"/>
              </a:rPr>
              <a:t>Writing a change and accepting it were separate acts from the start. That was how the work was divided, not a control. The approval rules came later, on top.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FF5B24"/>
                </a:solidFill>
                <a:latin typeface="Arial"/>
              </a:rPr>
              <a:t>SLIDE 4 · 01 · WHERE IT CAME FROM</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161225"/>
                </a:solidFill>
                <a:latin typeface="Arial"/>
              </a:rPr>
              <a:t>Who lives with the change</a:t>
            </a:r>
          </a:p>
        </p:txBody>
      </p:sp>
      <p:sp>
        <p:nvSpPr>
          <p:cNvPr id="5" name="Rectangle 4"/>
          <p:cNvSpPr/>
          <p:nvPr/>
        </p:nvSpPr>
        <p:spPr>
          <a:xfrm>
            <a:off x="548640" y="1115568"/>
            <a:ext cx="1097280" cy="4114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161225"/>
                </a:solidFill>
                <a:latin typeface="Arial"/>
              </a:rPr>
              <a:t>Vipps MobilePay</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4</a:t>
            </a:r>
          </a:p>
        </p:txBody>
      </p:sp>
      <p:sp>
        <p:nvSpPr>
          <p:cNvPr id="8" name="Rounded Rectangle 7"/>
          <p:cNvSpPr/>
          <p:nvPr/>
        </p:nvSpPr>
        <p:spPr>
          <a:xfrm>
            <a:off x="548640" y="2103120"/>
            <a:ext cx="5455767" cy="1254442"/>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12848"/>
            <a:ext cx="45720" cy="1034986"/>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231136"/>
            <a:ext cx="5090007" cy="288353"/>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The kernel</a:t>
            </a:r>
          </a:p>
        </p:txBody>
      </p:sp>
      <p:sp>
        <p:nvSpPr>
          <p:cNvPr id="11" name="TextBox 10"/>
          <p:cNvSpPr txBox="1"/>
          <p:nvPr/>
        </p:nvSpPr>
        <p:spPr>
          <a:xfrm>
            <a:off x="749808" y="2592641"/>
            <a:ext cx="5090007" cy="582041"/>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Linus read the code and carried the consequences himself.</a:t>
            </a:r>
          </a:p>
        </p:txBody>
      </p:sp>
      <p:sp>
        <p:nvSpPr>
          <p:cNvPr id="12" name="Rounded Rectangle 11"/>
          <p:cNvSpPr/>
          <p:nvPr/>
        </p:nvSpPr>
        <p:spPr>
          <a:xfrm>
            <a:off x="6187287" y="2103120"/>
            <a:ext cx="5455767" cy="1254442"/>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87287" y="2212848"/>
            <a:ext cx="45720" cy="1034986"/>
          </a:xfrm>
          <a:prstGeom prst="rect">
            <a:avLst/>
          </a:prstGeom>
          <a:solidFill>
            <a:srgbClr val="5A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8455" y="2231136"/>
            <a:ext cx="5090007" cy="288353"/>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A payment company</a:t>
            </a:r>
          </a:p>
        </p:txBody>
      </p:sp>
      <p:sp>
        <p:nvSpPr>
          <p:cNvPr id="15" name="TextBox 14"/>
          <p:cNvSpPr txBox="1"/>
          <p:nvPr/>
        </p:nvSpPr>
        <p:spPr>
          <a:xfrm>
            <a:off x="6388455" y="2592641"/>
            <a:ext cx="5090007" cy="582041"/>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One developer reads the change. The company answers for it, to customers and to its supervisor.</a:t>
            </a:r>
          </a:p>
        </p:txBody>
      </p:sp>
      <p:sp>
        <p:nvSpPr>
          <p:cNvPr id="16" name="Rectangle 15"/>
          <p:cNvSpPr/>
          <p:nvPr/>
        </p:nvSpPr>
        <p:spPr>
          <a:xfrm>
            <a:off x="548640" y="3842194"/>
            <a:ext cx="54864" cy="746861"/>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 y="3933634"/>
            <a:ext cx="10682935" cy="563981"/>
          </a:xfrm>
          <a:prstGeom prst="rect">
            <a:avLst/>
          </a:prstGeom>
          <a:noFill/>
        </p:spPr>
        <p:txBody>
          <a:bodyPr wrap="square" lIns="0" rIns="0" tIns="0" bIns="0" anchor="ctr">
            <a:spAutoFit/>
          </a:bodyPr>
          <a:lstStyle/>
          <a:p>
            <a:pPr algn="l">
              <a:lnSpc>
                <a:spcPct val="115000"/>
              </a:lnSpc>
              <a:spcAft>
                <a:spcPts val="0"/>
              </a:spcAft>
            </a:pPr>
            <a:r>
              <a:rPr b="1" sz="1820" i="0">
                <a:solidFill>
                  <a:srgbClr val="161225"/>
                </a:solidFill>
                <a:latin typeface="Arial"/>
              </a:rPr>
              <a:t>A required approval puts a developer at the gate. It does not say what they should do there.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5A78FF"/>
                </a:solidFill>
                <a:latin typeface="Arial"/>
              </a:rPr>
              <a:t>SLIDE 5 · 01 · WHERE IT CAME FROM</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161225"/>
                </a:solidFill>
                <a:latin typeface="Arial"/>
              </a:rPr>
              <a:t>Why people wanted another person</a:t>
            </a:r>
          </a:p>
        </p:txBody>
      </p:sp>
      <p:sp>
        <p:nvSpPr>
          <p:cNvPr id="5" name="Rectangle 4"/>
          <p:cNvSpPr/>
          <p:nvPr/>
        </p:nvSpPr>
        <p:spPr>
          <a:xfrm>
            <a:off x="548640" y="1115568"/>
            <a:ext cx="1097280" cy="4114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161225"/>
                </a:solidFill>
                <a:latin typeface="Arial"/>
              </a:rPr>
              <a:t>Vipps MobilePay</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5</a:t>
            </a:r>
          </a:p>
        </p:txBody>
      </p:sp>
      <p:sp>
        <p:nvSpPr>
          <p:cNvPr id="8" name="Rounded Rectangle 7"/>
          <p:cNvSpPr/>
          <p:nvPr/>
        </p:nvSpPr>
        <p:spPr>
          <a:xfrm>
            <a:off x="548640" y="2103120"/>
            <a:ext cx="3576218" cy="1373124"/>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231136"/>
            <a:ext cx="3210458" cy="554736"/>
          </a:xfrm>
          <a:prstGeom prst="rect">
            <a:avLst/>
          </a:prstGeom>
          <a:noFill/>
        </p:spPr>
        <p:txBody>
          <a:bodyPr wrap="square" lIns="0" rIns="0" tIns="0" bIns="0" anchor="t">
            <a:spAutoFit/>
          </a:bodyPr>
          <a:lstStyle/>
          <a:p>
            <a:pPr algn="l">
              <a:lnSpc>
                <a:spcPct val="110000"/>
              </a:lnSpc>
              <a:spcAft>
                <a:spcPts val="0"/>
              </a:spcAft>
            </a:pPr>
            <a:r>
              <a:rPr b="1" sz="3120" i="0">
                <a:solidFill>
                  <a:srgbClr val="FF5B24"/>
                </a:solidFill>
                <a:latin typeface="Arial"/>
              </a:rPr>
              <a:t>82%</a:t>
            </a:r>
          </a:p>
        </p:txBody>
      </p:sp>
      <p:sp>
        <p:nvSpPr>
          <p:cNvPr id="10" name="TextBox 9"/>
          <p:cNvSpPr txBox="1"/>
          <p:nvPr/>
        </p:nvSpPr>
        <p:spPr>
          <a:xfrm>
            <a:off x="731520" y="2859024"/>
            <a:ext cx="3210458" cy="416051"/>
          </a:xfrm>
          <a:prstGeom prst="rect">
            <a:avLst/>
          </a:prstGeom>
          <a:noFill/>
        </p:spPr>
        <p:txBody>
          <a:bodyPr wrap="square" lIns="0" rIns="0" tIns="0" bIns="0" anchor="t">
            <a:spAutoFit/>
          </a:bodyPr>
          <a:lstStyle/>
          <a:p>
            <a:pPr algn="l">
              <a:lnSpc>
                <a:spcPct val="120000"/>
              </a:lnSpc>
              <a:spcAft>
                <a:spcPts val="0"/>
              </a:spcAft>
            </a:pPr>
            <a:r>
              <a:rPr b="0" sz="1365" i="0">
                <a:solidFill>
                  <a:srgbClr val="6F6C77"/>
                </a:solidFill>
                <a:latin typeface="Arial"/>
              </a:rPr>
              <a:t>of errors caught by inspection in Fagan's 1976 case study</a:t>
            </a:r>
          </a:p>
        </p:txBody>
      </p:sp>
      <p:sp>
        <p:nvSpPr>
          <p:cNvPr id="11" name="Rounded Rectangle 10"/>
          <p:cNvSpPr/>
          <p:nvPr/>
        </p:nvSpPr>
        <p:spPr>
          <a:xfrm>
            <a:off x="4307738" y="2103120"/>
            <a:ext cx="3576218" cy="1373124"/>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0618" y="2231136"/>
            <a:ext cx="3210458" cy="554736"/>
          </a:xfrm>
          <a:prstGeom prst="rect">
            <a:avLst/>
          </a:prstGeom>
          <a:noFill/>
        </p:spPr>
        <p:txBody>
          <a:bodyPr wrap="square" lIns="0" rIns="0" tIns="0" bIns="0" anchor="t">
            <a:spAutoFit/>
          </a:bodyPr>
          <a:lstStyle/>
          <a:p>
            <a:pPr algn="l">
              <a:lnSpc>
                <a:spcPct val="110000"/>
              </a:lnSpc>
              <a:spcAft>
                <a:spcPts val="0"/>
              </a:spcAft>
            </a:pPr>
            <a:r>
              <a:rPr b="1" sz="3120" i="0">
                <a:solidFill>
                  <a:srgbClr val="5A78FF"/>
                </a:solidFill>
                <a:latin typeface="Arial"/>
              </a:rPr>
              <a:t>14%</a:t>
            </a:r>
          </a:p>
        </p:txBody>
      </p:sp>
      <p:sp>
        <p:nvSpPr>
          <p:cNvPr id="13" name="TextBox 12"/>
          <p:cNvSpPr txBox="1"/>
          <p:nvPr/>
        </p:nvSpPr>
        <p:spPr>
          <a:xfrm>
            <a:off x="4490618" y="2859024"/>
            <a:ext cx="3210458" cy="416051"/>
          </a:xfrm>
          <a:prstGeom prst="rect">
            <a:avLst/>
          </a:prstGeom>
          <a:noFill/>
        </p:spPr>
        <p:txBody>
          <a:bodyPr wrap="square" lIns="0" rIns="0" tIns="0" bIns="0" anchor="t">
            <a:spAutoFit/>
          </a:bodyPr>
          <a:lstStyle/>
          <a:p>
            <a:pPr algn="l">
              <a:lnSpc>
                <a:spcPct val="120000"/>
              </a:lnSpc>
              <a:spcAft>
                <a:spcPts val="0"/>
              </a:spcAft>
            </a:pPr>
            <a:r>
              <a:rPr b="0" sz="1365" i="0">
                <a:solidFill>
                  <a:srgbClr val="6F6C77"/>
                </a:solidFill>
                <a:latin typeface="Arial"/>
              </a:rPr>
              <a:t>of Microsoft review comments that pointed at a defect</a:t>
            </a:r>
          </a:p>
        </p:txBody>
      </p:sp>
      <p:sp>
        <p:nvSpPr>
          <p:cNvPr id="14" name="Rounded Rectangle 13"/>
          <p:cNvSpPr/>
          <p:nvPr/>
        </p:nvSpPr>
        <p:spPr>
          <a:xfrm>
            <a:off x="8066836" y="2103120"/>
            <a:ext cx="3576218" cy="1373124"/>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9716" y="2231136"/>
            <a:ext cx="3210458" cy="554736"/>
          </a:xfrm>
          <a:prstGeom prst="rect">
            <a:avLst/>
          </a:prstGeom>
          <a:noFill/>
        </p:spPr>
        <p:txBody>
          <a:bodyPr wrap="square" lIns="0" rIns="0" tIns="0" bIns="0" anchor="t">
            <a:spAutoFit/>
          </a:bodyPr>
          <a:lstStyle/>
          <a:p>
            <a:pPr algn="l">
              <a:lnSpc>
                <a:spcPct val="110000"/>
              </a:lnSpc>
              <a:spcAft>
                <a:spcPts val="0"/>
              </a:spcAft>
            </a:pPr>
            <a:r>
              <a:rPr b="1" sz="3120" i="0">
                <a:solidFill>
                  <a:srgbClr val="FF5B24"/>
                </a:solidFill>
                <a:latin typeface="Arial"/>
              </a:rPr>
              <a:t>29%</a:t>
            </a:r>
          </a:p>
        </p:txBody>
      </p:sp>
      <p:sp>
        <p:nvSpPr>
          <p:cNvPr id="16" name="TextBox 15"/>
          <p:cNvSpPr txBox="1"/>
          <p:nvPr/>
        </p:nvSpPr>
        <p:spPr>
          <a:xfrm>
            <a:off x="8249716" y="2859024"/>
            <a:ext cx="3210458" cy="416051"/>
          </a:xfrm>
          <a:prstGeom prst="rect">
            <a:avLst/>
          </a:prstGeom>
          <a:noFill/>
        </p:spPr>
        <p:txBody>
          <a:bodyPr wrap="square" lIns="0" rIns="0" tIns="0" bIns="0" anchor="t">
            <a:spAutoFit/>
          </a:bodyPr>
          <a:lstStyle/>
          <a:p>
            <a:pPr algn="l">
              <a:lnSpc>
                <a:spcPct val="120000"/>
              </a:lnSpc>
              <a:spcAft>
                <a:spcPts val="0"/>
              </a:spcAft>
            </a:pPr>
            <a:r>
              <a:rPr b="0" sz="1365" i="0">
                <a:solidFill>
                  <a:srgbClr val="6F6C77"/>
                </a:solidFill>
                <a:latin typeface="Arial"/>
              </a:rPr>
              <a:t>suggested improvements to code that already worked</a:t>
            </a:r>
          </a:p>
        </p:txBody>
      </p:sp>
      <p:sp>
        <p:nvSpPr>
          <p:cNvPr id="17" name="TextBox 16"/>
          <p:cNvSpPr txBox="1"/>
          <p:nvPr/>
        </p:nvSpPr>
        <p:spPr>
          <a:xfrm>
            <a:off x="548640" y="3960876"/>
            <a:ext cx="11094415" cy="523697"/>
          </a:xfrm>
          <a:prstGeom prst="rect">
            <a:avLst/>
          </a:prstGeom>
          <a:noFill/>
        </p:spPr>
        <p:txBody>
          <a:bodyPr wrap="square" lIns="0" rIns="0" tIns="0" bIns="0" anchor="t">
            <a:spAutoFit/>
          </a:bodyPr>
          <a:lstStyle/>
          <a:p>
            <a:pPr algn="l">
              <a:lnSpc>
                <a:spcPct val="115000"/>
              </a:lnSpc>
              <a:spcAft>
                <a:spcPts val="0"/>
              </a:spcAft>
            </a:pPr>
            <a:r>
              <a:rPr b="0" sz="1690" i="0">
                <a:solidFill>
                  <a:srgbClr val="161225"/>
                </a:solidFill>
                <a:latin typeface="Arial"/>
              </a:rPr>
              <a:t>Google's reason was different from the start: review exists so that other developers can </a:t>
            </a:r>
            <a:r>
              <a:rPr b="1" sz="1690" i="0">
                <a:solidFill>
                  <a:srgbClr val="161225"/>
                </a:solidFill>
                <a:latin typeface="Arial"/>
              </a:rPr>
              <a:t>understand</a:t>
            </a:r>
            <a:r>
              <a:rPr b="0" sz="1690" i="0">
                <a:solidFill>
                  <a:srgbClr val="161225"/>
                </a:solidFill>
                <a:latin typeface="Arial"/>
              </a:rPr>
              <a:t> the code. Two questions, one approval. Does it work, and will the next person understand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FF5B24"/>
                </a:solidFill>
                <a:latin typeface="Arial"/>
              </a:rPr>
              <a:t>SLIDE 6 · 01 · WHERE IT CAME FROM</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161225"/>
                </a:solidFill>
                <a:latin typeface="Arial"/>
              </a:rPr>
              <a:t>The regulator's pair of eyes</a:t>
            </a:r>
          </a:p>
        </p:txBody>
      </p:sp>
      <p:sp>
        <p:nvSpPr>
          <p:cNvPr id="5" name="Rectangle 4"/>
          <p:cNvSpPr/>
          <p:nvPr/>
        </p:nvSpPr>
        <p:spPr>
          <a:xfrm>
            <a:off x="548640" y="1115568"/>
            <a:ext cx="1097280" cy="4114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161225"/>
                </a:solidFill>
                <a:latin typeface="Arial"/>
              </a:rPr>
              <a:t>Vipps MobilePay</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6</a:t>
            </a:r>
          </a:p>
        </p:txBody>
      </p:sp>
      <p:sp>
        <p:nvSpPr>
          <p:cNvPr id="8" name="Rectangle 7"/>
          <p:cNvSpPr/>
          <p:nvPr/>
        </p:nvSpPr>
        <p:spPr>
          <a:xfrm>
            <a:off x="548640" y="2097963"/>
            <a:ext cx="54864" cy="746861"/>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189403"/>
            <a:ext cx="10682935" cy="563981"/>
          </a:xfrm>
          <a:prstGeom prst="rect">
            <a:avLst/>
          </a:prstGeom>
          <a:noFill/>
        </p:spPr>
        <p:txBody>
          <a:bodyPr wrap="square" lIns="0" rIns="0" tIns="0" bIns="0" anchor="ctr">
            <a:spAutoFit/>
          </a:bodyPr>
          <a:lstStyle/>
          <a:p>
            <a:pPr algn="l">
              <a:lnSpc>
                <a:spcPct val="115000"/>
              </a:lnSpc>
              <a:spcAft>
                <a:spcPts val="0"/>
              </a:spcAft>
            </a:pPr>
            <a:r>
              <a:rPr b="1" sz="1820" i="0">
                <a:solidFill>
                  <a:srgbClr val="161225"/>
                </a:solidFill>
                <a:latin typeface="Arial"/>
              </a:rPr>
              <a:t>"The independence of the functions that approve changes and the functions responsible for requesting and implementing those changes."</a:t>
            </a:r>
          </a:p>
        </p:txBody>
      </p:sp>
      <p:sp>
        <p:nvSpPr>
          <p:cNvPr id="10" name="Rounded Rectangle 9"/>
          <p:cNvSpPr/>
          <p:nvPr/>
        </p:nvSpPr>
        <p:spPr>
          <a:xfrm>
            <a:off x="548640" y="3347745"/>
            <a:ext cx="3576218" cy="1481455"/>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457473"/>
            <a:ext cx="45720" cy="1261999"/>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3475761"/>
            <a:ext cx="3210458" cy="288353"/>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Functions, not persons</a:t>
            </a:r>
          </a:p>
        </p:txBody>
      </p:sp>
      <p:sp>
        <p:nvSpPr>
          <p:cNvPr id="13" name="TextBox 12"/>
          <p:cNvSpPr txBox="1"/>
          <p:nvPr/>
        </p:nvSpPr>
        <p:spPr>
          <a:xfrm>
            <a:off x="749808" y="3837266"/>
            <a:ext cx="3210458" cy="809053"/>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A function is a role. Nothing says the approver must be a person.</a:t>
            </a:r>
          </a:p>
        </p:txBody>
      </p:sp>
      <p:sp>
        <p:nvSpPr>
          <p:cNvPr id="14" name="Rounded Rectangle 13"/>
          <p:cNvSpPr/>
          <p:nvPr/>
        </p:nvSpPr>
        <p:spPr>
          <a:xfrm>
            <a:off x="4307738" y="3347745"/>
            <a:ext cx="3576218" cy="1481455"/>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7738" y="3457473"/>
            <a:ext cx="45720" cy="1261999"/>
          </a:xfrm>
          <a:prstGeom prst="rect">
            <a:avLst/>
          </a:prstGeom>
          <a:solidFill>
            <a:srgbClr val="5A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08906" y="3475761"/>
            <a:ext cx="3210458" cy="288353"/>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Risk-based</a:t>
            </a:r>
          </a:p>
        </p:txBody>
      </p:sp>
      <p:sp>
        <p:nvSpPr>
          <p:cNvPr id="17" name="TextBox 16"/>
          <p:cNvSpPr txBox="1"/>
          <p:nvPr/>
        </p:nvSpPr>
        <p:spPr>
          <a:xfrm>
            <a:off x="4508906" y="3837266"/>
            <a:ext cx="3210458" cy="809053"/>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A config change and a change that moves money need not get the same scrutiny.</a:t>
            </a:r>
          </a:p>
        </p:txBody>
      </p:sp>
      <p:sp>
        <p:nvSpPr>
          <p:cNvPr id="18" name="Rounded Rectangle 17"/>
          <p:cNvSpPr/>
          <p:nvPr/>
        </p:nvSpPr>
        <p:spPr>
          <a:xfrm>
            <a:off x="8066836" y="3347745"/>
            <a:ext cx="3576218" cy="1481455"/>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66836" y="3457473"/>
            <a:ext cx="45720" cy="1261999"/>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68004" y="3475761"/>
            <a:ext cx="3210458" cy="288353"/>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Silent on AI</a:t>
            </a:r>
          </a:p>
        </p:txBody>
      </p:sp>
      <p:sp>
        <p:nvSpPr>
          <p:cNvPr id="21" name="TextBox 20"/>
          <p:cNvSpPr txBox="1"/>
          <p:nvPr/>
        </p:nvSpPr>
        <p:spPr>
          <a:xfrm>
            <a:off x="8268004" y="3837266"/>
            <a:ext cx="3210458" cy="809053"/>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No supervisor has written that an AI may or may not approve a change.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5A78FF"/>
                </a:solidFill>
                <a:latin typeface="Arial"/>
              </a:rPr>
              <a:t>SLIDE 7 · 01 · WHERE IT CAME FROM</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161225"/>
                </a:solidFill>
                <a:latin typeface="Arial"/>
              </a:rPr>
              <a:t>One pull request does three jobs</a:t>
            </a:r>
          </a:p>
        </p:txBody>
      </p:sp>
      <p:sp>
        <p:nvSpPr>
          <p:cNvPr id="5" name="Rectangle 4"/>
          <p:cNvSpPr/>
          <p:nvPr/>
        </p:nvSpPr>
        <p:spPr>
          <a:xfrm>
            <a:off x="548640" y="1115568"/>
            <a:ext cx="1097280" cy="4114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161225"/>
                </a:solidFill>
                <a:latin typeface="Arial"/>
              </a:rPr>
              <a:t>Vipps MobilePay</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7</a:t>
            </a:r>
          </a:p>
        </p:txBody>
      </p:sp>
      <p:sp>
        <p:nvSpPr>
          <p:cNvPr id="8" name="Rounded Rectangle 7"/>
          <p:cNvSpPr/>
          <p:nvPr/>
        </p:nvSpPr>
        <p:spPr>
          <a:xfrm>
            <a:off x="548640" y="2103120"/>
            <a:ext cx="3576218" cy="1254442"/>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12848"/>
            <a:ext cx="45720" cy="1034986"/>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231136"/>
            <a:ext cx="3210458" cy="288353"/>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The reading</a:t>
            </a:r>
          </a:p>
        </p:txBody>
      </p:sp>
      <p:sp>
        <p:nvSpPr>
          <p:cNvPr id="11" name="TextBox 10"/>
          <p:cNvSpPr txBox="1"/>
          <p:nvPr/>
        </p:nvSpPr>
        <p:spPr>
          <a:xfrm>
            <a:off x="749808" y="2592641"/>
            <a:ext cx="3210458" cy="582041"/>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The comments prove someone read it.</a:t>
            </a:r>
          </a:p>
        </p:txBody>
      </p:sp>
      <p:sp>
        <p:nvSpPr>
          <p:cNvPr id="12" name="Rounded Rectangle 11"/>
          <p:cNvSpPr/>
          <p:nvPr/>
        </p:nvSpPr>
        <p:spPr>
          <a:xfrm>
            <a:off x="4307738" y="2103120"/>
            <a:ext cx="3576218" cy="1254442"/>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7738" y="2212848"/>
            <a:ext cx="45720" cy="1034986"/>
          </a:xfrm>
          <a:prstGeom prst="rect">
            <a:avLst/>
          </a:prstGeom>
          <a:solidFill>
            <a:srgbClr val="5A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8906" y="2231136"/>
            <a:ext cx="3210458" cy="288353"/>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The gate</a:t>
            </a:r>
          </a:p>
        </p:txBody>
      </p:sp>
      <p:sp>
        <p:nvSpPr>
          <p:cNvPr id="15" name="TextBox 14"/>
          <p:cNvSpPr txBox="1"/>
          <p:nvPr/>
        </p:nvSpPr>
        <p:spPr>
          <a:xfrm>
            <a:off x="4508906" y="2592641"/>
            <a:ext cx="3210458" cy="582041"/>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The approval is what the change has to pass.</a:t>
            </a:r>
          </a:p>
        </p:txBody>
      </p:sp>
      <p:sp>
        <p:nvSpPr>
          <p:cNvPr id="16" name="Rounded Rectangle 15"/>
          <p:cNvSpPr/>
          <p:nvPr/>
        </p:nvSpPr>
        <p:spPr>
          <a:xfrm>
            <a:off x="8066836" y="2103120"/>
            <a:ext cx="3576218" cy="1254442"/>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66836" y="2212848"/>
            <a:ext cx="45720" cy="1034986"/>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8004" y="2231136"/>
            <a:ext cx="3210458" cy="288353"/>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The record</a:t>
            </a:r>
          </a:p>
        </p:txBody>
      </p:sp>
      <p:sp>
        <p:nvSpPr>
          <p:cNvPr id="19" name="TextBox 18"/>
          <p:cNvSpPr txBox="1"/>
          <p:nvPr/>
        </p:nvSpPr>
        <p:spPr>
          <a:xfrm>
            <a:off x="8268004" y="2592641"/>
            <a:ext cx="3210458" cy="582041"/>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The pull request stays behind as evidence.</a:t>
            </a:r>
          </a:p>
        </p:txBody>
      </p:sp>
      <p:sp>
        <p:nvSpPr>
          <p:cNvPr id="20" name="TextBox 19"/>
          <p:cNvSpPr txBox="1"/>
          <p:nvPr/>
        </p:nvSpPr>
        <p:spPr>
          <a:xfrm>
            <a:off x="548640" y="3842194"/>
            <a:ext cx="11094415" cy="523697"/>
          </a:xfrm>
          <a:prstGeom prst="rect">
            <a:avLst/>
          </a:prstGeom>
          <a:noFill/>
        </p:spPr>
        <p:txBody>
          <a:bodyPr wrap="square" lIns="0" rIns="0" tIns="0" bIns="0" anchor="t">
            <a:spAutoFit/>
          </a:bodyPr>
          <a:lstStyle/>
          <a:p>
            <a:pPr algn="l">
              <a:lnSpc>
                <a:spcPct val="115000"/>
              </a:lnSpc>
              <a:spcAft>
                <a:spcPts val="0"/>
              </a:spcAft>
            </a:pPr>
            <a:r>
              <a:rPr b="0" sz="1690" i="0">
                <a:solidFill>
                  <a:srgbClr val="161225"/>
                </a:solidFill>
                <a:latin typeface="Arial"/>
              </a:rPr>
              <a:t>The weak point is the gate. The approver is usually a colleague on the same team. And nobody asked what happens when the changes outnumber the people who can read them.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F5F5F2"/>
                </a:solidFill>
                <a:latin typeface="Arial"/>
              </a:rPr>
              <a:t>Vipps MobilePay</a:t>
            </a:r>
          </a:p>
        </p:txBody>
      </p:sp>
      <p:sp>
        <p:nvSpPr>
          <p:cNvPr id="4" name="TextBox 3"/>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8</a:t>
            </a:r>
          </a:p>
        </p:txBody>
      </p:sp>
      <p:sp>
        <p:nvSpPr>
          <p:cNvPr id="5" name="TextBox 4"/>
          <p:cNvSpPr txBox="1"/>
          <p:nvPr/>
        </p:nvSpPr>
        <p:spPr>
          <a:xfrm>
            <a:off x="548640" y="292608"/>
            <a:ext cx="11094415" cy="274320"/>
          </a:xfrm>
          <a:prstGeom prst="rect">
            <a:avLst/>
          </a:prstGeom>
          <a:noFill/>
        </p:spPr>
        <p:txBody>
          <a:bodyPr wrap="square" lIns="0" rIns="0" tIns="0" bIns="0" anchor="t">
            <a:spAutoFit/>
          </a:bodyPr>
          <a:lstStyle/>
          <a:p>
            <a:pPr algn="l">
              <a:lnSpc>
                <a:spcPct val="115000"/>
              </a:lnSpc>
              <a:spcAft>
                <a:spcPts val="0"/>
              </a:spcAft>
            </a:pPr>
            <a:r>
              <a:rPr b="1" sz="1100" i="0">
                <a:solidFill>
                  <a:srgbClr val="F5F5F2"/>
                </a:solidFill>
                <a:latin typeface="Arial"/>
              </a:rPr>
              <a:t>Vipps MobilePay</a:t>
            </a:r>
          </a:p>
        </p:txBody>
      </p:sp>
      <p:sp>
        <p:nvSpPr>
          <p:cNvPr id="6" name="TextBox 5"/>
          <p:cNvSpPr txBox="1"/>
          <p:nvPr/>
        </p:nvSpPr>
        <p:spPr>
          <a:xfrm>
            <a:off x="548640" y="1417320"/>
            <a:ext cx="2377440" cy="1371600"/>
          </a:xfrm>
          <a:prstGeom prst="rect">
            <a:avLst/>
          </a:prstGeom>
          <a:noFill/>
        </p:spPr>
        <p:txBody>
          <a:bodyPr wrap="square" lIns="0" rIns="0" tIns="0" bIns="0" anchor="t">
            <a:spAutoFit/>
          </a:bodyPr>
          <a:lstStyle/>
          <a:p>
            <a:pPr algn="l">
              <a:lnSpc>
                <a:spcPct val="100000"/>
              </a:lnSpc>
              <a:spcAft>
                <a:spcPts val="0"/>
              </a:spcAft>
            </a:pPr>
            <a:r>
              <a:rPr b="1" sz="9600" i="0">
                <a:solidFill>
                  <a:srgbClr val="FF5B24"/>
                </a:solidFill>
                <a:latin typeface="Arial"/>
              </a:rPr>
              <a:t>02</a:t>
            </a:r>
          </a:p>
        </p:txBody>
      </p:sp>
      <p:sp>
        <p:nvSpPr>
          <p:cNvPr id="7" name="TextBox 6"/>
          <p:cNvSpPr txBox="1"/>
          <p:nvPr/>
        </p:nvSpPr>
        <p:spPr>
          <a:xfrm>
            <a:off x="2697480" y="1874519"/>
            <a:ext cx="8945575" cy="991615"/>
          </a:xfrm>
          <a:prstGeom prst="rect">
            <a:avLst/>
          </a:prstGeom>
          <a:noFill/>
        </p:spPr>
        <p:txBody>
          <a:bodyPr wrap="square" lIns="0" rIns="0" tIns="0" bIns="0" anchor="b">
            <a:spAutoFit/>
          </a:bodyPr>
          <a:lstStyle/>
          <a:p>
            <a:pPr algn="l">
              <a:lnSpc>
                <a:spcPct val="122000"/>
              </a:lnSpc>
              <a:spcAft>
                <a:spcPts val="0"/>
              </a:spcAft>
            </a:pPr>
            <a:r>
              <a:rPr b="1" sz="3200" i="0">
                <a:solidFill>
                  <a:srgbClr val="F5F5F2"/>
                </a:solidFill>
                <a:latin typeface="Arial"/>
              </a:rPr>
              <a:t>What changed when writing became cheap?</a:t>
            </a:r>
          </a:p>
        </p:txBody>
      </p:sp>
      <p:sp>
        <p:nvSpPr>
          <p:cNvPr id="8" name="TextBox 7"/>
          <p:cNvSpPr txBox="1"/>
          <p:nvPr/>
        </p:nvSpPr>
        <p:spPr>
          <a:xfrm>
            <a:off x="2697480" y="3140455"/>
            <a:ext cx="8945575" cy="495299"/>
          </a:xfrm>
          <a:prstGeom prst="rect">
            <a:avLst/>
          </a:prstGeom>
          <a:noFill/>
        </p:spPr>
        <p:txBody>
          <a:bodyPr wrap="square" lIns="0" rIns="0" tIns="0" bIns="0" anchor="t">
            <a:spAutoFit/>
          </a:bodyPr>
          <a:lstStyle/>
          <a:p>
            <a:pPr algn="l">
              <a:lnSpc>
                <a:spcPct val="130000"/>
              </a:lnSpc>
              <a:spcAft>
                <a:spcPts val="0"/>
              </a:spcAft>
            </a:pPr>
            <a:r>
              <a:rPr b="0" sz="1500" i="0">
                <a:solidFill>
                  <a:srgbClr val="F5F5F2"/>
                </a:solidFill>
                <a:latin typeface="Arial"/>
              </a:rPr>
              <a:t>More code arrives than anyone can read. The reader adapted, and the approval became a setting.</a:t>
            </a:r>
          </a:p>
        </p:txBody>
      </p:sp>
      <p:sp>
        <p:nvSpPr>
          <p:cNvPr id="9" name="Rectangle 8"/>
          <p:cNvSpPr/>
          <p:nvPr/>
        </p:nvSpPr>
        <p:spPr>
          <a:xfrm>
            <a:off x="2697480" y="4083812"/>
            <a:ext cx="146304" cy="1828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71800" y="4019804"/>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B9B8BE"/>
                </a:solidFill>
                <a:latin typeface="Arial"/>
              </a:rPr>
              <a:t>Writing became cheap</a:t>
            </a:r>
          </a:p>
        </p:txBody>
      </p:sp>
      <p:sp>
        <p:nvSpPr>
          <p:cNvPr id="11" name="Rectangle 10"/>
          <p:cNvSpPr/>
          <p:nvPr/>
        </p:nvSpPr>
        <p:spPr>
          <a:xfrm>
            <a:off x="2697480" y="4358132"/>
            <a:ext cx="146304" cy="18288"/>
          </a:xfrm>
          <a:prstGeom prst="rect">
            <a:avLst/>
          </a:prstGeom>
          <a:solidFill>
            <a:srgbClr val="5A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71800" y="4294124"/>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B9B8BE"/>
                </a:solidFill>
                <a:latin typeface="Arial"/>
              </a:rPr>
              <a:t>Familiarity replaced reading</a:t>
            </a:r>
          </a:p>
        </p:txBody>
      </p:sp>
      <p:sp>
        <p:nvSpPr>
          <p:cNvPr id="13" name="Rectangle 12"/>
          <p:cNvSpPr/>
          <p:nvPr/>
        </p:nvSpPr>
        <p:spPr>
          <a:xfrm>
            <a:off x="2697480" y="4632452"/>
            <a:ext cx="146304" cy="1828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1800" y="4568443"/>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B9B8BE"/>
                </a:solidFill>
                <a:latin typeface="Arial"/>
              </a:rPr>
              <a:t>Three failures that look like one</a:t>
            </a:r>
          </a:p>
        </p:txBody>
      </p:sp>
      <p:sp>
        <p:nvSpPr>
          <p:cNvPr id="15" name="Rectangle 14"/>
          <p:cNvSpPr/>
          <p:nvPr/>
        </p:nvSpPr>
        <p:spPr>
          <a:xfrm>
            <a:off x="2697480" y="4906772"/>
            <a:ext cx="146304" cy="18288"/>
          </a:xfrm>
          <a:prstGeom prst="rect">
            <a:avLst/>
          </a:prstGeom>
          <a:solidFill>
            <a:srgbClr val="5A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71800" y="4842763"/>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B9B8BE"/>
                </a:solidFill>
                <a:latin typeface="Arial"/>
              </a:rPr>
              <a:t>The numbers stopped adding up</a:t>
            </a:r>
          </a:p>
        </p:txBody>
      </p:sp>
      <p:sp>
        <p:nvSpPr>
          <p:cNvPr id="17" name="Rectangle 16"/>
          <p:cNvSpPr/>
          <p:nvPr/>
        </p:nvSpPr>
        <p:spPr>
          <a:xfrm>
            <a:off x="2697480" y="5181091"/>
            <a:ext cx="146304" cy="1828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71800" y="5117083"/>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B9B8BE"/>
                </a:solidFill>
                <a:latin typeface="Arial"/>
              </a:rPr>
              <a:t>Four ways out</a:t>
            </a:r>
          </a:p>
        </p:txBody>
      </p:sp>
      <p:sp>
        <p:nvSpPr>
          <p:cNvPr id="19" name="Rectangle 18"/>
          <p:cNvSpPr/>
          <p:nvPr/>
        </p:nvSpPr>
        <p:spPr>
          <a:xfrm>
            <a:off x="2697480" y="5455411"/>
            <a:ext cx="146304" cy="18288"/>
          </a:xfrm>
          <a:prstGeom prst="rect">
            <a:avLst/>
          </a:prstGeom>
          <a:solidFill>
            <a:srgbClr val="5A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1800" y="5391403"/>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B9B8BE"/>
                </a:solidFill>
                <a:latin typeface="Arial"/>
              </a:rPr>
              <a:t>The approval became a setting</a:t>
            </a:r>
          </a:p>
        </p:txBody>
      </p:sp>
      <p:sp>
        <p:nvSpPr>
          <p:cNvPr id="21" name="Oval 20"/>
          <p:cNvSpPr/>
          <p:nvPr/>
        </p:nvSpPr>
        <p:spPr>
          <a:xfrm>
            <a:off x="10332720" y="5394960"/>
            <a:ext cx="457200" cy="457200"/>
          </a:xfrm>
          <a:prstGeom prst="ellipse">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927080" y="5532120"/>
            <a:ext cx="310896" cy="310896"/>
          </a:xfrm>
          <a:prstGeom prst="roundRect">
            <a:avLst>
              <a:gd name="adj" fmla="val 4000"/>
            </a:avLst>
          </a:prstGeom>
          <a:noFill/>
          <a:ln w="19050">
            <a:solidFill>
              <a:srgbClr val="5A7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5A78FF"/>
                </a:solidFill>
                <a:latin typeface="Arial"/>
              </a:rPr>
              <a:t>SLIDE 9 · 02 · WHAT CHANGED</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161225"/>
                </a:solidFill>
                <a:latin typeface="Arial"/>
              </a:rPr>
              <a:t>Writing became cheap</a:t>
            </a:r>
          </a:p>
        </p:txBody>
      </p:sp>
      <p:sp>
        <p:nvSpPr>
          <p:cNvPr id="5" name="Rectangle 4"/>
          <p:cNvSpPr/>
          <p:nvPr/>
        </p:nvSpPr>
        <p:spPr>
          <a:xfrm>
            <a:off x="548640" y="1115568"/>
            <a:ext cx="1097280" cy="4114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161225"/>
                </a:solidFill>
                <a:latin typeface="Arial"/>
              </a:rPr>
              <a:t>Vipps MobilePay</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9</a:t>
            </a:r>
          </a:p>
        </p:txBody>
      </p:sp>
      <p:sp>
        <p:nvSpPr>
          <p:cNvPr id="8" name="Rounded Rectangle 7"/>
          <p:cNvSpPr/>
          <p:nvPr/>
        </p:nvSpPr>
        <p:spPr>
          <a:xfrm>
            <a:off x="548640" y="1973817"/>
            <a:ext cx="2636443" cy="2135886"/>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01833"/>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FF5B24"/>
                </a:solidFill>
                <a:latin typeface="Arial"/>
              </a:rPr>
              <a:t>+51%</a:t>
            </a:r>
          </a:p>
        </p:txBody>
      </p:sp>
      <p:sp>
        <p:nvSpPr>
          <p:cNvPr id="10" name="TextBox 9"/>
          <p:cNvSpPr txBox="1"/>
          <p:nvPr/>
        </p:nvSpPr>
        <p:spPr>
          <a:xfrm>
            <a:off x="731520" y="3284457"/>
            <a:ext cx="2270683" cy="624078"/>
          </a:xfrm>
          <a:prstGeom prst="rect">
            <a:avLst/>
          </a:prstGeom>
          <a:noFill/>
        </p:spPr>
        <p:txBody>
          <a:bodyPr wrap="square" lIns="0" rIns="0" tIns="0" bIns="0" anchor="t">
            <a:spAutoFit/>
          </a:bodyPr>
          <a:lstStyle/>
          <a:p>
            <a:pPr algn="l">
              <a:lnSpc>
                <a:spcPct val="120000"/>
              </a:lnSpc>
              <a:spcAft>
                <a:spcPts val="0"/>
              </a:spcAft>
            </a:pPr>
            <a:r>
              <a:rPr b="0" sz="1365" i="0">
                <a:solidFill>
                  <a:srgbClr val="6F6C77"/>
                </a:solidFill>
                <a:latin typeface="Arial"/>
              </a:rPr>
              <a:t>changes per developer in one year at Meta</a:t>
            </a:r>
          </a:p>
        </p:txBody>
      </p:sp>
      <p:sp>
        <p:nvSpPr>
          <p:cNvPr id="11" name="Rounded Rectangle 10"/>
          <p:cNvSpPr/>
          <p:nvPr/>
        </p:nvSpPr>
        <p:spPr>
          <a:xfrm>
            <a:off x="3367963" y="1973817"/>
            <a:ext cx="2636443" cy="2135886"/>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50843" y="2101833"/>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5A78FF"/>
                </a:solidFill>
                <a:latin typeface="Arial"/>
              </a:rPr>
              <a:t>25m → 90m</a:t>
            </a:r>
          </a:p>
        </p:txBody>
      </p:sp>
      <p:sp>
        <p:nvSpPr>
          <p:cNvPr id="13" name="TextBox 12"/>
          <p:cNvSpPr txBox="1"/>
          <p:nvPr/>
        </p:nvSpPr>
        <p:spPr>
          <a:xfrm>
            <a:off x="3550843" y="3284457"/>
            <a:ext cx="2270683" cy="624078"/>
          </a:xfrm>
          <a:prstGeom prst="rect">
            <a:avLst/>
          </a:prstGeom>
          <a:noFill/>
        </p:spPr>
        <p:txBody>
          <a:bodyPr wrap="square" lIns="0" rIns="0" tIns="0" bIns="0" anchor="t">
            <a:spAutoFit/>
          </a:bodyPr>
          <a:lstStyle/>
          <a:p>
            <a:pPr algn="l">
              <a:lnSpc>
                <a:spcPct val="120000"/>
              </a:lnSpc>
              <a:spcAft>
                <a:spcPts val="0"/>
              </a:spcAft>
            </a:pPr>
            <a:r>
              <a:rPr b="0" sz="1365" i="0">
                <a:solidFill>
                  <a:srgbClr val="6F6C77"/>
                </a:solidFill>
                <a:latin typeface="Arial"/>
              </a:rPr>
              <a:t>merged pull requests a month on GitHub, 2023 to 2026</a:t>
            </a:r>
          </a:p>
        </p:txBody>
      </p:sp>
      <p:sp>
        <p:nvSpPr>
          <p:cNvPr id="14" name="Rounded Rectangle 13"/>
          <p:cNvSpPr/>
          <p:nvPr/>
        </p:nvSpPr>
        <p:spPr>
          <a:xfrm>
            <a:off x="6187287" y="1973817"/>
            <a:ext cx="2636443" cy="2135886"/>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0167" y="2101833"/>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FF5B24"/>
                </a:solidFill>
                <a:latin typeface="Arial"/>
              </a:rPr>
              <a:t>16 h vs 3 h</a:t>
            </a:r>
          </a:p>
        </p:txBody>
      </p:sp>
      <p:sp>
        <p:nvSpPr>
          <p:cNvPr id="16" name="TextBox 15"/>
          <p:cNvSpPr txBox="1"/>
          <p:nvPr/>
        </p:nvSpPr>
        <p:spPr>
          <a:xfrm>
            <a:off x="6370167" y="3284457"/>
            <a:ext cx="2270683" cy="624078"/>
          </a:xfrm>
          <a:prstGeom prst="rect">
            <a:avLst/>
          </a:prstGeom>
          <a:noFill/>
        </p:spPr>
        <p:txBody>
          <a:bodyPr wrap="square" lIns="0" rIns="0" tIns="0" bIns="0" anchor="t">
            <a:spAutoFit/>
          </a:bodyPr>
          <a:lstStyle/>
          <a:p>
            <a:pPr algn="l">
              <a:lnSpc>
                <a:spcPct val="120000"/>
              </a:lnSpc>
              <a:spcAft>
                <a:spcPts val="0"/>
              </a:spcAft>
            </a:pPr>
            <a:r>
              <a:rPr b="0" sz="1365" i="0">
                <a:solidFill>
                  <a:srgbClr val="6F6C77"/>
                </a:solidFill>
                <a:latin typeface="Arial"/>
              </a:rPr>
              <a:t>wait before an AI-written pull request is picked up</a:t>
            </a:r>
          </a:p>
        </p:txBody>
      </p:sp>
      <p:sp>
        <p:nvSpPr>
          <p:cNvPr id="17" name="Rounded Rectangle 16"/>
          <p:cNvSpPr/>
          <p:nvPr/>
        </p:nvSpPr>
        <p:spPr>
          <a:xfrm>
            <a:off x="9006611" y="1973817"/>
            <a:ext cx="2636443" cy="2135886"/>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89491" y="2101833"/>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5A78FF"/>
                </a:solidFill>
                <a:latin typeface="Arial"/>
              </a:rPr>
              <a:t>400 vs 157</a:t>
            </a:r>
          </a:p>
        </p:txBody>
      </p:sp>
      <p:sp>
        <p:nvSpPr>
          <p:cNvPr id="19" name="TextBox 18"/>
          <p:cNvSpPr txBox="1"/>
          <p:nvPr/>
        </p:nvSpPr>
        <p:spPr>
          <a:xfrm>
            <a:off x="9189491" y="3284457"/>
            <a:ext cx="2270683" cy="624078"/>
          </a:xfrm>
          <a:prstGeom prst="rect">
            <a:avLst/>
          </a:prstGeom>
          <a:noFill/>
        </p:spPr>
        <p:txBody>
          <a:bodyPr wrap="square" lIns="0" rIns="0" tIns="0" bIns="0" anchor="t">
            <a:spAutoFit/>
          </a:bodyPr>
          <a:lstStyle/>
          <a:p>
            <a:pPr algn="l">
              <a:lnSpc>
                <a:spcPct val="120000"/>
              </a:lnSpc>
              <a:spcAft>
                <a:spcPts val="0"/>
              </a:spcAft>
            </a:pPr>
            <a:r>
              <a:rPr b="0" sz="1365" i="0">
                <a:solidFill>
                  <a:srgbClr val="6F6C77"/>
                </a:solidFill>
                <a:latin typeface="Arial"/>
              </a:rPr>
              <a:t>lines in an AI-written pull request, decided in less time</a:t>
            </a:r>
          </a:p>
        </p:txBody>
      </p:sp>
      <p:sp>
        <p:nvSpPr>
          <p:cNvPr id="20" name="Rectangle 19"/>
          <p:cNvSpPr/>
          <p:nvPr/>
        </p:nvSpPr>
        <p:spPr>
          <a:xfrm>
            <a:off x="548640" y="4594335"/>
            <a:ext cx="54864" cy="464870"/>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4685775"/>
            <a:ext cx="10682935" cy="281990"/>
          </a:xfrm>
          <a:prstGeom prst="rect">
            <a:avLst/>
          </a:prstGeom>
          <a:noFill/>
        </p:spPr>
        <p:txBody>
          <a:bodyPr wrap="square" lIns="0" rIns="0" tIns="0" bIns="0" anchor="ctr">
            <a:spAutoFit/>
          </a:bodyPr>
          <a:lstStyle/>
          <a:p>
            <a:pPr algn="l">
              <a:lnSpc>
                <a:spcPct val="115000"/>
              </a:lnSpc>
              <a:spcAft>
                <a:spcPts val="0"/>
              </a:spcAft>
            </a:pPr>
            <a:r>
              <a:rPr b="1" sz="1820" i="0">
                <a:solidFill>
                  <a:srgbClr val="161225"/>
                </a:solidFill>
                <a:latin typeface="Arial"/>
              </a:rPr>
              <a:t>Bigger changes, decided faster. Probably not read.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FF5B24"/>
                </a:solidFill>
                <a:latin typeface="Arial"/>
              </a:rPr>
              <a:t>SLIDE 10 · 02 · WHAT CHANGED</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161225"/>
                </a:solidFill>
                <a:latin typeface="Arial"/>
              </a:rPr>
              <a:t>Familiarity replaced reading</a:t>
            </a:r>
          </a:p>
        </p:txBody>
      </p:sp>
      <p:sp>
        <p:nvSpPr>
          <p:cNvPr id="5" name="Rectangle 4"/>
          <p:cNvSpPr/>
          <p:nvPr/>
        </p:nvSpPr>
        <p:spPr>
          <a:xfrm>
            <a:off x="548640" y="1115568"/>
            <a:ext cx="1097280" cy="4114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161225"/>
                </a:solidFill>
                <a:latin typeface="Arial"/>
              </a:rPr>
              <a:t>Vipps MobilePay</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10</a:t>
            </a:r>
          </a:p>
        </p:txBody>
      </p:sp>
      <p:sp>
        <p:nvSpPr>
          <p:cNvPr id="8" name="Rounded Rectangle 7"/>
          <p:cNvSpPr/>
          <p:nvPr/>
        </p:nvSpPr>
        <p:spPr>
          <a:xfrm>
            <a:off x="548640" y="1973817"/>
            <a:ext cx="2636443" cy="2135886"/>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01833"/>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FF5B24"/>
                </a:solidFill>
                <a:latin typeface="Arial"/>
              </a:rPr>
              <a:t>30,1% →</a:t>
            </a:r>
          </a:p>
          <a:p>
            <a:pPr algn="l">
              <a:lnSpc>
                <a:spcPct val="110000"/>
              </a:lnSpc>
              <a:spcAft>
                <a:spcPts val="0"/>
              </a:spcAft>
            </a:pPr>
            <a:r>
              <a:rPr b="1" sz="3120" i="0">
                <a:solidFill>
                  <a:srgbClr val="FF5B24"/>
                </a:solidFill>
                <a:latin typeface="Arial"/>
              </a:rPr>
              <a:t>36,8%</a:t>
            </a:r>
          </a:p>
        </p:txBody>
      </p:sp>
      <p:sp>
        <p:nvSpPr>
          <p:cNvPr id="10" name="TextBox 9"/>
          <p:cNvSpPr txBox="1"/>
          <p:nvPr/>
        </p:nvSpPr>
        <p:spPr>
          <a:xfrm>
            <a:off x="731520" y="3284457"/>
            <a:ext cx="2270683" cy="624078"/>
          </a:xfrm>
          <a:prstGeom prst="rect">
            <a:avLst/>
          </a:prstGeom>
          <a:noFill/>
        </p:spPr>
        <p:txBody>
          <a:bodyPr wrap="square" lIns="0" rIns="0" tIns="0" bIns="0" anchor="t">
            <a:spAutoFit/>
          </a:bodyPr>
          <a:lstStyle/>
          <a:p>
            <a:pPr algn="l">
              <a:lnSpc>
                <a:spcPct val="120000"/>
              </a:lnSpc>
              <a:spcAft>
                <a:spcPts val="0"/>
              </a:spcAft>
            </a:pPr>
            <a:r>
              <a:rPr b="0" sz="1365" i="0">
                <a:solidFill>
                  <a:srgbClr val="6F6C77"/>
                </a:solidFill>
                <a:latin typeface="Arial"/>
              </a:rPr>
              <a:t>approval rate as reviewers saw more agent-written code</a:t>
            </a:r>
          </a:p>
        </p:txBody>
      </p:sp>
      <p:sp>
        <p:nvSpPr>
          <p:cNvPr id="11" name="Rounded Rectangle 10"/>
          <p:cNvSpPr/>
          <p:nvPr/>
        </p:nvSpPr>
        <p:spPr>
          <a:xfrm>
            <a:off x="3367963" y="1973817"/>
            <a:ext cx="2636443" cy="2135886"/>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50843" y="2101833"/>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5A78FF"/>
                </a:solidFill>
                <a:latin typeface="Arial"/>
              </a:rPr>
              <a:t>−22%</a:t>
            </a:r>
          </a:p>
        </p:txBody>
      </p:sp>
      <p:sp>
        <p:nvSpPr>
          <p:cNvPr id="13" name="TextBox 12"/>
          <p:cNvSpPr txBox="1"/>
          <p:nvPr/>
        </p:nvSpPr>
        <p:spPr>
          <a:xfrm>
            <a:off x="3550843" y="3284457"/>
            <a:ext cx="2270683" cy="624078"/>
          </a:xfrm>
          <a:prstGeom prst="rect">
            <a:avLst/>
          </a:prstGeom>
          <a:noFill/>
        </p:spPr>
        <p:txBody>
          <a:bodyPr wrap="square" lIns="0" rIns="0" tIns="0" bIns="0" anchor="t">
            <a:spAutoFit/>
          </a:bodyPr>
          <a:lstStyle/>
          <a:p>
            <a:pPr algn="l">
              <a:lnSpc>
                <a:spcPct val="120000"/>
              </a:lnSpc>
              <a:spcAft>
                <a:spcPts val="0"/>
              </a:spcAft>
            </a:pPr>
            <a:r>
              <a:rPr b="0" sz="1365" i="0">
                <a:solidFill>
                  <a:srgbClr val="6F6C77"/>
                </a:solidFill>
                <a:latin typeface="Arial"/>
              </a:rPr>
              <a:t>inline comments over the same seven months</a:t>
            </a:r>
          </a:p>
        </p:txBody>
      </p:sp>
      <p:sp>
        <p:nvSpPr>
          <p:cNvPr id="14" name="Rounded Rectangle 13"/>
          <p:cNvSpPr/>
          <p:nvPr/>
        </p:nvSpPr>
        <p:spPr>
          <a:xfrm>
            <a:off x="6187287" y="1973817"/>
            <a:ext cx="2636443" cy="2135886"/>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0167" y="2101833"/>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FF5B24"/>
                </a:solidFill>
                <a:latin typeface="Arial"/>
              </a:rPr>
              <a:t>96%</a:t>
            </a:r>
          </a:p>
        </p:txBody>
      </p:sp>
      <p:sp>
        <p:nvSpPr>
          <p:cNvPr id="16" name="TextBox 15"/>
          <p:cNvSpPr txBox="1"/>
          <p:nvPr/>
        </p:nvSpPr>
        <p:spPr>
          <a:xfrm>
            <a:off x="6370167" y="3284457"/>
            <a:ext cx="2270683" cy="624078"/>
          </a:xfrm>
          <a:prstGeom prst="rect">
            <a:avLst/>
          </a:prstGeom>
          <a:noFill/>
        </p:spPr>
        <p:txBody>
          <a:bodyPr wrap="square" lIns="0" rIns="0" tIns="0" bIns="0" anchor="t">
            <a:spAutoFit/>
          </a:bodyPr>
          <a:lstStyle/>
          <a:p>
            <a:pPr algn="l">
              <a:lnSpc>
                <a:spcPct val="120000"/>
              </a:lnSpc>
              <a:spcAft>
                <a:spcPts val="0"/>
              </a:spcAft>
            </a:pPr>
            <a:r>
              <a:rPr b="0" sz="1365" i="0">
                <a:solidFill>
                  <a:srgbClr val="6F6C77"/>
                </a:solidFill>
                <a:latin typeface="Arial"/>
              </a:rPr>
              <a:t>of developers do not fully trust AI output</a:t>
            </a:r>
          </a:p>
        </p:txBody>
      </p:sp>
      <p:sp>
        <p:nvSpPr>
          <p:cNvPr id="17" name="Rounded Rectangle 16"/>
          <p:cNvSpPr/>
          <p:nvPr/>
        </p:nvSpPr>
        <p:spPr>
          <a:xfrm>
            <a:off x="9006611" y="1973817"/>
            <a:ext cx="2636443" cy="2135886"/>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89491" y="2101833"/>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5A78FF"/>
                </a:solidFill>
                <a:latin typeface="Arial"/>
              </a:rPr>
              <a:t>48%</a:t>
            </a:r>
          </a:p>
        </p:txBody>
      </p:sp>
      <p:sp>
        <p:nvSpPr>
          <p:cNvPr id="19" name="TextBox 18"/>
          <p:cNvSpPr txBox="1"/>
          <p:nvPr/>
        </p:nvSpPr>
        <p:spPr>
          <a:xfrm>
            <a:off x="9189491" y="3284457"/>
            <a:ext cx="2270683" cy="624078"/>
          </a:xfrm>
          <a:prstGeom prst="rect">
            <a:avLst/>
          </a:prstGeom>
          <a:noFill/>
        </p:spPr>
        <p:txBody>
          <a:bodyPr wrap="square" lIns="0" rIns="0" tIns="0" bIns="0" anchor="t">
            <a:spAutoFit/>
          </a:bodyPr>
          <a:lstStyle/>
          <a:p>
            <a:pPr algn="l">
              <a:lnSpc>
                <a:spcPct val="120000"/>
              </a:lnSpc>
              <a:spcAft>
                <a:spcPts val="0"/>
              </a:spcAft>
            </a:pPr>
            <a:r>
              <a:rPr b="0" sz="1365" i="0">
                <a:solidFill>
                  <a:srgbClr val="6F6C77"/>
                </a:solidFill>
                <a:latin typeface="Arial"/>
              </a:rPr>
              <a:t>always verify it before committing</a:t>
            </a:r>
          </a:p>
        </p:txBody>
      </p:sp>
      <p:sp>
        <p:nvSpPr>
          <p:cNvPr id="20" name="Rectangle 19"/>
          <p:cNvSpPr/>
          <p:nvPr/>
        </p:nvSpPr>
        <p:spPr>
          <a:xfrm>
            <a:off x="548640" y="4594335"/>
            <a:ext cx="54864" cy="464870"/>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4685775"/>
            <a:ext cx="10682935" cy="281990"/>
          </a:xfrm>
          <a:prstGeom prst="rect">
            <a:avLst/>
          </a:prstGeom>
          <a:noFill/>
        </p:spPr>
        <p:txBody>
          <a:bodyPr wrap="square" lIns="0" rIns="0" tIns="0" bIns="0" anchor="ctr">
            <a:spAutoFit/>
          </a:bodyPr>
          <a:lstStyle/>
          <a:p>
            <a:pPr algn="l">
              <a:lnSpc>
                <a:spcPct val="115000"/>
              </a:lnSpc>
              <a:spcAft>
                <a:spcPts val="0"/>
              </a:spcAft>
            </a:pPr>
            <a:r>
              <a:rPr b="1" sz="1820" i="0">
                <a:solidFill>
                  <a:srgbClr val="161225"/>
                </a:solidFill>
                <a:latin typeface="Arial"/>
              </a:rPr>
              <a:t>Reviewers approve what has become familiar. Authors submit what they doubt.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5A78FF"/>
                </a:solidFill>
                <a:latin typeface="Arial"/>
              </a:rPr>
              <a:t>SLIDE 11 · 02 · WHAT CHANGED</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161225"/>
                </a:solidFill>
                <a:latin typeface="Arial"/>
              </a:rPr>
              <a:t>Three failures that look like one</a:t>
            </a:r>
          </a:p>
        </p:txBody>
      </p:sp>
      <p:sp>
        <p:nvSpPr>
          <p:cNvPr id="5" name="Rectangle 4"/>
          <p:cNvSpPr/>
          <p:nvPr/>
        </p:nvSpPr>
        <p:spPr>
          <a:xfrm>
            <a:off x="548640" y="1115568"/>
            <a:ext cx="1097280" cy="4114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161225"/>
                </a:solidFill>
                <a:latin typeface="Arial"/>
              </a:rPr>
              <a:t>Vipps MobilePay</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11</a:t>
            </a:r>
          </a:p>
        </p:txBody>
      </p:sp>
      <p:sp>
        <p:nvSpPr>
          <p:cNvPr id="8" name="Rounded Rectangle 7"/>
          <p:cNvSpPr/>
          <p:nvPr/>
        </p:nvSpPr>
        <p:spPr>
          <a:xfrm>
            <a:off x="548640" y="2014037"/>
            <a:ext cx="3576218" cy="1733232"/>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123765"/>
            <a:ext cx="45720" cy="1513776"/>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142053"/>
            <a:ext cx="3210458" cy="540131"/>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1 · The reading is overwhelmed</a:t>
            </a:r>
          </a:p>
        </p:txBody>
      </p:sp>
      <p:sp>
        <p:nvSpPr>
          <p:cNvPr id="11" name="TextBox 10"/>
          <p:cNvSpPr txBox="1"/>
          <p:nvPr/>
        </p:nvSpPr>
        <p:spPr>
          <a:xfrm>
            <a:off x="749808" y="2755336"/>
            <a:ext cx="3210458" cy="809053"/>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More code arrives than people can read.</a:t>
            </a:r>
          </a:p>
        </p:txBody>
      </p:sp>
      <p:sp>
        <p:nvSpPr>
          <p:cNvPr id="12" name="Rounded Rectangle 11"/>
          <p:cNvSpPr/>
          <p:nvPr/>
        </p:nvSpPr>
        <p:spPr>
          <a:xfrm>
            <a:off x="4307738" y="2014037"/>
            <a:ext cx="3576218" cy="1733232"/>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7738" y="2123765"/>
            <a:ext cx="45720" cy="1513776"/>
          </a:xfrm>
          <a:prstGeom prst="rect">
            <a:avLst/>
          </a:prstGeom>
          <a:solidFill>
            <a:srgbClr val="5A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8906" y="2142053"/>
            <a:ext cx="3210458" cy="540131"/>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2 · The first reading never happened</a:t>
            </a:r>
          </a:p>
        </p:txBody>
      </p:sp>
      <p:sp>
        <p:nvSpPr>
          <p:cNvPr id="15" name="TextBox 14"/>
          <p:cNvSpPr txBox="1"/>
          <p:nvPr/>
        </p:nvSpPr>
        <p:spPr>
          <a:xfrm>
            <a:off x="4508906" y="2755336"/>
            <a:ext cx="3210458" cy="809053"/>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The author skims 400 generated lines and opens the pull request. Nothing checks for that.</a:t>
            </a:r>
          </a:p>
        </p:txBody>
      </p:sp>
      <p:sp>
        <p:nvSpPr>
          <p:cNvPr id="16" name="Rounded Rectangle 15"/>
          <p:cNvSpPr/>
          <p:nvPr/>
        </p:nvSpPr>
        <p:spPr>
          <a:xfrm>
            <a:off x="8066836" y="2014037"/>
            <a:ext cx="3576218" cy="1733232"/>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66836" y="2123765"/>
            <a:ext cx="45720" cy="1513776"/>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8004" y="2142053"/>
            <a:ext cx="3210458" cy="540131"/>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3 · The record lies</a:t>
            </a:r>
          </a:p>
        </p:txBody>
      </p:sp>
      <p:sp>
        <p:nvSpPr>
          <p:cNvPr id="19" name="TextBox 18"/>
          <p:cNvSpPr txBox="1"/>
          <p:nvPr/>
        </p:nvSpPr>
        <p:spPr>
          <a:xfrm>
            <a:off x="8268004" y="2755336"/>
            <a:ext cx="3210458" cy="809053"/>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Approved, when nobody read it.</a:t>
            </a:r>
          </a:p>
        </p:txBody>
      </p:sp>
      <p:sp>
        <p:nvSpPr>
          <p:cNvPr id="20" name="Rectangle 19"/>
          <p:cNvSpPr/>
          <p:nvPr/>
        </p:nvSpPr>
        <p:spPr>
          <a:xfrm>
            <a:off x="548640" y="4231902"/>
            <a:ext cx="54864" cy="746861"/>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4323342"/>
            <a:ext cx="10682935" cy="563981"/>
          </a:xfrm>
          <a:prstGeom prst="rect">
            <a:avLst/>
          </a:prstGeom>
          <a:noFill/>
        </p:spPr>
        <p:txBody>
          <a:bodyPr wrap="square" lIns="0" rIns="0" tIns="0" bIns="0" anchor="ctr">
            <a:spAutoFit/>
          </a:bodyPr>
          <a:lstStyle/>
          <a:p>
            <a:pPr algn="l">
              <a:lnSpc>
                <a:spcPct val="115000"/>
              </a:lnSpc>
              <a:spcAft>
                <a:spcPts val="0"/>
              </a:spcAft>
            </a:pPr>
            <a:r>
              <a:rPr b="1" sz="1820" i="0">
                <a:solidFill>
                  <a:srgbClr val="161225"/>
                </a:solidFill>
                <a:latin typeface="Arial"/>
              </a:rPr>
              <a:t>I approved a change because the tests were green, without reading it. The record shows my approval. What it recorded was confidence in the tests.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FF5B24"/>
                </a:solidFill>
                <a:latin typeface="Arial"/>
              </a:rPr>
              <a:t>SLIDE 12 · 02 · WHAT CHANGED</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161225"/>
                </a:solidFill>
                <a:latin typeface="Arial"/>
              </a:rPr>
              <a:t>The numbers stopped adding up</a:t>
            </a:r>
          </a:p>
        </p:txBody>
      </p:sp>
      <p:sp>
        <p:nvSpPr>
          <p:cNvPr id="5" name="Rectangle 4"/>
          <p:cNvSpPr/>
          <p:nvPr/>
        </p:nvSpPr>
        <p:spPr>
          <a:xfrm>
            <a:off x="548640" y="1115568"/>
            <a:ext cx="1097280" cy="4114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161225"/>
                </a:solidFill>
                <a:latin typeface="Arial"/>
              </a:rPr>
              <a:t>Vipps MobilePay</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12</a:t>
            </a:r>
          </a:p>
        </p:txBody>
      </p:sp>
      <p:sp>
        <p:nvSpPr>
          <p:cNvPr id="8" name="Rounded Rectangle 7"/>
          <p:cNvSpPr/>
          <p:nvPr/>
        </p:nvSpPr>
        <p:spPr>
          <a:xfrm>
            <a:off x="548640" y="2017454"/>
            <a:ext cx="2636443" cy="1927860"/>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45470"/>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FF5B24"/>
                </a:solidFill>
                <a:latin typeface="Arial"/>
              </a:rPr>
              <a:t>200 lines / h</a:t>
            </a:r>
          </a:p>
        </p:txBody>
      </p:sp>
      <p:sp>
        <p:nvSpPr>
          <p:cNvPr id="10" name="TextBox 9"/>
          <p:cNvSpPr txBox="1"/>
          <p:nvPr/>
        </p:nvSpPr>
        <p:spPr>
          <a:xfrm>
            <a:off x="731520" y="3328094"/>
            <a:ext cx="2270683" cy="416051"/>
          </a:xfrm>
          <a:prstGeom prst="rect">
            <a:avLst/>
          </a:prstGeom>
          <a:noFill/>
        </p:spPr>
        <p:txBody>
          <a:bodyPr wrap="square" lIns="0" rIns="0" tIns="0" bIns="0" anchor="t">
            <a:spAutoFit/>
          </a:bodyPr>
          <a:lstStyle/>
          <a:p>
            <a:pPr algn="l">
              <a:lnSpc>
                <a:spcPct val="120000"/>
              </a:lnSpc>
              <a:spcAft>
                <a:spcPts val="0"/>
              </a:spcAft>
            </a:pPr>
            <a:r>
              <a:rPr b="0" sz="1365" i="0">
                <a:solidFill>
                  <a:srgbClr val="6F6C77"/>
                </a:solidFill>
                <a:latin typeface="Arial"/>
              </a:rPr>
              <a:t>beyond this, reviewers find about half the defects</a:t>
            </a:r>
          </a:p>
        </p:txBody>
      </p:sp>
      <p:sp>
        <p:nvSpPr>
          <p:cNvPr id="11" name="Rounded Rectangle 10"/>
          <p:cNvSpPr/>
          <p:nvPr/>
        </p:nvSpPr>
        <p:spPr>
          <a:xfrm>
            <a:off x="3367963" y="2017454"/>
            <a:ext cx="2636443" cy="1927860"/>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50843" y="2145470"/>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5A78FF"/>
                </a:solidFill>
                <a:latin typeface="Arial"/>
              </a:rPr>
              <a:t>1 in 4</a:t>
            </a:r>
          </a:p>
        </p:txBody>
      </p:sp>
      <p:sp>
        <p:nvSpPr>
          <p:cNvPr id="13" name="TextBox 12"/>
          <p:cNvSpPr txBox="1"/>
          <p:nvPr/>
        </p:nvSpPr>
        <p:spPr>
          <a:xfrm>
            <a:off x="3550843" y="3328094"/>
            <a:ext cx="2270683" cy="416051"/>
          </a:xfrm>
          <a:prstGeom prst="rect">
            <a:avLst/>
          </a:prstGeom>
          <a:noFill/>
        </p:spPr>
        <p:txBody>
          <a:bodyPr wrap="square" lIns="0" rIns="0" tIns="0" bIns="0" anchor="t">
            <a:spAutoFit/>
          </a:bodyPr>
          <a:lstStyle/>
          <a:p>
            <a:pPr algn="l">
              <a:lnSpc>
                <a:spcPct val="120000"/>
              </a:lnSpc>
              <a:spcAft>
                <a:spcPts val="0"/>
              </a:spcAft>
            </a:pPr>
            <a:r>
              <a:rPr b="0" sz="1365" i="0">
                <a:solidFill>
                  <a:srgbClr val="6F6C77"/>
                </a:solidFill>
                <a:latin typeface="Arial"/>
              </a:rPr>
              <a:t>AI-written pull requests has more than 400 lines</a:t>
            </a:r>
          </a:p>
        </p:txBody>
      </p:sp>
      <p:sp>
        <p:nvSpPr>
          <p:cNvPr id="14" name="Rounded Rectangle 13"/>
          <p:cNvSpPr/>
          <p:nvPr/>
        </p:nvSpPr>
        <p:spPr>
          <a:xfrm>
            <a:off x="6187287" y="2017454"/>
            <a:ext cx="2636443" cy="1927860"/>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0167" y="2145470"/>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FF5B24"/>
                </a:solidFill>
                <a:latin typeface="Arial"/>
              </a:rPr>
              <a:t>2 hours</a:t>
            </a:r>
          </a:p>
        </p:txBody>
      </p:sp>
      <p:sp>
        <p:nvSpPr>
          <p:cNvPr id="16" name="TextBox 15"/>
          <p:cNvSpPr txBox="1"/>
          <p:nvPr/>
        </p:nvSpPr>
        <p:spPr>
          <a:xfrm>
            <a:off x="6370167" y="3328094"/>
            <a:ext cx="2270683" cy="416051"/>
          </a:xfrm>
          <a:prstGeom prst="rect">
            <a:avLst/>
          </a:prstGeom>
          <a:noFill/>
        </p:spPr>
        <p:txBody>
          <a:bodyPr wrap="square" lIns="0" rIns="0" tIns="0" bIns="0" anchor="t">
            <a:spAutoFit/>
          </a:bodyPr>
          <a:lstStyle/>
          <a:p>
            <a:pPr algn="l">
              <a:lnSpc>
                <a:spcPct val="120000"/>
              </a:lnSpc>
              <a:spcAft>
                <a:spcPts val="0"/>
              </a:spcAft>
            </a:pPr>
            <a:r>
              <a:rPr b="0" sz="1365" i="0">
                <a:solidFill>
                  <a:srgbClr val="6F6C77"/>
                </a:solidFill>
                <a:latin typeface="Arial"/>
              </a:rPr>
              <a:t>of one person's attention for that one change</a:t>
            </a:r>
          </a:p>
        </p:txBody>
      </p:sp>
      <p:sp>
        <p:nvSpPr>
          <p:cNvPr id="17" name="Rounded Rectangle 16"/>
          <p:cNvSpPr/>
          <p:nvPr/>
        </p:nvSpPr>
        <p:spPr>
          <a:xfrm>
            <a:off x="9006611" y="2017454"/>
            <a:ext cx="2636443" cy="1927860"/>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89491" y="2145470"/>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5A78FF"/>
                </a:solidFill>
                <a:latin typeface="Arial"/>
              </a:rPr>
              <a:t>3,2 h / week</a:t>
            </a:r>
          </a:p>
        </p:txBody>
      </p:sp>
      <p:sp>
        <p:nvSpPr>
          <p:cNvPr id="19" name="TextBox 18"/>
          <p:cNvSpPr txBox="1"/>
          <p:nvPr/>
        </p:nvSpPr>
        <p:spPr>
          <a:xfrm>
            <a:off x="9189491" y="3328094"/>
            <a:ext cx="2270683" cy="416051"/>
          </a:xfrm>
          <a:prstGeom prst="rect">
            <a:avLst/>
          </a:prstGeom>
          <a:noFill/>
        </p:spPr>
        <p:txBody>
          <a:bodyPr wrap="square" lIns="0" rIns="0" tIns="0" bIns="0" anchor="t">
            <a:spAutoFit/>
          </a:bodyPr>
          <a:lstStyle/>
          <a:p>
            <a:pPr algn="l">
              <a:lnSpc>
                <a:spcPct val="120000"/>
              </a:lnSpc>
              <a:spcAft>
                <a:spcPts val="0"/>
              </a:spcAft>
            </a:pPr>
            <a:r>
              <a:rPr b="0" sz="1365" i="0">
                <a:solidFill>
                  <a:srgbClr val="6F6C77"/>
                </a:solidFill>
                <a:latin typeface="Arial"/>
              </a:rPr>
              <a:t>spent reviewing by Google developers before AI</a:t>
            </a:r>
          </a:p>
        </p:txBody>
      </p:sp>
      <p:sp>
        <p:nvSpPr>
          <p:cNvPr id="20" name="TextBox 19"/>
          <p:cNvSpPr txBox="1"/>
          <p:nvPr/>
        </p:nvSpPr>
        <p:spPr>
          <a:xfrm>
            <a:off x="548640" y="4429946"/>
            <a:ext cx="11094415" cy="523697"/>
          </a:xfrm>
          <a:prstGeom prst="rect">
            <a:avLst/>
          </a:prstGeom>
          <a:noFill/>
        </p:spPr>
        <p:txBody>
          <a:bodyPr wrap="square" lIns="0" rIns="0" tIns="0" bIns="0" anchor="t">
            <a:spAutoFit/>
          </a:bodyPr>
          <a:lstStyle/>
          <a:p>
            <a:pPr algn="l">
              <a:lnSpc>
                <a:spcPct val="115000"/>
              </a:lnSpc>
              <a:spcAft>
                <a:spcPts val="0"/>
              </a:spcAft>
            </a:pPr>
            <a:r>
              <a:rPr b="0" sz="1690" i="0">
                <a:solidFill>
                  <a:srgbClr val="161225"/>
                </a:solidFill>
                <a:latin typeface="Arial"/>
              </a:rPr>
              <a:t>Nobody can review everything properly anymore. Most teams have already stopped reviewing some changes. </a:t>
            </a:r>
            <a:r>
              <a:rPr b="1" sz="1690" i="0">
                <a:solidFill>
                  <a:srgbClr val="161225"/>
                </a:solidFill>
                <a:latin typeface="Arial"/>
              </a:rPr>
              <a:t>Did anyone choose which ones?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5A78FF"/>
                </a:solidFill>
                <a:latin typeface="Arial"/>
              </a:rPr>
              <a:t>SLIDE 13 · 02 · WHAT CHANGED</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161225"/>
                </a:solidFill>
                <a:latin typeface="Arial"/>
              </a:rPr>
              <a:t>Four ways out</a:t>
            </a:r>
          </a:p>
        </p:txBody>
      </p:sp>
      <p:sp>
        <p:nvSpPr>
          <p:cNvPr id="5" name="Rectangle 4"/>
          <p:cNvSpPr/>
          <p:nvPr/>
        </p:nvSpPr>
        <p:spPr>
          <a:xfrm>
            <a:off x="548640" y="1115568"/>
            <a:ext cx="1097280" cy="4114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161225"/>
                </a:solidFill>
                <a:latin typeface="Arial"/>
              </a:rPr>
              <a:t>Vipps MobilePay</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13</a:t>
            </a:r>
          </a:p>
        </p:txBody>
      </p:sp>
      <p:sp>
        <p:nvSpPr>
          <p:cNvPr id="8" name="Rounded Rectangle 7"/>
          <p:cNvSpPr/>
          <p:nvPr/>
        </p:nvSpPr>
        <p:spPr>
          <a:xfrm>
            <a:off x="548640" y="2103120"/>
            <a:ext cx="2636443" cy="1960244"/>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12848"/>
            <a:ext cx="45720" cy="174078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231136"/>
            <a:ext cx="2270683" cy="540131"/>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Have fewer pull requests</a:t>
            </a:r>
          </a:p>
        </p:txBody>
      </p:sp>
      <p:sp>
        <p:nvSpPr>
          <p:cNvPr id="11" name="TextBox 10"/>
          <p:cNvSpPr txBox="1"/>
          <p:nvPr/>
        </p:nvSpPr>
        <p:spPr>
          <a:xfrm>
            <a:off x="749808" y="2844419"/>
            <a:ext cx="2270683" cy="1036065"/>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Godot banned AI-generated code and kept the human approver.</a:t>
            </a:r>
          </a:p>
        </p:txBody>
      </p:sp>
      <p:sp>
        <p:nvSpPr>
          <p:cNvPr id="12" name="Rounded Rectangle 11"/>
          <p:cNvSpPr/>
          <p:nvPr/>
        </p:nvSpPr>
        <p:spPr>
          <a:xfrm>
            <a:off x="3367963" y="2103120"/>
            <a:ext cx="2636443" cy="1960244"/>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67963" y="2212848"/>
            <a:ext cx="45720" cy="1740788"/>
          </a:xfrm>
          <a:prstGeom prst="rect">
            <a:avLst/>
          </a:prstGeom>
          <a:solidFill>
            <a:srgbClr val="5A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9131" y="2231136"/>
            <a:ext cx="2270683" cy="540131"/>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Approve some without a human</a:t>
            </a:r>
          </a:p>
        </p:txBody>
      </p:sp>
      <p:sp>
        <p:nvSpPr>
          <p:cNvPr id="15" name="TextBox 14"/>
          <p:cNvSpPr txBox="1"/>
          <p:nvPr/>
        </p:nvSpPr>
        <p:spPr>
          <a:xfrm>
            <a:off x="3569131" y="2844419"/>
            <a:ext cx="2270683" cy="1036065"/>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Zalando auto-approves 33% as low-risk. None of these companies is regulated.</a:t>
            </a:r>
          </a:p>
        </p:txBody>
      </p:sp>
      <p:sp>
        <p:nvSpPr>
          <p:cNvPr id="16" name="Rounded Rectangle 15"/>
          <p:cNvSpPr/>
          <p:nvPr/>
        </p:nvSpPr>
        <p:spPr>
          <a:xfrm>
            <a:off x="6187287" y="2103120"/>
            <a:ext cx="2636443" cy="1960244"/>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7287" y="2212848"/>
            <a:ext cx="45720" cy="174078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8455" y="2231136"/>
            <a:ext cx="2270683" cy="540131"/>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Check before you open it</a:t>
            </a:r>
          </a:p>
        </p:txBody>
      </p:sp>
      <p:sp>
        <p:nvSpPr>
          <p:cNvPr id="19" name="TextBox 18"/>
          <p:cNvSpPr txBox="1"/>
          <p:nvPr/>
        </p:nvSpPr>
        <p:spPr>
          <a:xfrm>
            <a:off x="6388455" y="2844419"/>
            <a:ext cx="2270683" cy="1036065"/>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Coding agents review your branch first. Rust: not a substitute for self-review.</a:t>
            </a:r>
          </a:p>
        </p:txBody>
      </p:sp>
      <p:sp>
        <p:nvSpPr>
          <p:cNvPr id="20" name="Rounded Rectangle 19"/>
          <p:cNvSpPr/>
          <p:nvPr/>
        </p:nvSpPr>
        <p:spPr>
          <a:xfrm>
            <a:off x="9006611" y="2103120"/>
            <a:ext cx="2636443" cy="1960244"/>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06611" y="2212848"/>
            <a:ext cx="45720" cy="1740788"/>
          </a:xfrm>
          <a:prstGeom prst="rect">
            <a:avLst/>
          </a:prstGeom>
          <a:solidFill>
            <a:srgbClr val="5A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07779" y="2231136"/>
            <a:ext cx="2270683" cy="540131"/>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Make each one simpler to approve</a:t>
            </a:r>
          </a:p>
        </p:txBody>
      </p:sp>
      <p:sp>
        <p:nvSpPr>
          <p:cNvPr id="23" name="TextBox 22"/>
          <p:cNvSpPr txBox="1"/>
          <p:nvPr/>
        </p:nvSpPr>
        <p:spPr>
          <a:xfrm>
            <a:off x="9207779" y="2844419"/>
            <a:ext cx="2270683" cy="1036065"/>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Adyen: under five files, a human approves, a designated person re-reads.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FF5B24"/>
                </a:solidFill>
                <a:latin typeface="Arial"/>
              </a:rPr>
              <a:t>SLIDE 14 · 02 · WHAT CHANGED</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161225"/>
                </a:solidFill>
                <a:latin typeface="Arial"/>
              </a:rPr>
              <a:t>The approval became a setting</a:t>
            </a:r>
          </a:p>
        </p:txBody>
      </p:sp>
      <p:sp>
        <p:nvSpPr>
          <p:cNvPr id="5" name="Rectangle 4"/>
          <p:cNvSpPr/>
          <p:nvPr/>
        </p:nvSpPr>
        <p:spPr>
          <a:xfrm>
            <a:off x="548640" y="1115568"/>
            <a:ext cx="1097280" cy="4114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161225"/>
                </a:solidFill>
                <a:latin typeface="Arial"/>
              </a:rPr>
              <a:t>Vipps MobilePay</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14</a:t>
            </a:r>
          </a:p>
        </p:txBody>
      </p:sp>
      <p:sp>
        <p:nvSpPr>
          <p:cNvPr id="8" name="Rounded Rectangle 7"/>
          <p:cNvSpPr/>
          <p:nvPr/>
        </p:nvSpPr>
        <p:spPr>
          <a:xfrm>
            <a:off x="548640" y="2103120"/>
            <a:ext cx="5455767" cy="1254442"/>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12848"/>
            <a:ext cx="45720" cy="1034986"/>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231136"/>
            <a:ext cx="5090007" cy="288353"/>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Copilot, the author</a:t>
            </a:r>
          </a:p>
        </p:txBody>
      </p:sp>
      <p:sp>
        <p:nvSpPr>
          <p:cNvPr id="11" name="TextBox 10"/>
          <p:cNvSpPr txBox="1"/>
          <p:nvPr/>
        </p:nvSpPr>
        <p:spPr>
          <a:xfrm>
            <a:off x="749808" y="2592641"/>
            <a:ext cx="5090007" cy="582041"/>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Blocked from approving, like any author.</a:t>
            </a:r>
          </a:p>
        </p:txBody>
      </p:sp>
      <p:sp>
        <p:nvSpPr>
          <p:cNvPr id="12" name="Rounded Rectangle 11"/>
          <p:cNvSpPr/>
          <p:nvPr/>
        </p:nvSpPr>
        <p:spPr>
          <a:xfrm>
            <a:off x="6187287" y="2103120"/>
            <a:ext cx="5455767" cy="1254442"/>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87287" y="2212848"/>
            <a:ext cx="45720" cy="1034986"/>
          </a:xfrm>
          <a:prstGeom prst="rect">
            <a:avLst/>
          </a:prstGeom>
          <a:solidFill>
            <a:srgbClr val="5A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8455" y="2231136"/>
            <a:ext cx="5090007" cy="288353"/>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Copilot, the reviewer</a:t>
            </a:r>
          </a:p>
        </p:txBody>
      </p:sp>
      <p:sp>
        <p:nvSpPr>
          <p:cNvPr id="15" name="TextBox 14"/>
          <p:cNvSpPr txBox="1"/>
          <p:nvPr/>
        </p:nvSpPr>
        <p:spPr>
          <a:xfrm>
            <a:off x="6388455" y="2592641"/>
            <a:ext cx="5090007" cy="582041"/>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A second identity. It can approve what the first one wrote, and the audit log has no event for it.</a:t>
            </a:r>
          </a:p>
        </p:txBody>
      </p:sp>
      <p:sp>
        <p:nvSpPr>
          <p:cNvPr id="16" name="Rectangle 15"/>
          <p:cNvSpPr/>
          <p:nvPr/>
        </p:nvSpPr>
        <p:spPr>
          <a:xfrm>
            <a:off x="548640" y="3842194"/>
            <a:ext cx="54864" cy="746861"/>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 y="3933634"/>
            <a:ext cx="10682935" cy="563981"/>
          </a:xfrm>
          <a:prstGeom prst="rect">
            <a:avLst/>
          </a:prstGeom>
          <a:noFill/>
        </p:spPr>
        <p:txBody>
          <a:bodyPr wrap="square" lIns="0" rIns="0" tIns="0" bIns="0" anchor="ctr">
            <a:spAutoFit/>
          </a:bodyPr>
          <a:lstStyle/>
          <a:p>
            <a:pPr algn="l">
              <a:lnSpc>
                <a:spcPct val="115000"/>
              </a:lnSpc>
              <a:spcAft>
                <a:spcPts val="0"/>
              </a:spcAft>
            </a:pPr>
            <a:r>
              <a:rPr b="1" sz="1820" i="0">
                <a:solidFill>
                  <a:srgbClr val="161225"/>
                </a:solidFill>
                <a:latin typeface="Arial"/>
              </a:rPr>
              <a:t>Someone has to decide which repositories have it on, which changes are exempt, and who answers when it goes wrong. On most teams nobody has that job.</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F5F5F2"/>
                </a:solidFill>
                <a:latin typeface="Arial"/>
              </a:rPr>
              <a:t>Vipps MobilePay</a:t>
            </a:r>
          </a:p>
        </p:txBody>
      </p:sp>
      <p:sp>
        <p:nvSpPr>
          <p:cNvPr id="4" name="TextBox 3"/>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15</a:t>
            </a:r>
          </a:p>
        </p:txBody>
      </p:sp>
      <p:sp>
        <p:nvSpPr>
          <p:cNvPr id="5" name="TextBox 4"/>
          <p:cNvSpPr txBox="1"/>
          <p:nvPr/>
        </p:nvSpPr>
        <p:spPr>
          <a:xfrm>
            <a:off x="548640" y="292608"/>
            <a:ext cx="11094415" cy="274320"/>
          </a:xfrm>
          <a:prstGeom prst="rect">
            <a:avLst/>
          </a:prstGeom>
          <a:noFill/>
        </p:spPr>
        <p:txBody>
          <a:bodyPr wrap="square" lIns="0" rIns="0" tIns="0" bIns="0" anchor="t">
            <a:spAutoFit/>
          </a:bodyPr>
          <a:lstStyle/>
          <a:p>
            <a:pPr algn="l">
              <a:lnSpc>
                <a:spcPct val="115000"/>
              </a:lnSpc>
              <a:spcAft>
                <a:spcPts val="0"/>
              </a:spcAft>
            </a:pPr>
            <a:r>
              <a:rPr b="1" sz="1100" i="0">
                <a:solidFill>
                  <a:srgbClr val="F5F5F2"/>
                </a:solidFill>
                <a:latin typeface="Arial"/>
              </a:rPr>
              <a:t>Vipps MobilePay</a:t>
            </a:r>
          </a:p>
        </p:txBody>
      </p:sp>
      <p:sp>
        <p:nvSpPr>
          <p:cNvPr id="6" name="TextBox 5"/>
          <p:cNvSpPr txBox="1"/>
          <p:nvPr/>
        </p:nvSpPr>
        <p:spPr>
          <a:xfrm>
            <a:off x="548640" y="1417320"/>
            <a:ext cx="2377440" cy="1371600"/>
          </a:xfrm>
          <a:prstGeom prst="rect">
            <a:avLst/>
          </a:prstGeom>
          <a:noFill/>
        </p:spPr>
        <p:txBody>
          <a:bodyPr wrap="square" lIns="0" rIns="0" tIns="0" bIns="0" anchor="t">
            <a:spAutoFit/>
          </a:bodyPr>
          <a:lstStyle/>
          <a:p>
            <a:pPr algn="l">
              <a:lnSpc>
                <a:spcPct val="100000"/>
              </a:lnSpc>
              <a:spcAft>
                <a:spcPts val="0"/>
              </a:spcAft>
            </a:pPr>
            <a:r>
              <a:rPr b="1" sz="9600" i="0">
                <a:solidFill>
                  <a:srgbClr val="FF5B24"/>
                </a:solidFill>
                <a:latin typeface="Arial"/>
              </a:rPr>
              <a:t>03</a:t>
            </a:r>
          </a:p>
        </p:txBody>
      </p:sp>
      <p:sp>
        <p:nvSpPr>
          <p:cNvPr id="7" name="TextBox 6"/>
          <p:cNvSpPr txBox="1"/>
          <p:nvPr/>
        </p:nvSpPr>
        <p:spPr>
          <a:xfrm>
            <a:off x="2697480" y="1874519"/>
            <a:ext cx="8945575" cy="991615"/>
          </a:xfrm>
          <a:prstGeom prst="rect">
            <a:avLst/>
          </a:prstGeom>
          <a:noFill/>
        </p:spPr>
        <p:txBody>
          <a:bodyPr wrap="square" lIns="0" rIns="0" tIns="0" bIns="0" anchor="b">
            <a:spAutoFit/>
          </a:bodyPr>
          <a:lstStyle/>
          <a:p>
            <a:pPr algn="l">
              <a:lnSpc>
                <a:spcPct val="122000"/>
              </a:lnSpc>
              <a:spcAft>
                <a:spcPts val="0"/>
              </a:spcAft>
            </a:pPr>
            <a:r>
              <a:rPr b="1" sz="3200" i="0">
                <a:solidFill>
                  <a:srgbClr val="F5F5F2"/>
                </a:solidFill>
                <a:latin typeface="Arial"/>
              </a:rPr>
              <a:t>Who should own the check?</a:t>
            </a:r>
          </a:p>
        </p:txBody>
      </p:sp>
      <p:sp>
        <p:nvSpPr>
          <p:cNvPr id="8" name="TextBox 7"/>
          <p:cNvSpPr txBox="1"/>
          <p:nvPr/>
        </p:nvSpPr>
        <p:spPr>
          <a:xfrm>
            <a:off x="2697480" y="3140455"/>
            <a:ext cx="8945575" cy="495299"/>
          </a:xfrm>
          <a:prstGeom prst="rect">
            <a:avLst/>
          </a:prstGeom>
          <a:noFill/>
        </p:spPr>
        <p:txBody>
          <a:bodyPr wrap="square" lIns="0" rIns="0" tIns="0" bIns="0" anchor="t">
            <a:spAutoFit/>
          </a:bodyPr>
          <a:lstStyle/>
          <a:p>
            <a:pPr algn="l">
              <a:lnSpc>
                <a:spcPct val="130000"/>
              </a:lnSpc>
              <a:spcAft>
                <a:spcPts val="0"/>
              </a:spcAft>
            </a:pPr>
            <a:r>
              <a:rPr b="0" sz="1500" i="0">
                <a:solidFill>
                  <a:srgbClr val="F5F5F2"/>
                </a:solidFill>
                <a:latin typeface="Arial"/>
              </a:rPr>
              <a:t>One shared reviewer for everyone is the obvious answer. It is better at two jobs out of three.</a:t>
            </a:r>
          </a:p>
        </p:txBody>
      </p:sp>
      <p:sp>
        <p:nvSpPr>
          <p:cNvPr id="9" name="Rectangle 8"/>
          <p:cNvSpPr/>
          <p:nvPr/>
        </p:nvSpPr>
        <p:spPr>
          <a:xfrm>
            <a:off x="2697480" y="4083812"/>
            <a:ext cx="146304" cy="1828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71800" y="4019804"/>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B9B8BE"/>
                </a:solidFill>
                <a:latin typeface="Arial"/>
              </a:rPr>
              <a:t>One answer: a centralized AI reviewer</a:t>
            </a:r>
          </a:p>
        </p:txBody>
      </p:sp>
      <p:sp>
        <p:nvSpPr>
          <p:cNvPr id="11" name="Rectangle 10"/>
          <p:cNvSpPr/>
          <p:nvPr/>
        </p:nvSpPr>
        <p:spPr>
          <a:xfrm>
            <a:off x="2697480" y="4358132"/>
            <a:ext cx="146304" cy="18288"/>
          </a:xfrm>
          <a:prstGeom prst="rect">
            <a:avLst/>
          </a:prstGeom>
          <a:solidFill>
            <a:srgbClr val="5A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71800" y="4294124"/>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B9B8BE"/>
                </a:solidFill>
                <a:latin typeface="Arial"/>
              </a:rPr>
              <a:t>What it would cost</a:t>
            </a:r>
          </a:p>
        </p:txBody>
      </p:sp>
      <p:sp>
        <p:nvSpPr>
          <p:cNvPr id="13" name="Rectangle 12"/>
          <p:cNvSpPr/>
          <p:nvPr/>
        </p:nvSpPr>
        <p:spPr>
          <a:xfrm>
            <a:off x="2697480" y="4632452"/>
            <a:ext cx="146304" cy="1828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1800" y="4568443"/>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B9B8BE"/>
                </a:solidFill>
                <a:latin typeface="Arial"/>
              </a:rPr>
              <a:t>Centralize the machinery, keep the decision local</a:t>
            </a:r>
          </a:p>
        </p:txBody>
      </p:sp>
      <p:sp>
        <p:nvSpPr>
          <p:cNvPr id="15" name="Oval 14"/>
          <p:cNvSpPr/>
          <p:nvPr/>
        </p:nvSpPr>
        <p:spPr>
          <a:xfrm>
            <a:off x="10332720" y="5394960"/>
            <a:ext cx="457200" cy="457200"/>
          </a:xfrm>
          <a:prstGeom prst="ellipse">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927080" y="5532120"/>
            <a:ext cx="310896" cy="310896"/>
          </a:xfrm>
          <a:prstGeom prst="roundRect">
            <a:avLst>
              <a:gd name="adj" fmla="val 4000"/>
            </a:avLst>
          </a:prstGeom>
          <a:noFill/>
          <a:ln w="19050">
            <a:solidFill>
              <a:srgbClr val="5A7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FF5B24"/>
                </a:solidFill>
                <a:latin typeface="Arial"/>
              </a:rPr>
              <a:t>SLIDE 16 · 03 · WHO SHOULD OWN THE CHECK</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161225"/>
                </a:solidFill>
                <a:latin typeface="Arial"/>
              </a:rPr>
              <a:t>One answer: a centralized AI reviewer</a:t>
            </a:r>
          </a:p>
        </p:txBody>
      </p:sp>
      <p:sp>
        <p:nvSpPr>
          <p:cNvPr id="5" name="Rectangle 4"/>
          <p:cNvSpPr/>
          <p:nvPr/>
        </p:nvSpPr>
        <p:spPr>
          <a:xfrm>
            <a:off x="548640" y="1115568"/>
            <a:ext cx="1097280" cy="4114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161225"/>
                </a:solidFill>
                <a:latin typeface="Arial"/>
              </a:rPr>
              <a:t>Vipps MobilePay</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16</a:t>
            </a:r>
          </a:p>
        </p:txBody>
      </p:sp>
      <p:sp>
        <p:nvSpPr>
          <p:cNvPr id="8" name="Rounded Rectangle 7"/>
          <p:cNvSpPr/>
          <p:nvPr/>
        </p:nvSpPr>
        <p:spPr>
          <a:xfrm>
            <a:off x="548640" y="2103120"/>
            <a:ext cx="3576218" cy="1254442"/>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12848"/>
            <a:ext cx="45720" cy="1034986"/>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231136"/>
            <a:ext cx="3210458" cy="288353"/>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"An outsider sees more"</a:t>
            </a:r>
          </a:p>
        </p:txBody>
      </p:sp>
      <p:sp>
        <p:nvSpPr>
          <p:cNvPr id="11" name="TextBox 10"/>
          <p:cNvSpPr txBox="1"/>
          <p:nvPr/>
        </p:nvSpPr>
        <p:spPr>
          <a:xfrm>
            <a:off x="749808" y="2592641"/>
            <a:ext cx="3210458" cy="582041"/>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The research measures context, not reading.</a:t>
            </a:r>
          </a:p>
        </p:txBody>
      </p:sp>
      <p:sp>
        <p:nvSpPr>
          <p:cNvPr id="12" name="Rounded Rectangle 11"/>
          <p:cNvSpPr/>
          <p:nvPr/>
        </p:nvSpPr>
        <p:spPr>
          <a:xfrm>
            <a:off x="4307738" y="2103120"/>
            <a:ext cx="3576218" cy="1254442"/>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7738" y="2212848"/>
            <a:ext cx="45720" cy="1034986"/>
          </a:xfrm>
          <a:prstGeom prst="rect">
            <a:avLst/>
          </a:prstGeom>
          <a:solidFill>
            <a:srgbClr val="5A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8906" y="2231136"/>
            <a:ext cx="3210458" cy="288353"/>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"AI never gets tired"</a:t>
            </a:r>
          </a:p>
        </p:txBody>
      </p:sp>
      <p:sp>
        <p:nvSpPr>
          <p:cNvPr id="15" name="TextBox 14"/>
          <p:cNvSpPr txBox="1"/>
          <p:nvPr/>
        </p:nvSpPr>
        <p:spPr>
          <a:xfrm>
            <a:off x="4508906" y="2592641"/>
            <a:ext cx="3210458" cy="582041"/>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The people reading its reviews do.</a:t>
            </a:r>
          </a:p>
        </p:txBody>
      </p:sp>
      <p:sp>
        <p:nvSpPr>
          <p:cNvPr id="16" name="Rounded Rectangle 15"/>
          <p:cNvSpPr/>
          <p:nvPr/>
        </p:nvSpPr>
        <p:spPr>
          <a:xfrm>
            <a:off x="8066836" y="2103120"/>
            <a:ext cx="3576218" cy="1254442"/>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66836" y="2212848"/>
            <a:ext cx="45720" cy="1034986"/>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8004" y="2231136"/>
            <a:ext cx="3210458" cy="288353"/>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"Nobody looks for security"</a:t>
            </a:r>
          </a:p>
        </p:txBody>
      </p:sp>
      <p:sp>
        <p:nvSpPr>
          <p:cNvPr id="19" name="TextBox 18"/>
          <p:cNvSpPr txBox="1"/>
          <p:nvPr/>
        </p:nvSpPr>
        <p:spPr>
          <a:xfrm>
            <a:off x="8268004" y="2592641"/>
            <a:ext cx="3210458" cy="582041"/>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Because nobody asked them to.</a:t>
            </a:r>
          </a:p>
        </p:txBody>
      </p:sp>
      <p:sp>
        <p:nvSpPr>
          <p:cNvPr id="20" name="Rectangle 19"/>
          <p:cNvSpPr/>
          <p:nvPr/>
        </p:nvSpPr>
        <p:spPr>
          <a:xfrm>
            <a:off x="548640" y="3842194"/>
            <a:ext cx="54864" cy="464870"/>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3933634"/>
            <a:ext cx="10682935" cy="281990"/>
          </a:xfrm>
          <a:prstGeom prst="rect">
            <a:avLst/>
          </a:prstGeom>
          <a:noFill/>
        </p:spPr>
        <p:txBody>
          <a:bodyPr wrap="square" lIns="0" rIns="0" tIns="0" bIns="0" anchor="ctr">
            <a:spAutoFit/>
          </a:bodyPr>
          <a:lstStyle/>
          <a:p>
            <a:pPr algn="l">
              <a:lnSpc>
                <a:spcPct val="115000"/>
              </a:lnSpc>
              <a:spcAft>
                <a:spcPts val="0"/>
              </a:spcAft>
            </a:pPr>
            <a:r>
              <a:rPr b="1" sz="1820" i="0">
                <a:solidFill>
                  <a:srgbClr val="161225"/>
                </a:solidFill>
                <a:latin typeface="Arial"/>
              </a:rPr>
              <a:t>Better at coverage. Possibly better at the record. Not better at the approval.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5A78FF"/>
                </a:solidFill>
                <a:latin typeface="Arial"/>
              </a:rPr>
              <a:t>SLIDE 17 · 03 · WHO SHOULD OWN THE CHECK</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161225"/>
                </a:solidFill>
                <a:latin typeface="Arial"/>
              </a:rPr>
              <a:t>What it would cost</a:t>
            </a:r>
          </a:p>
        </p:txBody>
      </p:sp>
      <p:sp>
        <p:nvSpPr>
          <p:cNvPr id="5" name="Rectangle 4"/>
          <p:cNvSpPr/>
          <p:nvPr/>
        </p:nvSpPr>
        <p:spPr>
          <a:xfrm>
            <a:off x="548640" y="1115568"/>
            <a:ext cx="1097280" cy="4114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161225"/>
                </a:solidFill>
                <a:latin typeface="Arial"/>
              </a:rPr>
              <a:t>Vipps MobilePay</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17</a:t>
            </a:r>
          </a:p>
        </p:txBody>
      </p:sp>
      <p:sp>
        <p:nvSpPr>
          <p:cNvPr id="8" name="Rounded Rectangle 7"/>
          <p:cNvSpPr/>
          <p:nvPr/>
        </p:nvSpPr>
        <p:spPr>
          <a:xfrm>
            <a:off x="548640" y="1879820"/>
            <a:ext cx="2636443" cy="2135886"/>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007836"/>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FF5B24"/>
                </a:solidFill>
                <a:latin typeface="Arial"/>
              </a:rPr>
              <a:t>$43.000 to</a:t>
            </a:r>
          </a:p>
          <a:p>
            <a:pPr algn="l">
              <a:lnSpc>
                <a:spcPct val="110000"/>
              </a:lnSpc>
              <a:spcAft>
                <a:spcPts val="0"/>
              </a:spcAft>
            </a:pPr>
            <a:r>
              <a:rPr b="1" sz="3120" i="0">
                <a:solidFill>
                  <a:srgbClr val="FF5B24"/>
                </a:solidFill>
                <a:latin typeface="Arial"/>
              </a:rPr>
              <a:t>$260.000</a:t>
            </a:r>
          </a:p>
        </p:txBody>
      </p:sp>
      <p:sp>
        <p:nvSpPr>
          <p:cNvPr id="10" name="TextBox 9"/>
          <p:cNvSpPr txBox="1"/>
          <p:nvPr/>
        </p:nvSpPr>
        <p:spPr>
          <a:xfrm>
            <a:off x="731520" y="3190460"/>
            <a:ext cx="2270683" cy="624078"/>
          </a:xfrm>
          <a:prstGeom prst="rect">
            <a:avLst/>
          </a:prstGeom>
          <a:noFill/>
        </p:spPr>
        <p:txBody>
          <a:bodyPr wrap="square" lIns="0" rIns="0" tIns="0" bIns="0" anchor="t">
            <a:spAutoFit/>
          </a:bodyPr>
          <a:lstStyle/>
          <a:p>
            <a:pPr algn="l">
              <a:lnSpc>
                <a:spcPct val="120000"/>
              </a:lnSpc>
              <a:spcAft>
                <a:spcPts val="0"/>
              </a:spcAft>
            </a:pPr>
            <a:r>
              <a:rPr b="0" sz="1365" i="0">
                <a:solidFill>
                  <a:srgbClr val="6F6C77"/>
                </a:solidFill>
                <a:latin typeface="Arial"/>
              </a:rPr>
              <a:t>a year in licences for about 300 engineers</a:t>
            </a:r>
          </a:p>
        </p:txBody>
      </p:sp>
      <p:sp>
        <p:nvSpPr>
          <p:cNvPr id="11" name="Rounded Rectangle 10"/>
          <p:cNvSpPr/>
          <p:nvPr/>
        </p:nvSpPr>
        <p:spPr>
          <a:xfrm>
            <a:off x="3367963" y="1879820"/>
            <a:ext cx="2636443" cy="2135886"/>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50843" y="2007836"/>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5A78FF"/>
                </a:solidFill>
                <a:latin typeface="Arial"/>
              </a:rPr>
              <a:t>&gt;90%</a:t>
            </a:r>
          </a:p>
        </p:txBody>
      </p:sp>
      <p:sp>
        <p:nvSpPr>
          <p:cNvPr id="13" name="TextBox 12"/>
          <p:cNvSpPr txBox="1"/>
          <p:nvPr/>
        </p:nvSpPr>
        <p:spPr>
          <a:xfrm>
            <a:off x="3550843" y="3190460"/>
            <a:ext cx="2270683" cy="624078"/>
          </a:xfrm>
          <a:prstGeom prst="rect">
            <a:avLst/>
          </a:prstGeom>
          <a:noFill/>
        </p:spPr>
        <p:txBody>
          <a:bodyPr wrap="square" lIns="0" rIns="0" tIns="0" bIns="0" anchor="t">
            <a:spAutoFit/>
          </a:bodyPr>
          <a:lstStyle/>
          <a:p>
            <a:pPr algn="l">
              <a:lnSpc>
                <a:spcPct val="120000"/>
              </a:lnSpc>
              <a:spcAft>
                <a:spcPts val="0"/>
              </a:spcAft>
            </a:pPr>
            <a:r>
              <a:rPr b="0" sz="1365" i="0">
                <a:solidFill>
                  <a:srgbClr val="6F6C77"/>
                </a:solidFill>
                <a:latin typeface="Arial"/>
              </a:rPr>
              <a:t>of the riskiest changes approved by the FCA's 23 firms' change boards</a:t>
            </a:r>
          </a:p>
        </p:txBody>
      </p:sp>
      <p:sp>
        <p:nvSpPr>
          <p:cNvPr id="14" name="Rounded Rectangle 13"/>
          <p:cNvSpPr/>
          <p:nvPr/>
        </p:nvSpPr>
        <p:spPr>
          <a:xfrm>
            <a:off x="6187287" y="1879820"/>
            <a:ext cx="2636443" cy="2135886"/>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0167" y="2007836"/>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FF5B24"/>
                </a:solidFill>
                <a:latin typeface="Arial"/>
              </a:rPr>
              <a:t>2,6×</a:t>
            </a:r>
          </a:p>
        </p:txBody>
      </p:sp>
      <p:sp>
        <p:nvSpPr>
          <p:cNvPr id="16" name="TextBox 15"/>
          <p:cNvSpPr txBox="1"/>
          <p:nvPr/>
        </p:nvSpPr>
        <p:spPr>
          <a:xfrm>
            <a:off x="6370167" y="3190460"/>
            <a:ext cx="2270683" cy="624078"/>
          </a:xfrm>
          <a:prstGeom prst="rect">
            <a:avLst/>
          </a:prstGeom>
          <a:noFill/>
        </p:spPr>
        <p:txBody>
          <a:bodyPr wrap="square" lIns="0" rIns="0" tIns="0" bIns="0" anchor="t">
            <a:spAutoFit/>
          </a:bodyPr>
          <a:lstStyle/>
          <a:p>
            <a:pPr algn="l">
              <a:lnSpc>
                <a:spcPct val="120000"/>
              </a:lnSpc>
              <a:spcAft>
                <a:spcPts val="0"/>
              </a:spcAft>
            </a:pPr>
            <a:r>
              <a:rPr b="0" sz="1365" i="0">
                <a:solidFill>
                  <a:srgbClr val="6F6C77"/>
                </a:solidFill>
                <a:latin typeface="Arial"/>
              </a:rPr>
              <a:t>more likely to be a worst performer with outside approvers</a:t>
            </a:r>
          </a:p>
        </p:txBody>
      </p:sp>
      <p:sp>
        <p:nvSpPr>
          <p:cNvPr id="17" name="Rounded Rectangle 16"/>
          <p:cNvSpPr/>
          <p:nvPr/>
        </p:nvSpPr>
        <p:spPr>
          <a:xfrm>
            <a:off x="9006611" y="1879820"/>
            <a:ext cx="2636443" cy="2135886"/>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89491" y="2007836"/>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5A78FF"/>
                </a:solidFill>
                <a:latin typeface="Arial"/>
              </a:rPr>
              <a:t>32 of 33</a:t>
            </a:r>
          </a:p>
        </p:txBody>
      </p:sp>
      <p:sp>
        <p:nvSpPr>
          <p:cNvPr id="19" name="TextBox 18"/>
          <p:cNvSpPr txBox="1"/>
          <p:nvPr/>
        </p:nvSpPr>
        <p:spPr>
          <a:xfrm>
            <a:off x="9189491" y="3190460"/>
            <a:ext cx="2270683" cy="624078"/>
          </a:xfrm>
          <a:prstGeom prst="rect">
            <a:avLst/>
          </a:prstGeom>
          <a:noFill/>
        </p:spPr>
        <p:txBody>
          <a:bodyPr wrap="square" lIns="0" rIns="0" tIns="0" bIns="0" anchor="t">
            <a:spAutoFit/>
          </a:bodyPr>
          <a:lstStyle/>
          <a:p>
            <a:pPr algn="l">
              <a:lnSpc>
                <a:spcPct val="120000"/>
              </a:lnSpc>
              <a:spcAft>
                <a:spcPts val="0"/>
              </a:spcAft>
            </a:pPr>
            <a:r>
              <a:rPr b="0" sz="1365" i="0">
                <a:solidFill>
                  <a:srgbClr val="6F6C77"/>
                </a:solidFill>
                <a:latin typeface="Arial"/>
              </a:rPr>
              <a:t>planted vulnerabilities passed two AI reviewers</a:t>
            </a:r>
          </a:p>
        </p:txBody>
      </p:sp>
      <p:sp>
        <p:nvSpPr>
          <p:cNvPr id="20" name="Rectangle 19"/>
          <p:cNvSpPr/>
          <p:nvPr/>
        </p:nvSpPr>
        <p:spPr>
          <a:xfrm>
            <a:off x="548640" y="4500338"/>
            <a:ext cx="54864" cy="746861"/>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4591778"/>
            <a:ext cx="10682935" cy="563981"/>
          </a:xfrm>
          <a:prstGeom prst="rect">
            <a:avLst/>
          </a:prstGeom>
          <a:noFill/>
        </p:spPr>
        <p:txBody>
          <a:bodyPr wrap="square" lIns="0" rIns="0" tIns="0" bIns="0" anchor="ctr">
            <a:spAutoFit/>
          </a:bodyPr>
          <a:lstStyle/>
          <a:p>
            <a:pPr algn="l">
              <a:lnSpc>
                <a:spcPct val="115000"/>
              </a:lnSpc>
              <a:spcAft>
                <a:spcPts val="0"/>
              </a:spcAft>
            </a:pPr>
            <a:r>
              <a:rPr b="1" sz="1820" i="0">
                <a:solidFill>
                  <a:srgbClr val="161225"/>
                </a:solidFill>
                <a:latin typeface="Arial"/>
              </a:rPr>
              <a:t>A service that reads every change stops being a check. And every repository misses the same bugs.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FF5B24"/>
                </a:solidFill>
                <a:latin typeface="Arial"/>
              </a:rPr>
              <a:t>SLIDE 18 · 03 · WHO SHOULD OWN THE CHECK</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161225"/>
                </a:solidFill>
                <a:latin typeface="Arial"/>
              </a:rPr>
              <a:t>Centralize the machinery, keep the decision local</a:t>
            </a:r>
          </a:p>
        </p:txBody>
      </p:sp>
      <p:sp>
        <p:nvSpPr>
          <p:cNvPr id="5" name="Rectangle 4"/>
          <p:cNvSpPr/>
          <p:nvPr/>
        </p:nvSpPr>
        <p:spPr>
          <a:xfrm>
            <a:off x="548640" y="1115568"/>
            <a:ext cx="1097280" cy="4114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161225"/>
                </a:solidFill>
                <a:latin typeface="Arial"/>
              </a:rPr>
              <a:t>Vipps MobilePay</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18</a:t>
            </a:r>
          </a:p>
        </p:txBody>
      </p:sp>
      <p:sp>
        <p:nvSpPr>
          <p:cNvPr id="8" name="Rounded Rectangle 7"/>
          <p:cNvSpPr/>
          <p:nvPr/>
        </p:nvSpPr>
        <p:spPr>
          <a:xfrm>
            <a:off x="548640" y="2078973"/>
            <a:ext cx="5455767" cy="1481455"/>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188701"/>
            <a:ext cx="45720" cy="1261999"/>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206989"/>
            <a:ext cx="5090007" cy="288353"/>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Mechanically verifiable</a:t>
            </a:r>
          </a:p>
        </p:txBody>
      </p:sp>
      <p:sp>
        <p:nvSpPr>
          <p:cNvPr id="11" name="TextBox 10"/>
          <p:cNvSpPr txBox="1"/>
          <p:nvPr/>
        </p:nvSpPr>
        <p:spPr>
          <a:xfrm>
            <a:off x="749808" y="2568494"/>
            <a:ext cx="5090007" cy="809053"/>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Formatting, known bug patterns, secrets, dependencies. Google applies 3.000 automated fixes a day at under 5% false positives.</a:t>
            </a:r>
          </a:p>
        </p:txBody>
      </p:sp>
      <p:sp>
        <p:nvSpPr>
          <p:cNvPr id="12" name="Rounded Rectangle 11"/>
          <p:cNvSpPr/>
          <p:nvPr/>
        </p:nvSpPr>
        <p:spPr>
          <a:xfrm>
            <a:off x="6187287" y="2078973"/>
            <a:ext cx="5455767" cy="1481455"/>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87287" y="2188701"/>
            <a:ext cx="45720" cy="1261999"/>
          </a:xfrm>
          <a:prstGeom prst="rect">
            <a:avLst/>
          </a:prstGeom>
          <a:solidFill>
            <a:srgbClr val="5A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8455" y="2206989"/>
            <a:ext cx="5090007" cy="288353"/>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Needs a person</a:t>
            </a:r>
          </a:p>
        </p:txBody>
      </p:sp>
      <p:sp>
        <p:nvSpPr>
          <p:cNvPr id="15" name="TextBox 14"/>
          <p:cNvSpPr txBox="1"/>
          <p:nvPr/>
        </p:nvSpPr>
        <p:spPr>
          <a:xfrm>
            <a:off x="6388455" y="2568494"/>
            <a:ext cx="5090007" cy="809053"/>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Is the change wanted? Norms, gatekeeping, education. Correct code can still be unwanted.</a:t>
            </a:r>
          </a:p>
        </p:txBody>
      </p:sp>
      <p:sp>
        <p:nvSpPr>
          <p:cNvPr id="16" name="TextBox 15"/>
          <p:cNvSpPr txBox="1"/>
          <p:nvPr/>
        </p:nvSpPr>
        <p:spPr>
          <a:xfrm>
            <a:off x="548640" y="4045060"/>
            <a:ext cx="11094415" cy="785545"/>
          </a:xfrm>
          <a:prstGeom prst="rect">
            <a:avLst/>
          </a:prstGeom>
          <a:noFill/>
        </p:spPr>
        <p:txBody>
          <a:bodyPr wrap="square" lIns="0" rIns="0" tIns="0" bIns="0" anchor="t">
            <a:spAutoFit/>
          </a:bodyPr>
          <a:lstStyle/>
          <a:p>
            <a:pPr algn="l">
              <a:lnSpc>
                <a:spcPct val="115000"/>
              </a:lnSpc>
              <a:spcAft>
                <a:spcPts val="0"/>
              </a:spcAft>
            </a:pPr>
            <a:r>
              <a:rPr b="0" sz="1690" i="0">
                <a:solidFill>
                  <a:srgbClr val="161225"/>
                </a:solidFill>
                <a:latin typeface="Arial"/>
              </a:rPr>
              <a:t>Atlassian replaced 20 CI/CD servers with one platform and cut lead time from 2 days to 90 minutes. Cloudflare runs one reviewer with per-team config and a logged break-glass. </a:t>
            </a:r>
            <a:r>
              <a:rPr b="1" sz="1690" i="0">
                <a:solidFill>
                  <a:srgbClr val="161225"/>
                </a:solidFill>
                <a:latin typeface="Arial"/>
              </a:rPr>
              <a:t>Shared tools, local approval.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F5F5F2"/>
                </a:solidFill>
                <a:latin typeface="Arial"/>
              </a:rPr>
              <a:t>Vipps MobilePay</a:t>
            </a:r>
          </a:p>
        </p:txBody>
      </p:sp>
      <p:sp>
        <p:nvSpPr>
          <p:cNvPr id="4" name="TextBox 3"/>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19</a:t>
            </a:r>
          </a:p>
        </p:txBody>
      </p:sp>
      <p:sp>
        <p:nvSpPr>
          <p:cNvPr id="5" name="TextBox 4"/>
          <p:cNvSpPr txBox="1"/>
          <p:nvPr/>
        </p:nvSpPr>
        <p:spPr>
          <a:xfrm>
            <a:off x="548640" y="292608"/>
            <a:ext cx="11094415" cy="274320"/>
          </a:xfrm>
          <a:prstGeom prst="rect">
            <a:avLst/>
          </a:prstGeom>
          <a:noFill/>
        </p:spPr>
        <p:txBody>
          <a:bodyPr wrap="square" lIns="0" rIns="0" tIns="0" bIns="0" anchor="t">
            <a:spAutoFit/>
          </a:bodyPr>
          <a:lstStyle/>
          <a:p>
            <a:pPr algn="l">
              <a:lnSpc>
                <a:spcPct val="115000"/>
              </a:lnSpc>
              <a:spcAft>
                <a:spcPts val="0"/>
              </a:spcAft>
            </a:pPr>
            <a:r>
              <a:rPr b="1" sz="1100" i="0">
                <a:solidFill>
                  <a:srgbClr val="F5F5F2"/>
                </a:solidFill>
                <a:latin typeface="Arial"/>
              </a:rPr>
              <a:t>Vipps MobilePay</a:t>
            </a:r>
          </a:p>
        </p:txBody>
      </p:sp>
      <p:sp>
        <p:nvSpPr>
          <p:cNvPr id="6" name="TextBox 5"/>
          <p:cNvSpPr txBox="1"/>
          <p:nvPr/>
        </p:nvSpPr>
        <p:spPr>
          <a:xfrm>
            <a:off x="548640" y="1417320"/>
            <a:ext cx="2377440" cy="1371600"/>
          </a:xfrm>
          <a:prstGeom prst="rect">
            <a:avLst/>
          </a:prstGeom>
          <a:noFill/>
        </p:spPr>
        <p:txBody>
          <a:bodyPr wrap="square" lIns="0" rIns="0" tIns="0" bIns="0" anchor="t">
            <a:spAutoFit/>
          </a:bodyPr>
          <a:lstStyle/>
          <a:p>
            <a:pPr algn="l">
              <a:lnSpc>
                <a:spcPct val="100000"/>
              </a:lnSpc>
              <a:spcAft>
                <a:spcPts val="0"/>
              </a:spcAft>
            </a:pPr>
            <a:r>
              <a:rPr b="1" sz="9600" i="0">
                <a:solidFill>
                  <a:srgbClr val="FF5B24"/>
                </a:solidFill>
                <a:latin typeface="Arial"/>
              </a:rPr>
              <a:t>04</a:t>
            </a:r>
          </a:p>
        </p:txBody>
      </p:sp>
      <p:sp>
        <p:nvSpPr>
          <p:cNvPr id="7" name="TextBox 6"/>
          <p:cNvSpPr txBox="1"/>
          <p:nvPr/>
        </p:nvSpPr>
        <p:spPr>
          <a:xfrm>
            <a:off x="2697480" y="1874519"/>
            <a:ext cx="8945575" cy="991615"/>
          </a:xfrm>
          <a:prstGeom prst="rect">
            <a:avLst/>
          </a:prstGeom>
          <a:noFill/>
        </p:spPr>
        <p:txBody>
          <a:bodyPr wrap="square" lIns="0" rIns="0" tIns="0" bIns="0" anchor="b">
            <a:spAutoFit/>
          </a:bodyPr>
          <a:lstStyle/>
          <a:p>
            <a:pPr algn="l">
              <a:lnSpc>
                <a:spcPct val="122000"/>
              </a:lnSpc>
              <a:spcAft>
                <a:spcPts val="0"/>
              </a:spcAft>
            </a:pPr>
            <a:r>
              <a:rPr b="1" sz="3200" i="0">
                <a:solidFill>
                  <a:srgbClr val="F5F5F2"/>
                </a:solidFill>
                <a:latin typeface="Arial"/>
              </a:rPr>
              <a:t>What would I try first?</a:t>
            </a:r>
          </a:p>
        </p:txBody>
      </p:sp>
      <p:sp>
        <p:nvSpPr>
          <p:cNvPr id="8" name="TextBox 7"/>
          <p:cNvSpPr txBox="1"/>
          <p:nvPr/>
        </p:nvSpPr>
        <p:spPr>
          <a:xfrm>
            <a:off x="2697480" y="3140455"/>
            <a:ext cx="8945575" cy="247649"/>
          </a:xfrm>
          <a:prstGeom prst="rect">
            <a:avLst/>
          </a:prstGeom>
          <a:noFill/>
        </p:spPr>
        <p:txBody>
          <a:bodyPr wrap="square" lIns="0" rIns="0" tIns="0" bIns="0" anchor="t">
            <a:spAutoFit/>
          </a:bodyPr>
          <a:lstStyle/>
          <a:p>
            <a:pPr algn="l">
              <a:lnSpc>
                <a:spcPct val="130000"/>
              </a:lnSpc>
              <a:spcAft>
                <a:spcPts val="0"/>
              </a:spcAft>
            </a:pPr>
            <a:r>
              <a:rPr b="0" sz="1500" i="0">
                <a:solidFill>
                  <a:srgbClr val="F5F5F2"/>
                </a:solidFill>
                <a:latin typeface="Arial"/>
              </a:rPr>
              <a:t>Five things, cheapest first. Four of them exist today. The fifth is mine and unproven.</a:t>
            </a:r>
          </a:p>
        </p:txBody>
      </p:sp>
      <p:sp>
        <p:nvSpPr>
          <p:cNvPr id="9" name="Rectangle 8"/>
          <p:cNvSpPr/>
          <p:nvPr/>
        </p:nvSpPr>
        <p:spPr>
          <a:xfrm>
            <a:off x="2697480" y="3836162"/>
            <a:ext cx="146304" cy="1828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71800" y="3772154"/>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B9B8BE"/>
                </a:solidFill>
                <a:latin typeface="Arial"/>
              </a:rPr>
              <a:t>What I would try before building a review service</a:t>
            </a:r>
          </a:p>
        </p:txBody>
      </p:sp>
      <p:sp>
        <p:nvSpPr>
          <p:cNvPr id="11" name="Rectangle 10"/>
          <p:cNvSpPr/>
          <p:nvPr/>
        </p:nvSpPr>
        <p:spPr>
          <a:xfrm>
            <a:off x="2697480" y="4110482"/>
            <a:ext cx="146304" cy="18288"/>
          </a:xfrm>
          <a:prstGeom prst="rect">
            <a:avLst/>
          </a:prstGeom>
          <a:solidFill>
            <a:srgbClr val="5A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71800" y="4046474"/>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B9B8BE"/>
                </a:solidFill>
                <a:latin typeface="Arial"/>
              </a:rPr>
              <a:t>The author's half of four eyes</a:t>
            </a:r>
          </a:p>
        </p:txBody>
      </p:sp>
      <p:sp>
        <p:nvSpPr>
          <p:cNvPr id="13" name="Oval 12"/>
          <p:cNvSpPr/>
          <p:nvPr/>
        </p:nvSpPr>
        <p:spPr>
          <a:xfrm>
            <a:off x="10332720" y="5394960"/>
            <a:ext cx="457200" cy="457200"/>
          </a:xfrm>
          <a:prstGeom prst="ellipse">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927080" y="5532120"/>
            <a:ext cx="310896" cy="310896"/>
          </a:xfrm>
          <a:prstGeom prst="roundRect">
            <a:avLst>
              <a:gd name="adj" fmla="val 4000"/>
            </a:avLst>
          </a:prstGeom>
          <a:noFill/>
          <a:ln w="19050">
            <a:solidFill>
              <a:srgbClr val="5A7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FF5B24"/>
                </a:solidFill>
                <a:latin typeface="Arial"/>
              </a:rPr>
              <a:t>SLIDE 20 · 04 · WHAT I WOULD TRY FIRST</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161225"/>
                </a:solidFill>
                <a:latin typeface="Arial"/>
              </a:rPr>
              <a:t>What I would try before building a review service</a:t>
            </a:r>
          </a:p>
        </p:txBody>
      </p:sp>
      <p:sp>
        <p:nvSpPr>
          <p:cNvPr id="5" name="Rectangle 4"/>
          <p:cNvSpPr/>
          <p:nvPr/>
        </p:nvSpPr>
        <p:spPr>
          <a:xfrm>
            <a:off x="548640" y="1115568"/>
            <a:ext cx="1097280" cy="4114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161225"/>
                </a:solidFill>
                <a:latin typeface="Arial"/>
              </a:rPr>
              <a:t>Vipps MobilePay</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20</a:t>
            </a:r>
          </a:p>
        </p:txBody>
      </p:sp>
      <p:sp>
        <p:nvSpPr>
          <p:cNvPr id="8" name="TextBox 7"/>
          <p:cNvSpPr txBox="1"/>
          <p:nvPr/>
        </p:nvSpPr>
        <p:spPr>
          <a:xfrm>
            <a:off x="548640" y="2103120"/>
            <a:ext cx="11094415" cy="1915318"/>
          </a:xfrm>
          <a:prstGeom prst="rect">
            <a:avLst/>
          </a:prstGeom>
          <a:noFill/>
        </p:spPr>
        <p:txBody>
          <a:bodyPr wrap="square" lIns="0" rIns="0" tIns="0" bIns="0">
            <a:spAutoFit/>
          </a:bodyPr>
          <a:lstStyle/>
          <a:p>
            <a:pPr>
              <a:lnSpc>
                <a:spcPct val="115000"/>
              </a:lnSpc>
              <a:spcAft>
                <a:spcPts val="400"/>
              </a:spcAft>
            </a:pPr>
            <a:r>
              <a:rPr sz="1625" b="1">
                <a:solidFill>
                  <a:srgbClr val="5A78FF"/>
                </a:solidFill>
                <a:latin typeface="Arial"/>
              </a:rPr>
              <a:t>1.  </a:t>
            </a:r>
            <a:r>
              <a:rPr b="1" sz="1625" i="0">
                <a:solidFill>
                  <a:srgbClr val="161225"/>
                </a:solidFill>
                <a:latin typeface="Arial"/>
              </a:rPr>
              <a:t>Turn on what already exists.</a:t>
            </a:r>
            <a:r>
              <a:rPr b="0" sz="1625" i="0">
                <a:solidFill>
                  <a:srgbClr val="161225"/>
                </a:solidFill>
                <a:latin typeface="Arial"/>
              </a:rPr>
              <a:t> Required reviews, status checks, secret and dependency scanning. I have not checked what is on today.</a:t>
            </a:r>
          </a:p>
          <a:p>
            <a:pPr>
              <a:lnSpc>
                <a:spcPct val="115000"/>
              </a:lnSpc>
              <a:spcAft>
                <a:spcPts val="400"/>
              </a:spcAft>
            </a:pPr>
            <a:r>
              <a:rPr sz="1625" b="1">
                <a:solidFill>
                  <a:srgbClr val="5A78FF"/>
                </a:solidFill>
                <a:latin typeface="Arial"/>
              </a:rPr>
              <a:t>2.  </a:t>
            </a:r>
            <a:r>
              <a:rPr b="1" sz="1625" i="0">
                <a:solidFill>
                  <a:srgbClr val="161225"/>
                </a:solidFill>
                <a:latin typeface="Arial"/>
              </a:rPr>
              <a:t>Tier repositories by what they touch.</a:t>
            </a:r>
            <a:r>
              <a:rPr b="0" sz="1625" i="0">
                <a:solidFill>
                  <a:srgbClr val="161225"/>
                </a:solidFill>
                <a:latin typeface="Arial"/>
              </a:rPr>
              <a:t> More from the ones that move money, less from the internal chatbot.</a:t>
            </a:r>
          </a:p>
          <a:p>
            <a:pPr>
              <a:lnSpc>
                <a:spcPct val="115000"/>
              </a:lnSpc>
              <a:spcAft>
                <a:spcPts val="400"/>
              </a:spcAft>
            </a:pPr>
            <a:r>
              <a:rPr sz="1625" b="1">
                <a:solidFill>
                  <a:srgbClr val="5A78FF"/>
                </a:solidFill>
                <a:latin typeface="Arial"/>
              </a:rPr>
              <a:t>3.  </a:t>
            </a:r>
            <a:r>
              <a:rPr b="1" sz="1625" i="0">
                <a:solidFill>
                  <a:srgbClr val="161225"/>
                </a:solidFill>
                <a:latin typeface="Arial"/>
              </a:rPr>
              <a:t>Centralize the machinery.</a:t>
            </a:r>
            <a:r>
              <a:rPr b="0" sz="1625" i="0">
                <a:solidFill>
                  <a:srgbClr val="161225"/>
                </a:solidFill>
                <a:latin typeface="Arial"/>
              </a:rPr>
              <a:t> Formatters, linters, scanners, once for the company.</a:t>
            </a:r>
          </a:p>
          <a:p>
            <a:pPr>
              <a:lnSpc>
                <a:spcPct val="115000"/>
              </a:lnSpc>
              <a:spcAft>
                <a:spcPts val="400"/>
              </a:spcAft>
            </a:pPr>
            <a:r>
              <a:rPr sz="1625" b="1">
                <a:solidFill>
                  <a:srgbClr val="5A78FF"/>
                </a:solidFill>
                <a:latin typeface="Arial"/>
              </a:rPr>
              <a:t>4.  </a:t>
            </a:r>
            <a:r>
              <a:rPr b="1" sz="1625" i="0">
                <a:solidFill>
                  <a:srgbClr val="161225"/>
                </a:solidFill>
                <a:latin typeface="Arial"/>
              </a:rPr>
              <a:t>Pair models across vendors.</a:t>
            </a:r>
            <a:r>
              <a:rPr b="0" sz="1625" i="0">
                <a:solidFill>
                  <a:srgbClr val="161225"/>
                </a:solidFill>
                <a:latin typeface="Arial"/>
              </a:rPr>
              <a:t> A different model family reviews what the first one wrote.</a:t>
            </a:r>
          </a:p>
          <a:p>
            <a:pPr>
              <a:lnSpc>
                <a:spcPct val="115000"/>
              </a:lnSpc>
              <a:spcAft>
                <a:spcPts val="400"/>
              </a:spcAft>
            </a:pPr>
            <a:r>
              <a:rPr sz="1625" b="1">
                <a:solidFill>
                  <a:srgbClr val="5A78FF"/>
                </a:solidFill>
                <a:latin typeface="Arial"/>
              </a:rPr>
              <a:t>5.  </a:t>
            </a:r>
            <a:r>
              <a:rPr b="1" sz="1625" i="0">
                <a:solidFill>
                  <a:srgbClr val="161225"/>
                </a:solidFill>
                <a:latin typeface="Arial"/>
              </a:rPr>
              <a:t>The author's half of four eyes.</a:t>
            </a:r>
            <a:r>
              <a:rPr b="0" sz="1625" i="0">
                <a:solidFill>
                  <a:srgbClr val="161225"/>
                </a:solidFill>
                <a:latin typeface="Arial"/>
              </a:rPr>
              <a:t> The one new idea. Next slide.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5A78FF"/>
                </a:solidFill>
                <a:latin typeface="Arial"/>
              </a:rPr>
              <a:t>SLIDE 21 · 04 · WHAT I WOULD TRY FIRST</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161225"/>
                </a:solidFill>
                <a:latin typeface="Arial"/>
              </a:rPr>
              <a:t>The author's half of four eyes</a:t>
            </a:r>
          </a:p>
        </p:txBody>
      </p:sp>
      <p:sp>
        <p:nvSpPr>
          <p:cNvPr id="5" name="Rectangle 4"/>
          <p:cNvSpPr/>
          <p:nvPr/>
        </p:nvSpPr>
        <p:spPr>
          <a:xfrm>
            <a:off x="548640" y="1115568"/>
            <a:ext cx="1097280" cy="4114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161225"/>
                </a:solidFill>
                <a:latin typeface="Arial"/>
              </a:rPr>
              <a:t>Vipps MobilePay</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21</a:t>
            </a:r>
          </a:p>
        </p:txBody>
      </p:sp>
      <p:sp>
        <p:nvSpPr>
          <p:cNvPr id="8" name="TextBox 7"/>
          <p:cNvSpPr txBox="1"/>
          <p:nvPr/>
        </p:nvSpPr>
        <p:spPr>
          <a:xfrm>
            <a:off x="548640" y="1916849"/>
            <a:ext cx="11094415" cy="261848"/>
          </a:xfrm>
          <a:prstGeom prst="rect">
            <a:avLst/>
          </a:prstGeom>
          <a:noFill/>
        </p:spPr>
        <p:txBody>
          <a:bodyPr wrap="square" lIns="0" rIns="0" tIns="0" bIns="0" anchor="t">
            <a:spAutoFit/>
          </a:bodyPr>
          <a:lstStyle/>
          <a:p>
            <a:pPr algn="l">
              <a:lnSpc>
                <a:spcPct val="115000"/>
              </a:lnSpc>
              <a:spcAft>
                <a:spcPts val="0"/>
              </a:spcAft>
            </a:pPr>
            <a:r>
              <a:rPr b="0" sz="1690" i="0">
                <a:solidFill>
                  <a:srgbClr val="161225"/>
                </a:solidFill>
                <a:latin typeface="Arial"/>
              </a:rPr>
              <a:t>Before opening a pull request, the author explains the change in their own words.</a:t>
            </a:r>
          </a:p>
        </p:txBody>
      </p:sp>
      <p:sp>
        <p:nvSpPr>
          <p:cNvPr id="9" name="Rounded Rectangle 8"/>
          <p:cNvSpPr/>
          <p:nvPr/>
        </p:nvSpPr>
        <p:spPr>
          <a:xfrm>
            <a:off x="548640" y="2699905"/>
            <a:ext cx="3576218" cy="1708467"/>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809633"/>
            <a:ext cx="45720" cy="1489011"/>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827921"/>
            <a:ext cx="3210458" cy="288353"/>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Why</a:t>
            </a:r>
          </a:p>
        </p:txBody>
      </p:sp>
      <p:sp>
        <p:nvSpPr>
          <p:cNvPr id="12" name="TextBox 11"/>
          <p:cNvSpPr txBox="1"/>
          <p:nvPr/>
        </p:nvSpPr>
        <p:spPr>
          <a:xfrm>
            <a:off x="749808" y="3189427"/>
            <a:ext cx="3210458" cy="1036065"/>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Explaining something yourself measurably deepens your understanding.</a:t>
            </a:r>
          </a:p>
        </p:txBody>
      </p:sp>
      <p:sp>
        <p:nvSpPr>
          <p:cNvPr id="13" name="Rounded Rectangle 12"/>
          <p:cNvSpPr/>
          <p:nvPr/>
        </p:nvSpPr>
        <p:spPr>
          <a:xfrm>
            <a:off x="4307738" y="2699905"/>
            <a:ext cx="3576218" cy="1708467"/>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2809633"/>
            <a:ext cx="45720" cy="1489011"/>
          </a:xfrm>
          <a:prstGeom prst="rect">
            <a:avLst/>
          </a:prstGeom>
          <a:solidFill>
            <a:srgbClr val="5A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8906" y="2827921"/>
            <a:ext cx="3210458" cy="288353"/>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Limit</a:t>
            </a:r>
          </a:p>
        </p:txBody>
      </p:sp>
      <p:sp>
        <p:nvSpPr>
          <p:cNvPr id="16" name="TextBox 15"/>
          <p:cNvSpPr txBox="1"/>
          <p:nvPr/>
        </p:nvSpPr>
        <p:spPr>
          <a:xfrm>
            <a:off x="4508906" y="3189427"/>
            <a:ext cx="3210458" cy="1036065"/>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Across 80.000 pull requests, descriptions rarely changed the review. Except when they explained and asked.</a:t>
            </a:r>
          </a:p>
        </p:txBody>
      </p:sp>
      <p:sp>
        <p:nvSpPr>
          <p:cNvPr id="17" name="Rounded Rectangle 16"/>
          <p:cNvSpPr/>
          <p:nvPr/>
        </p:nvSpPr>
        <p:spPr>
          <a:xfrm>
            <a:off x="8066836" y="2699905"/>
            <a:ext cx="3576218" cy="1708467"/>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6836" y="2809633"/>
            <a:ext cx="45720" cy="1489011"/>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8004" y="2827921"/>
            <a:ext cx="3210458" cy="288353"/>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Risk</a:t>
            </a:r>
          </a:p>
        </p:txBody>
      </p:sp>
      <p:sp>
        <p:nvSpPr>
          <p:cNvPr id="20" name="TextBox 19"/>
          <p:cNvSpPr txBox="1"/>
          <p:nvPr/>
        </p:nvSpPr>
        <p:spPr>
          <a:xfrm>
            <a:off x="8268004" y="3189427"/>
            <a:ext cx="3210458" cy="1036065"/>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A required field decays into "N/A".</a:t>
            </a:r>
          </a:p>
        </p:txBody>
      </p:sp>
      <p:sp>
        <p:nvSpPr>
          <p:cNvPr id="21" name="TextBox 20"/>
          <p:cNvSpPr txBox="1"/>
          <p:nvPr/>
        </p:nvSpPr>
        <p:spPr>
          <a:xfrm>
            <a:off x="548640" y="4893005"/>
            <a:ext cx="11094415" cy="261848"/>
          </a:xfrm>
          <a:prstGeom prst="rect">
            <a:avLst/>
          </a:prstGeom>
          <a:noFill/>
        </p:spPr>
        <p:txBody>
          <a:bodyPr wrap="square" lIns="0" rIns="0" tIns="0" bIns="0" anchor="t">
            <a:spAutoFit/>
          </a:bodyPr>
          <a:lstStyle/>
          <a:p>
            <a:pPr algn="l">
              <a:lnSpc>
                <a:spcPct val="115000"/>
              </a:lnSpc>
              <a:spcAft>
                <a:spcPts val="0"/>
              </a:spcAft>
            </a:pPr>
            <a:r>
              <a:rPr b="1" sz="1690" i="0">
                <a:solidFill>
                  <a:srgbClr val="161225"/>
                </a:solidFill>
                <a:latin typeface="Arial"/>
              </a:rPr>
              <a:t>Status:</a:t>
            </a:r>
            <a:r>
              <a:rPr b="0" sz="1690" i="0">
                <a:solidFill>
                  <a:srgbClr val="161225"/>
                </a:solidFill>
                <a:latin typeface="Arial"/>
              </a:rPr>
              <a:t> Prototype 0.1 is a design. No team has used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F5F5F2"/>
                </a:solidFill>
                <a:latin typeface="Arial"/>
              </a:rPr>
              <a:t>Vipps MobilePay</a:t>
            </a:r>
          </a:p>
        </p:txBody>
      </p:sp>
      <p:sp>
        <p:nvSpPr>
          <p:cNvPr id="4" name="TextBox 3"/>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22</a:t>
            </a:r>
          </a:p>
        </p:txBody>
      </p:sp>
      <p:sp>
        <p:nvSpPr>
          <p:cNvPr id="5" name="TextBox 4"/>
          <p:cNvSpPr txBox="1"/>
          <p:nvPr/>
        </p:nvSpPr>
        <p:spPr>
          <a:xfrm>
            <a:off x="548640" y="292608"/>
            <a:ext cx="11094415" cy="274320"/>
          </a:xfrm>
          <a:prstGeom prst="rect">
            <a:avLst/>
          </a:prstGeom>
          <a:noFill/>
        </p:spPr>
        <p:txBody>
          <a:bodyPr wrap="square" lIns="0" rIns="0" tIns="0" bIns="0" anchor="t">
            <a:spAutoFit/>
          </a:bodyPr>
          <a:lstStyle/>
          <a:p>
            <a:pPr algn="l">
              <a:lnSpc>
                <a:spcPct val="115000"/>
              </a:lnSpc>
              <a:spcAft>
                <a:spcPts val="0"/>
              </a:spcAft>
            </a:pPr>
            <a:r>
              <a:rPr b="1" sz="1100" i="0">
                <a:solidFill>
                  <a:srgbClr val="F5F5F2"/>
                </a:solidFill>
                <a:latin typeface="Arial"/>
              </a:rPr>
              <a:t>Vipps MobilePay</a:t>
            </a:r>
          </a:p>
        </p:txBody>
      </p:sp>
      <p:sp>
        <p:nvSpPr>
          <p:cNvPr id="6" name="TextBox 5"/>
          <p:cNvSpPr txBox="1"/>
          <p:nvPr/>
        </p:nvSpPr>
        <p:spPr>
          <a:xfrm>
            <a:off x="548640" y="1417320"/>
            <a:ext cx="2377440" cy="1371600"/>
          </a:xfrm>
          <a:prstGeom prst="rect">
            <a:avLst/>
          </a:prstGeom>
          <a:noFill/>
        </p:spPr>
        <p:txBody>
          <a:bodyPr wrap="square" lIns="0" rIns="0" tIns="0" bIns="0" anchor="t">
            <a:spAutoFit/>
          </a:bodyPr>
          <a:lstStyle/>
          <a:p>
            <a:pPr algn="l">
              <a:lnSpc>
                <a:spcPct val="100000"/>
              </a:lnSpc>
              <a:spcAft>
                <a:spcPts val="0"/>
              </a:spcAft>
            </a:pPr>
            <a:r>
              <a:rPr b="1" sz="9600" i="0">
                <a:solidFill>
                  <a:srgbClr val="FF5B24"/>
                </a:solidFill>
                <a:latin typeface="Arial"/>
              </a:rPr>
              <a:t>05</a:t>
            </a:r>
          </a:p>
        </p:txBody>
      </p:sp>
      <p:sp>
        <p:nvSpPr>
          <p:cNvPr id="7" name="TextBox 6"/>
          <p:cNvSpPr txBox="1"/>
          <p:nvPr/>
        </p:nvSpPr>
        <p:spPr>
          <a:xfrm>
            <a:off x="2697480" y="1874519"/>
            <a:ext cx="8945575" cy="991615"/>
          </a:xfrm>
          <a:prstGeom prst="rect">
            <a:avLst/>
          </a:prstGeom>
          <a:noFill/>
        </p:spPr>
        <p:txBody>
          <a:bodyPr wrap="square" lIns="0" rIns="0" tIns="0" bIns="0" anchor="b">
            <a:spAutoFit/>
          </a:bodyPr>
          <a:lstStyle/>
          <a:p>
            <a:pPr algn="l">
              <a:lnSpc>
                <a:spcPct val="122000"/>
              </a:lnSpc>
              <a:spcAft>
                <a:spcPts val="0"/>
              </a:spcAft>
            </a:pPr>
            <a:r>
              <a:rPr b="1" sz="3200" i="0">
                <a:solidFill>
                  <a:srgbClr val="F5F5F2"/>
                </a:solidFill>
                <a:latin typeface="Arial"/>
              </a:rPr>
              <a:t>What would I do in one repository?</a:t>
            </a:r>
          </a:p>
        </p:txBody>
      </p:sp>
      <p:sp>
        <p:nvSpPr>
          <p:cNvPr id="8" name="TextBox 7"/>
          <p:cNvSpPr txBox="1"/>
          <p:nvPr/>
        </p:nvSpPr>
        <p:spPr>
          <a:xfrm>
            <a:off x="2697480" y="3140455"/>
            <a:ext cx="8945575" cy="495299"/>
          </a:xfrm>
          <a:prstGeom prst="rect">
            <a:avLst/>
          </a:prstGeom>
          <a:noFill/>
        </p:spPr>
        <p:txBody>
          <a:bodyPr wrap="square" lIns="0" rIns="0" tIns="0" bIns="0" anchor="t">
            <a:spAutoFit/>
          </a:bodyPr>
          <a:lstStyle/>
          <a:p>
            <a:pPr algn="l">
              <a:lnSpc>
                <a:spcPct val="130000"/>
              </a:lnSpc>
              <a:spcAft>
                <a:spcPts val="0"/>
              </a:spcAft>
            </a:pPr>
            <a:r>
              <a:rPr b="0" sz="1500" i="0">
                <a:solidFill>
                  <a:srgbClr val="F5F5F2"/>
                </a:solidFill>
                <a:latin typeface="Arial"/>
              </a:rPr>
              <a:t>Chapter 04 was the order for the company. This is the same order in one repository, with the file each step lives in.</a:t>
            </a:r>
          </a:p>
        </p:txBody>
      </p:sp>
      <p:sp>
        <p:nvSpPr>
          <p:cNvPr id="9" name="Rectangle 8"/>
          <p:cNvSpPr/>
          <p:nvPr/>
        </p:nvSpPr>
        <p:spPr>
          <a:xfrm>
            <a:off x="2697480" y="4083812"/>
            <a:ext cx="146304" cy="1828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71800" y="4019804"/>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B9B8BE"/>
                </a:solidFill>
                <a:latin typeface="Arial"/>
              </a:rPr>
              <a:t>First, decide what this repository touches</a:t>
            </a:r>
          </a:p>
        </p:txBody>
      </p:sp>
      <p:sp>
        <p:nvSpPr>
          <p:cNvPr id="11" name="Rectangle 10"/>
          <p:cNvSpPr/>
          <p:nvPr/>
        </p:nvSpPr>
        <p:spPr>
          <a:xfrm>
            <a:off x="2697480" y="4358132"/>
            <a:ext cx="146304" cy="18288"/>
          </a:xfrm>
          <a:prstGeom prst="rect">
            <a:avLst/>
          </a:prstGeom>
          <a:solidFill>
            <a:srgbClr val="5A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71800" y="4294124"/>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B9B8BE"/>
                </a:solidFill>
                <a:latin typeface="Arial"/>
              </a:rPr>
              <a:t>Make the mechanical checks unskippable</a:t>
            </a:r>
          </a:p>
        </p:txBody>
      </p:sp>
      <p:sp>
        <p:nvSpPr>
          <p:cNvPr id="13" name="Rectangle 12"/>
          <p:cNvSpPr/>
          <p:nvPr/>
        </p:nvSpPr>
        <p:spPr>
          <a:xfrm>
            <a:off x="2697480" y="4632452"/>
            <a:ext cx="146304" cy="1828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1800" y="4568443"/>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B9B8BE"/>
                </a:solidFill>
                <a:latin typeface="Arial"/>
              </a:rPr>
              <a:t>Two decisions that follow from the tier</a:t>
            </a:r>
          </a:p>
        </p:txBody>
      </p:sp>
      <p:sp>
        <p:nvSpPr>
          <p:cNvPr id="15" name="Rectangle 14"/>
          <p:cNvSpPr/>
          <p:nvPr/>
        </p:nvSpPr>
        <p:spPr>
          <a:xfrm>
            <a:off x="2697480" y="4906772"/>
            <a:ext cx="146304" cy="18288"/>
          </a:xfrm>
          <a:prstGeom prst="rect">
            <a:avLst/>
          </a:prstGeom>
          <a:solidFill>
            <a:srgbClr val="5A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71800" y="4842763"/>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B9B8BE"/>
                </a:solidFill>
                <a:latin typeface="Arial"/>
              </a:rPr>
              <a:t>Ask the author for what no check can see</a:t>
            </a:r>
          </a:p>
        </p:txBody>
      </p:sp>
      <p:sp>
        <p:nvSpPr>
          <p:cNvPr id="17" name="Rectangle 16"/>
          <p:cNvSpPr/>
          <p:nvPr/>
        </p:nvSpPr>
        <p:spPr>
          <a:xfrm>
            <a:off x="2697480" y="5181091"/>
            <a:ext cx="146304" cy="1828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71800" y="5117083"/>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B9B8BE"/>
                </a:solidFill>
                <a:latin typeface="Arial"/>
              </a:rPr>
              <a:t>The first week</a:t>
            </a:r>
          </a:p>
        </p:txBody>
      </p:sp>
      <p:sp>
        <p:nvSpPr>
          <p:cNvPr id="19" name="Oval 18"/>
          <p:cNvSpPr/>
          <p:nvPr/>
        </p:nvSpPr>
        <p:spPr>
          <a:xfrm>
            <a:off x="10332720" y="5394960"/>
            <a:ext cx="457200" cy="457200"/>
          </a:xfrm>
          <a:prstGeom prst="ellipse">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927080" y="5532120"/>
            <a:ext cx="310896" cy="310896"/>
          </a:xfrm>
          <a:prstGeom prst="roundRect">
            <a:avLst>
              <a:gd name="adj" fmla="val 4000"/>
            </a:avLst>
          </a:prstGeom>
          <a:noFill/>
          <a:ln w="19050">
            <a:solidFill>
              <a:srgbClr val="5A7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5A78FF"/>
                </a:solidFill>
                <a:latin typeface="Arial"/>
              </a:rPr>
              <a:t>SLIDE 23 · 05 · IN ONE REPOSITORY</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161225"/>
                </a:solidFill>
                <a:latin typeface="Arial"/>
              </a:rPr>
              <a:t>First, decide what this repository touches</a:t>
            </a:r>
          </a:p>
        </p:txBody>
      </p:sp>
      <p:sp>
        <p:nvSpPr>
          <p:cNvPr id="5" name="Rectangle 4"/>
          <p:cNvSpPr/>
          <p:nvPr/>
        </p:nvSpPr>
        <p:spPr>
          <a:xfrm>
            <a:off x="548640" y="1115568"/>
            <a:ext cx="1097280" cy="4114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161225"/>
                </a:solidFill>
                <a:latin typeface="Arial"/>
              </a:rPr>
              <a:t>Vipps MobilePay</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23</a:t>
            </a:r>
          </a:p>
        </p:txBody>
      </p:sp>
      <p:sp>
        <p:nvSpPr>
          <p:cNvPr id="8" name="TextBox 7"/>
          <p:cNvSpPr txBox="1"/>
          <p:nvPr/>
        </p:nvSpPr>
        <p:spPr>
          <a:xfrm>
            <a:off x="548640" y="1780194"/>
            <a:ext cx="11094415" cy="523697"/>
          </a:xfrm>
          <a:prstGeom prst="rect">
            <a:avLst/>
          </a:prstGeom>
          <a:noFill/>
        </p:spPr>
        <p:txBody>
          <a:bodyPr wrap="square" lIns="0" rIns="0" tIns="0" bIns="0" anchor="t">
            <a:spAutoFit/>
          </a:bodyPr>
          <a:lstStyle/>
          <a:p>
            <a:pPr algn="l">
              <a:lnSpc>
                <a:spcPct val="115000"/>
              </a:lnSpc>
              <a:spcAft>
                <a:spcPts val="0"/>
              </a:spcAft>
            </a:pPr>
            <a:r>
              <a:rPr b="0" sz="1690" i="0">
                <a:solidFill>
                  <a:srgbClr val="161225"/>
                </a:solidFill>
                <a:latin typeface="Arial"/>
              </a:rPr>
              <a:t>Chapter 04 tiered repositories and never said who does the tiering. This repository has to answer for itself, because the answer sets how strict everything after it should be.</a:t>
            </a:r>
          </a:p>
        </p:txBody>
      </p:sp>
      <p:sp>
        <p:nvSpPr>
          <p:cNvPr id="9" name="TextBox 8"/>
          <p:cNvSpPr txBox="1"/>
          <p:nvPr/>
        </p:nvSpPr>
        <p:spPr>
          <a:xfrm>
            <a:off x="548640" y="2825100"/>
            <a:ext cx="11094415" cy="1389856"/>
          </a:xfrm>
          <a:prstGeom prst="rect">
            <a:avLst/>
          </a:prstGeom>
          <a:noFill/>
        </p:spPr>
        <p:txBody>
          <a:bodyPr wrap="square" lIns="0" rIns="0" tIns="0" bIns="0">
            <a:spAutoFit/>
          </a:bodyPr>
          <a:lstStyle/>
          <a:p>
            <a:pPr>
              <a:lnSpc>
                <a:spcPct val="115000"/>
              </a:lnSpc>
              <a:spcAft>
                <a:spcPts val="400"/>
              </a:spcAft>
            </a:pPr>
            <a:r>
              <a:rPr sz="1625" b="1">
                <a:solidFill>
                  <a:srgbClr val="5A78FF"/>
                </a:solidFill>
                <a:latin typeface="Arial"/>
              </a:rPr>
              <a:t>—  </a:t>
            </a:r>
            <a:r>
              <a:rPr b="0" sz="1625" i="0">
                <a:solidFill>
                  <a:srgbClr val="161225"/>
                </a:solidFill>
                <a:latin typeface="Arial"/>
              </a:rPr>
              <a:t>Does it move money, hold customer data, or neither?</a:t>
            </a:r>
          </a:p>
          <a:p>
            <a:pPr>
              <a:lnSpc>
                <a:spcPct val="115000"/>
              </a:lnSpc>
              <a:spcAft>
                <a:spcPts val="400"/>
              </a:spcAft>
            </a:pPr>
            <a:r>
              <a:rPr sz="1625" b="1">
                <a:solidFill>
                  <a:srgbClr val="5A78FF"/>
                </a:solidFill>
                <a:latin typeface="Arial"/>
              </a:rPr>
              <a:t>—  </a:t>
            </a:r>
            <a:r>
              <a:rPr b="0" sz="1625" i="0">
                <a:solidFill>
                  <a:srgbClr val="161225"/>
                </a:solidFill>
                <a:latin typeface="Arial"/>
              </a:rPr>
              <a:t>Write the answer in the README, under a short "Review rules" heading</a:t>
            </a:r>
          </a:p>
          <a:p>
            <a:pPr>
              <a:lnSpc>
                <a:spcPct val="115000"/>
              </a:lnSpc>
              <a:spcAft>
                <a:spcPts val="400"/>
              </a:spcAft>
            </a:pPr>
            <a:r>
              <a:rPr sz="1625" b="1">
                <a:solidFill>
                  <a:srgbClr val="5A78FF"/>
                </a:solidFill>
                <a:latin typeface="Arial"/>
              </a:rPr>
              <a:t>—  </a:t>
            </a:r>
            <a:r>
              <a:rPr b="0" sz="1625" i="0">
                <a:solidFill>
                  <a:srgbClr val="161225"/>
                </a:solidFill>
                <a:latin typeface="Arial"/>
              </a:rPr>
              <a:t>Say what follows: how many reviewers, whether a machine may approve, whether a security review is mandatory</a:t>
            </a:r>
          </a:p>
          <a:p>
            <a:pPr>
              <a:lnSpc>
                <a:spcPct val="115000"/>
              </a:lnSpc>
              <a:spcAft>
                <a:spcPts val="400"/>
              </a:spcAft>
            </a:pPr>
            <a:r>
              <a:rPr sz="1625" b="1">
                <a:solidFill>
                  <a:srgbClr val="5A78FF"/>
                </a:solidFill>
                <a:latin typeface="Arial"/>
              </a:rPr>
              <a:t>—  </a:t>
            </a:r>
            <a:r>
              <a:rPr b="0" sz="1625" i="0">
                <a:solidFill>
                  <a:srgbClr val="161225"/>
                </a:solidFill>
                <a:latin typeface="Arial"/>
              </a:rPr>
              <a:t>Revisit it when the repository starts touching something new</a:t>
            </a:r>
          </a:p>
        </p:txBody>
      </p:sp>
      <p:sp>
        <p:nvSpPr>
          <p:cNvPr id="10" name="Rectangle 9"/>
          <p:cNvSpPr/>
          <p:nvPr/>
        </p:nvSpPr>
        <p:spPr>
          <a:xfrm>
            <a:off x="548640" y="4699588"/>
            <a:ext cx="54864" cy="746861"/>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4791028"/>
            <a:ext cx="10682935" cy="563981"/>
          </a:xfrm>
          <a:prstGeom prst="rect">
            <a:avLst/>
          </a:prstGeom>
          <a:noFill/>
        </p:spPr>
        <p:txBody>
          <a:bodyPr wrap="square" lIns="0" rIns="0" tIns="0" bIns="0" anchor="ctr">
            <a:spAutoFit/>
          </a:bodyPr>
          <a:lstStyle/>
          <a:p>
            <a:pPr algn="l">
              <a:lnSpc>
                <a:spcPct val="115000"/>
              </a:lnSpc>
              <a:spcAft>
                <a:spcPts val="0"/>
              </a:spcAft>
            </a:pPr>
            <a:r>
              <a:rPr b="1" sz="1820" i="0">
                <a:solidFill>
                  <a:srgbClr val="161225"/>
                </a:solidFill>
                <a:latin typeface="Arial"/>
              </a:rPr>
              <a:t>One sentence in the README that a new joiner can find is more than most repositories have today.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FF5B24"/>
                </a:solidFill>
                <a:latin typeface="Arial"/>
              </a:rPr>
              <a:t>SLIDE 24 · 05 · IN ONE REPOSITORY</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161225"/>
                </a:solidFill>
                <a:latin typeface="Arial"/>
              </a:rPr>
              <a:t>Make the mechanical checks unskippable</a:t>
            </a:r>
          </a:p>
        </p:txBody>
      </p:sp>
      <p:sp>
        <p:nvSpPr>
          <p:cNvPr id="5" name="Rectangle 4"/>
          <p:cNvSpPr/>
          <p:nvPr/>
        </p:nvSpPr>
        <p:spPr>
          <a:xfrm>
            <a:off x="548640" y="1115568"/>
            <a:ext cx="1097280" cy="4114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161225"/>
                </a:solidFill>
                <a:latin typeface="Arial"/>
              </a:rPr>
              <a:t>Vipps MobilePay</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24</a:t>
            </a:r>
          </a:p>
        </p:txBody>
      </p:sp>
      <p:sp>
        <p:nvSpPr>
          <p:cNvPr id="8" name="Rounded Rectangle 7"/>
          <p:cNvSpPr/>
          <p:nvPr/>
        </p:nvSpPr>
        <p:spPr>
          <a:xfrm>
            <a:off x="548640" y="2103120"/>
            <a:ext cx="3576218" cy="1708467"/>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12848"/>
            <a:ext cx="45720" cy="1489011"/>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231136"/>
            <a:ext cx="3210458" cy="288353"/>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Run the checks</a:t>
            </a:r>
          </a:p>
        </p:txBody>
      </p:sp>
      <p:sp>
        <p:nvSpPr>
          <p:cNvPr id="11" name="TextBox 10"/>
          <p:cNvSpPr txBox="1"/>
          <p:nvPr/>
        </p:nvSpPr>
        <p:spPr>
          <a:xfrm>
            <a:off x="749808" y="2592641"/>
            <a:ext cx="3210458" cy="1036065"/>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Format, lint, test and static analysis in a workflow file. Dependency and secret scanning switched on.</a:t>
            </a:r>
          </a:p>
        </p:txBody>
      </p:sp>
      <p:sp>
        <p:nvSpPr>
          <p:cNvPr id="12" name="Rounded Rectangle 11"/>
          <p:cNvSpPr/>
          <p:nvPr/>
        </p:nvSpPr>
        <p:spPr>
          <a:xfrm>
            <a:off x="4307738" y="2103120"/>
            <a:ext cx="3576218" cy="1708467"/>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7738" y="2212848"/>
            <a:ext cx="45720" cy="1489011"/>
          </a:xfrm>
          <a:prstGeom prst="rect">
            <a:avLst/>
          </a:prstGeom>
          <a:solidFill>
            <a:srgbClr val="5A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8906" y="2231136"/>
            <a:ext cx="3210458" cy="288353"/>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Require the checks</a:t>
            </a:r>
          </a:p>
        </p:txBody>
      </p:sp>
      <p:sp>
        <p:nvSpPr>
          <p:cNvPr id="15" name="TextBox 14"/>
          <p:cNvSpPr txBox="1"/>
          <p:nvPr/>
        </p:nvSpPr>
        <p:spPr>
          <a:xfrm>
            <a:off x="4508906" y="2592641"/>
            <a:ext cx="3210458" cy="1036065"/>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Require each check by name. Require a pull request. Stop direct pushes to the default branch.</a:t>
            </a:r>
          </a:p>
        </p:txBody>
      </p:sp>
      <p:sp>
        <p:nvSpPr>
          <p:cNvPr id="16" name="Rounded Rectangle 15"/>
          <p:cNvSpPr/>
          <p:nvPr/>
        </p:nvSpPr>
        <p:spPr>
          <a:xfrm>
            <a:off x="8066836" y="2103120"/>
            <a:ext cx="3576218" cy="1708467"/>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66836" y="2212848"/>
            <a:ext cx="45720" cy="1489011"/>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8004" y="2231136"/>
            <a:ext cx="3210458" cy="288353"/>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Keep approvals current</a:t>
            </a:r>
          </a:p>
        </p:txBody>
      </p:sp>
      <p:sp>
        <p:nvSpPr>
          <p:cNvPr id="19" name="TextBox 18"/>
          <p:cNvSpPr txBox="1"/>
          <p:nvPr/>
        </p:nvSpPr>
        <p:spPr>
          <a:xfrm>
            <a:off x="8268004" y="2592641"/>
            <a:ext cx="3210458" cy="1036065"/>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Dismiss stale approvals when new commits land, so the approval refers to the code that actually merges.</a:t>
            </a:r>
          </a:p>
        </p:txBody>
      </p:sp>
      <p:sp>
        <p:nvSpPr>
          <p:cNvPr id="20" name="Rectangle 19"/>
          <p:cNvSpPr/>
          <p:nvPr/>
        </p:nvSpPr>
        <p:spPr>
          <a:xfrm>
            <a:off x="548640" y="4296219"/>
            <a:ext cx="54864" cy="464870"/>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4387659"/>
            <a:ext cx="10682935" cy="281990"/>
          </a:xfrm>
          <a:prstGeom prst="rect">
            <a:avLst/>
          </a:prstGeom>
          <a:noFill/>
        </p:spPr>
        <p:txBody>
          <a:bodyPr wrap="square" lIns="0" rIns="0" tIns="0" bIns="0" anchor="ctr">
            <a:spAutoFit/>
          </a:bodyPr>
          <a:lstStyle/>
          <a:p>
            <a:pPr algn="l">
              <a:lnSpc>
                <a:spcPct val="115000"/>
              </a:lnSpc>
              <a:spcAft>
                <a:spcPts val="0"/>
              </a:spcAft>
            </a:pPr>
            <a:r>
              <a:rPr b="1" sz="1820" i="0">
                <a:solidFill>
                  <a:srgbClr val="161225"/>
                </a:solidFill>
                <a:latin typeface="Arial"/>
              </a:rPr>
              <a:t>A check that runs is a suggestion. A check that blocks a merge is a control.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5A78FF"/>
                </a:solidFill>
                <a:latin typeface="Arial"/>
              </a:rPr>
              <a:t>SLIDE 25 · 05 · IN ONE REPOSITORY</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161225"/>
                </a:solidFill>
                <a:latin typeface="Arial"/>
              </a:rPr>
              <a:t>Two decisions that follow from the tier</a:t>
            </a:r>
          </a:p>
        </p:txBody>
      </p:sp>
      <p:sp>
        <p:nvSpPr>
          <p:cNvPr id="5" name="Rectangle 4"/>
          <p:cNvSpPr/>
          <p:nvPr/>
        </p:nvSpPr>
        <p:spPr>
          <a:xfrm>
            <a:off x="548640" y="1115568"/>
            <a:ext cx="1097280" cy="4114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161225"/>
                </a:solidFill>
                <a:latin typeface="Arial"/>
              </a:rPr>
              <a:t>Vipps MobilePay</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25</a:t>
            </a:r>
          </a:p>
        </p:txBody>
      </p:sp>
      <p:sp>
        <p:nvSpPr>
          <p:cNvPr id="8" name="Rounded Rectangle 7"/>
          <p:cNvSpPr/>
          <p:nvPr/>
        </p:nvSpPr>
        <p:spPr>
          <a:xfrm>
            <a:off x="548640" y="2097963"/>
            <a:ext cx="5455767" cy="1481455"/>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07691"/>
            <a:ext cx="45720" cy="1261999"/>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225979"/>
            <a:ext cx="5090007" cy="288353"/>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Who reviews the paths that carry risk</a:t>
            </a:r>
          </a:p>
        </p:txBody>
      </p:sp>
      <p:sp>
        <p:nvSpPr>
          <p:cNvPr id="11" name="TextBox 10"/>
          <p:cNvSpPr txBox="1"/>
          <p:nvPr/>
        </p:nvSpPr>
        <p:spPr>
          <a:xfrm>
            <a:off x="749808" y="2587485"/>
            <a:ext cx="5090007" cy="809053"/>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A CODEOWNERS file requires a named reviewer for the code that moves money or touches customer data. The rest of the repository stays on the lighter default.</a:t>
            </a:r>
          </a:p>
        </p:txBody>
      </p:sp>
      <p:sp>
        <p:nvSpPr>
          <p:cNvPr id="12" name="Rounded Rectangle 11"/>
          <p:cNvSpPr/>
          <p:nvPr/>
        </p:nvSpPr>
        <p:spPr>
          <a:xfrm>
            <a:off x="6187287" y="2097963"/>
            <a:ext cx="5455767" cy="1481455"/>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87287" y="2207691"/>
            <a:ext cx="45720" cy="1261999"/>
          </a:xfrm>
          <a:prstGeom prst="rect">
            <a:avLst/>
          </a:prstGeom>
          <a:solidFill>
            <a:srgbClr val="5A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8455" y="2225979"/>
            <a:ext cx="5090007" cy="288353"/>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Whether a machine may approve here</a:t>
            </a:r>
          </a:p>
        </p:txBody>
      </p:sp>
      <p:sp>
        <p:nvSpPr>
          <p:cNvPr id="15" name="TextBox 14"/>
          <p:cNvSpPr txBox="1"/>
          <p:nvPr/>
        </p:nvSpPr>
        <p:spPr>
          <a:xfrm>
            <a:off x="6388455" y="2587485"/>
            <a:ext cx="5090007" cy="809053"/>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Off by default today. A payment repository and an internal dashboard may answer differently. Neither should answer by accident.</a:t>
            </a:r>
          </a:p>
        </p:txBody>
      </p:sp>
      <p:sp>
        <p:nvSpPr>
          <p:cNvPr id="16" name="Rectangle 15"/>
          <p:cNvSpPr/>
          <p:nvPr/>
        </p:nvSpPr>
        <p:spPr>
          <a:xfrm>
            <a:off x="548640" y="4064050"/>
            <a:ext cx="54864" cy="746861"/>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 y="4155490"/>
            <a:ext cx="10682935" cy="563981"/>
          </a:xfrm>
          <a:prstGeom prst="rect">
            <a:avLst/>
          </a:prstGeom>
          <a:noFill/>
        </p:spPr>
        <p:txBody>
          <a:bodyPr wrap="square" lIns="0" rIns="0" tIns="0" bIns="0" anchor="ctr">
            <a:spAutoFit/>
          </a:bodyPr>
          <a:lstStyle/>
          <a:p>
            <a:pPr algn="l">
              <a:lnSpc>
                <a:spcPct val="115000"/>
              </a:lnSpc>
              <a:spcAft>
                <a:spcPts val="0"/>
              </a:spcAft>
            </a:pPr>
            <a:r>
              <a:rPr b="1" sz="1820" i="0">
                <a:solidFill>
                  <a:srgbClr val="161225"/>
                </a:solidFill>
                <a:latin typeface="Arial"/>
              </a:rPr>
              <a:t>Write it in the README next to the tier, with the reason. The setting has nowhere to hold one, and nothing logs a machine approval.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FF5B24"/>
                </a:solidFill>
                <a:latin typeface="Arial"/>
              </a:rPr>
              <a:t>SLIDE 26 · 05 · IN ONE REPOSITORY</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161225"/>
                </a:solidFill>
                <a:latin typeface="Arial"/>
              </a:rPr>
              <a:t>Ask the author for what no check can see</a:t>
            </a:r>
          </a:p>
        </p:txBody>
      </p:sp>
      <p:sp>
        <p:nvSpPr>
          <p:cNvPr id="5" name="Rectangle 4"/>
          <p:cNvSpPr/>
          <p:nvPr/>
        </p:nvSpPr>
        <p:spPr>
          <a:xfrm>
            <a:off x="548640" y="1115568"/>
            <a:ext cx="1097280" cy="4114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161225"/>
                </a:solidFill>
                <a:latin typeface="Arial"/>
              </a:rPr>
              <a:t>Vipps MobilePay</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26</a:t>
            </a:r>
          </a:p>
        </p:txBody>
      </p:sp>
      <p:sp>
        <p:nvSpPr>
          <p:cNvPr id="8" name="TextBox 7"/>
          <p:cNvSpPr txBox="1"/>
          <p:nvPr/>
        </p:nvSpPr>
        <p:spPr>
          <a:xfrm>
            <a:off x="548640" y="1946588"/>
            <a:ext cx="11094415" cy="261848"/>
          </a:xfrm>
          <a:prstGeom prst="rect">
            <a:avLst/>
          </a:prstGeom>
          <a:noFill/>
        </p:spPr>
        <p:txBody>
          <a:bodyPr wrap="square" lIns="0" rIns="0" tIns="0" bIns="0" anchor="t">
            <a:spAutoFit/>
          </a:bodyPr>
          <a:lstStyle/>
          <a:p>
            <a:pPr algn="l">
              <a:lnSpc>
                <a:spcPct val="115000"/>
              </a:lnSpc>
              <a:spcAft>
                <a:spcPts val="0"/>
              </a:spcAft>
            </a:pPr>
            <a:r>
              <a:rPr b="0" sz="1690" i="0">
                <a:solidFill>
                  <a:srgbClr val="161225"/>
                </a:solidFill>
                <a:latin typeface="Arial"/>
              </a:rPr>
              <a:t>One pull request template. The same questions in front of every change.</a:t>
            </a:r>
          </a:p>
        </p:txBody>
      </p:sp>
      <p:sp>
        <p:nvSpPr>
          <p:cNvPr id="9" name="TextBox 8"/>
          <p:cNvSpPr txBox="1"/>
          <p:nvPr/>
        </p:nvSpPr>
        <p:spPr>
          <a:xfrm>
            <a:off x="548640" y="2729644"/>
            <a:ext cx="11094415" cy="1152524"/>
          </a:xfrm>
          <a:prstGeom prst="rect">
            <a:avLst/>
          </a:prstGeom>
          <a:noFill/>
        </p:spPr>
        <p:txBody>
          <a:bodyPr wrap="square" lIns="0" rIns="0" tIns="0" bIns="0">
            <a:spAutoFit/>
          </a:bodyPr>
          <a:lstStyle/>
          <a:p>
            <a:pPr>
              <a:lnSpc>
                <a:spcPct val="115000"/>
              </a:lnSpc>
              <a:spcAft>
                <a:spcPts val="400"/>
              </a:spcAft>
            </a:pPr>
            <a:r>
              <a:rPr sz="1625" b="1">
                <a:solidFill>
                  <a:srgbClr val="5A78FF"/>
                </a:solidFill>
                <a:latin typeface="Arial"/>
              </a:rPr>
              <a:t>—  </a:t>
            </a:r>
            <a:r>
              <a:rPr b="0" sz="1625" i="0">
                <a:solidFill>
                  <a:srgbClr val="161225"/>
                </a:solidFill>
                <a:latin typeface="Arial"/>
              </a:rPr>
              <a:t>What changed, and why it belongs here</a:t>
            </a:r>
          </a:p>
          <a:p>
            <a:pPr>
              <a:lnSpc>
                <a:spcPct val="115000"/>
              </a:lnSpc>
              <a:spcAft>
                <a:spcPts val="400"/>
              </a:spcAft>
            </a:pPr>
            <a:r>
              <a:rPr sz="1625" b="1">
                <a:solidFill>
                  <a:srgbClr val="5A78FF"/>
                </a:solidFill>
                <a:latin typeface="Arial"/>
              </a:rPr>
              <a:t>—  </a:t>
            </a:r>
            <a:r>
              <a:rPr b="0" sz="1625" i="0">
                <a:solidFill>
                  <a:srgbClr val="161225"/>
                </a:solidFill>
                <a:latin typeface="Arial"/>
              </a:rPr>
              <a:t>What you want looked at, specifically</a:t>
            </a:r>
          </a:p>
          <a:p>
            <a:pPr>
              <a:lnSpc>
                <a:spcPct val="115000"/>
              </a:lnSpc>
              <a:spcAft>
                <a:spcPts val="400"/>
              </a:spcAft>
            </a:pPr>
            <a:r>
              <a:rPr sz="1625" b="1">
                <a:solidFill>
                  <a:srgbClr val="5A78FF"/>
                </a:solidFill>
                <a:latin typeface="Arial"/>
              </a:rPr>
              <a:t>—  </a:t>
            </a:r>
            <a:r>
              <a:rPr b="0" sz="1625" i="0">
                <a:solidFill>
                  <a:srgbClr val="161225"/>
                </a:solidFill>
                <a:latin typeface="Arial"/>
              </a:rPr>
              <a:t>How to undo it</a:t>
            </a:r>
          </a:p>
          <a:p>
            <a:pPr>
              <a:lnSpc>
                <a:spcPct val="115000"/>
              </a:lnSpc>
              <a:spcAft>
                <a:spcPts val="400"/>
              </a:spcAft>
            </a:pPr>
            <a:r>
              <a:rPr sz="1625" b="1">
                <a:solidFill>
                  <a:srgbClr val="5A78FF"/>
                </a:solidFill>
                <a:latin typeface="Arial"/>
              </a:rPr>
              <a:t>—  </a:t>
            </a:r>
            <a:r>
              <a:rPr b="0" sz="1625" i="0">
                <a:solidFill>
                  <a:srgbClr val="161225"/>
                </a:solidFill>
                <a:latin typeface="Arial"/>
              </a:rPr>
              <a:t>Which parts an agent wrote</a:t>
            </a:r>
          </a:p>
        </p:txBody>
      </p:sp>
      <p:sp>
        <p:nvSpPr>
          <p:cNvPr id="10" name="Rectangle 9"/>
          <p:cNvSpPr/>
          <p:nvPr/>
        </p:nvSpPr>
        <p:spPr>
          <a:xfrm>
            <a:off x="548640" y="4366801"/>
            <a:ext cx="54864" cy="746861"/>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4458241"/>
            <a:ext cx="10682935" cy="563981"/>
          </a:xfrm>
          <a:prstGeom prst="rect">
            <a:avLst/>
          </a:prstGeom>
          <a:noFill/>
        </p:spPr>
        <p:txBody>
          <a:bodyPr wrap="square" lIns="0" rIns="0" tIns="0" bIns="0" anchor="ctr">
            <a:spAutoFit/>
          </a:bodyPr>
          <a:lstStyle/>
          <a:p>
            <a:pPr algn="l">
              <a:lnSpc>
                <a:spcPct val="115000"/>
              </a:lnSpc>
              <a:spcAft>
                <a:spcPts val="0"/>
              </a:spcAft>
            </a:pPr>
            <a:r>
              <a:rPr b="1" sz="1820" i="0">
                <a:solidFill>
                  <a:srgbClr val="161225"/>
                </a:solidFill>
                <a:latin typeface="Arial"/>
              </a:rPr>
              <a:t>Across 80.000 pull requests, descriptions rarely changed the review. The exception was one that explains the code and asks for a specific kind of feedback. So ask for both.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5A78FF"/>
                </a:solidFill>
                <a:latin typeface="Arial"/>
              </a:rPr>
              <a:t>SLIDE 27 · 05 · IN ONE REPOSITORY</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161225"/>
                </a:solidFill>
                <a:latin typeface="Arial"/>
              </a:rPr>
              <a:t>The first week</a:t>
            </a:r>
          </a:p>
        </p:txBody>
      </p:sp>
      <p:sp>
        <p:nvSpPr>
          <p:cNvPr id="5" name="Rectangle 4"/>
          <p:cNvSpPr/>
          <p:nvPr/>
        </p:nvSpPr>
        <p:spPr>
          <a:xfrm>
            <a:off x="548640" y="1115568"/>
            <a:ext cx="1097280" cy="4114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161225"/>
                </a:solidFill>
                <a:latin typeface="Arial"/>
              </a:rPr>
              <a:t>Vipps MobilePay</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27</a:t>
            </a:r>
          </a:p>
        </p:txBody>
      </p:sp>
      <p:graphicFrame>
        <p:nvGraphicFramePr>
          <p:cNvPr id="8" name="Table 7"/>
          <p:cNvGraphicFramePr>
            <a:graphicFrameLocks noGrp="1"/>
          </p:cNvGraphicFramePr>
          <p:nvPr/>
        </p:nvGraphicFramePr>
        <p:xfrm>
          <a:off x="548640" y="1371600"/>
          <a:ext cx="11094414" cy="4248300"/>
        </p:xfrm>
        <a:graphic>
          <a:graphicData uri="http://schemas.openxmlformats.org/drawingml/2006/table">
            <a:tbl>
              <a:tblPr firstRow="0" bandRow="0">
                <a:tableStyleId>{5C22544A-7EE6-4342-B048-85BDC9FD1C3A}</a:tableStyleId>
              </a:tblPr>
              <a:tblGrid>
                <a:gridCol w="1877516"/>
                <a:gridCol w="5547207"/>
                <a:gridCol w="3669691"/>
              </a:tblGrid>
              <a:tr h="347472">
                <a:tc>
                  <a:txBody>
                    <a:bodyPr wrap="square"/>
                    <a:lstStyle/>
                    <a:p>
                      <a:pPr>
                        <a:lnSpc>
                          <a:spcPct val="110000"/>
                        </a:lnSpc>
                      </a:pPr>
                      <a:r>
                        <a:rPr b="1" sz="1323" i="0">
                          <a:solidFill>
                            <a:srgbClr val="F5F5F2"/>
                          </a:solidFill>
                          <a:latin typeface="Arial"/>
                        </a:rPr>
                        <a:t>When</a:t>
                      </a:r>
                    </a:p>
                  </a:txBody>
                  <a:tcPr marL="73152" marR="73152" marT="45720" marB="45720" anchor="t">
                    <a:solidFill>
                      <a:srgbClr val="161225"/>
                    </a:solidFill>
                  </a:tcPr>
                </a:tc>
                <a:tc>
                  <a:txBody>
                    <a:bodyPr wrap="square"/>
                    <a:lstStyle/>
                    <a:p>
                      <a:pPr>
                        <a:lnSpc>
                          <a:spcPct val="110000"/>
                        </a:lnSpc>
                      </a:pPr>
                      <a:r>
                        <a:rPr b="1" sz="1323" i="0">
                          <a:solidFill>
                            <a:srgbClr val="F5F5F2"/>
                          </a:solidFill>
                          <a:latin typeface="Arial"/>
                        </a:rPr>
                        <a:t>Do</a:t>
                      </a:r>
                    </a:p>
                  </a:txBody>
                  <a:tcPr marL="73152" marR="73152" marT="45720" marB="45720" anchor="t">
                    <a:solidFill>
                      <a:srgbClr val="161225"/>
                    </a:solidFill>
                  </a:tcPr>
                </a:tc>
                <a:tc>
                  <a:txBody>
                    <a:bodyPr wrap="square"/>
                    <a:lstStyle/>
                    <a:p>
                      <a:pPr>
                        <a:lnSpc>
                          <a:spcPct val="110000"/>
                        </a:lnSpc>
                      </a:pPr>
                      <a:r>
                        <a:rPr b="1" sz="1323" i="0">
                          <a:solidFill>
                            <a:srgbClr val="F5F5F2"/>
                          </a:solidFill>
                          <a:latin typeface="Arial"/>
                        </a:rPr>
                        <a:t>Where it lives</a:t>
                      </a:r>
                    </a:p>
                  </a:txBody>
                  <a:tcPr marL="73152" marR="73152" marT="45720" marB="45720" anchor="t">
                    <a:solidFill>
                      <a:srgbClr val="161225"/>
                    </a:solidFill>
                  </a:tcPr>
                </a:tc>
              </a:tr>
              <a:tr h="567842">
                <a:tc>
                  <a:txBody>
                    <a:bodyPr wrap="square"/>
                    <a:lstStyle/>
                    <a:p>
                      <a:pPr>
                        <a:lnSpc>
                          <a:spcPct val="110000"/>
                        </a:lnSpc>
                      </a:pPr>
                      <a:r>
                        <a:rPr b="1" sz="1323" i="0">
                          <a:solidFill>
                            <a:srgbClr val="161225"/>
                          </a:solidFill>
                          <a:latin typeface="Arial"/>
                        </a:rPr>
                        <a:t>Day 1</a:t>
                      </a:r>
                    </a:p>
                  </a:txBody>
                  <a:tcPr marL="73152" marR="73152" marT="45720" marB="45720" anchor="t">
                    <a:solidFill>
                      <a:srgbClr val="FFFFFF"/>
                    </a:solidFill>
                  </a:tcPr>
                </a:tc>
                <a:tc>
                  <a:txBody>
                    <a:bodyPr wrap="square"/>
                    <a:lstStyle/>
                    <a:p>
                      <a:pPr>
                        <a:lnSpc>
                          <a:spcPct val="110000"/>
                        </a:lnSpc>
                      </a:pPr>
                      <a:r>
                        <a:rPr b="0" sz="1323" i="0">
                          <a:solidFill>
                            <a:srgbClr val="161225"/>
                          </a:solidFill>
                          <a:latin typeface="Arial"/>
                        </a:rPr>
                        <a:t>Write down what this repository touches, and what follows from it</a:t>
                      </a:r>
                    </a:p>
                  </a:txBody>
                  <a:tcPr marL="73152" marR="73152" marT="45720" marB="45720" anchor="t">
                    <a:solidFill>
                      <a:srgbClr val="FFFFFF"/>
                    </a:solidFill>
                  </a:tcPr>
                </a:tc>
                <a:tc>
                  <a:txBody>
                    <a:bodyPr wrap="square"/>
                    <a:lstStyle/>
                    <a:p>
                      <a:pPr>
                        <a:lnSpc>
                          <a:spcPct val="110000"/>
                        </a:lnSpc>
                      </a:pPr>
                      <a:r>
                        <a:rPr b="0" sz="1323" i="0">
                          <a:solidFill>
                            <a:srgbClr val="161225"/>
                          </a:solidFill>
                          <a:latin typeface="Arial"/>
                        </a:rPr>
                        <a:t>README, under "Review rules"</a:t>
                      </a:r>
                    </a:p>
                  </a:txBody>
                  <a:tcPr marL="73152" marR="73152" marT="45720" marB="45720" anchor="t">
                    <a:solidFill>
                      <a:srgbClr val="FFFFFF"/>
                    </a:solidFill>
                  </a:tcPr>
                </a:tc>
              </a:tr>
              <a:tr h="366217">
                <a:tc>
                  <a:txBody>
                    <a:bodyPr wrap="square"/>
                    <a:lstStyle/>
                    <a:p>
                      <a:pPr>
                        <a:lnSpc>
                          <a:spcPct val="110000"/>
                        </a:lnSpc>
                      </a:pPr>
                      <a:r>
                        <a:rPr b="1" sz="1323" i="0">
                          <a:solidFill>
                            <a:srgbClr val="161225"/>
                          </a:solidFill>
                          <a:latin typeface="Arial"/>
                        </a:rPr>
                        <a:t>Day 1</a:t>
                      </a:r>
                    </a:p>
                  </a:txBody>
                  <a:tcPr marL="73152" marR="73152" marT="45720" marB="45720" anchor="t">
                    <a:solidFill>
                      <a:srgbClr val="ECEBE6"/>
                    </a:solidFill>
                  </a:tcPr>
                </a:tc>
                <a:tc>
                  <a:txBody>
                    <a:bodyPr wrap="square"/>
                    <a:lstStyle/>
                    <a:p>
                      <a:pPr>
                        <a:lnSpc>
                          <a:spcPct val="110000"/>
                        </a:lnSpc>
                      </a:pPr>
                      <a:r>
                        <a:rPr b="0" sz="1323" i="0">
                          <a:solidFill>
                            <a:srgbClr val="161225"/>
                          </a:solidFill>
                          <a:latin typeface="Arial"/>
                        </a:rPr>
                        <a:t>Format, lint, test, static analysis on every change</a:t>
                      </a:r>
                    </a:p>
                  </a:txBody>
                  <a:tcPr marL="73152" marR="73152" marT="45720" marB="45720" anchor="t">
                    <a:solidFill>
                      <a:srgbClr val="ECEBE6"/>
                    </a:solidFill>
                  </a:tcPr>
                </a:tc>
                <a:tc>
                  <a:txBody>
                    <a:bodyPr wrap="square"/>
                    <a:lstStyle/>
                    <a:p>
                      <a:pPr>
                        <a:lnSpc>
                          <a:spcPct val="110000"/>
                        </a:lnSpc>
                      </a:pPr>
                      <a:r>
                        <a:rPr b="0" sz="1323" i="0">
                          <a:solidFill>
                            <a:srgbClr val="161225"/>
                          </a:solidFill>
                          <a:latin typeface="Arial"/>
                        </a:rPr>
                        <a:t>.github/workflows/</a:t>
                      </a:r>
                    </a:p>
                  </a:txBody>
                  <a:tcPr marL="73152" marR="73152" marT="45720" marB="45720" anchor="t">
                    <a:solidFill>
                      <a:srgbClr val="ECEBE6"/>
                    </a:solidFill>
                  </a:tcPr>
                </a:tc>
              </a:tr>
              <a:tr h="567842">
                <a:tc>
                  <a:txBody>
                    <a:bodyPr wrap="square"/>
                    <a:lstStyle/>
                    <a:p>
                      <a:pPr>
                        <a:lnSpc>
                          <a:spcPct val="110000"/>
                        </a:lnSpc>
                      </a:pPr>
                      <a:r>
                        <a:rPr b="1" sz="1323" i="0">
                          <a:solidFill>
                            <a:srgbClr val="161225"/>
                          </a:solidFill>
                          <a:latin typeface="Arial"/>
                        </a:rPr>
                        <a:t>Day 1</a:t>
                      </a:r>
                    </a:p>
                  </a:txBody>
                  <a:tcPr marL="73152" marR="73152" marT="45720" marB="45720" anchor="t">
                    <a:solidFill>
                      <a:srgbClr val="FFFFFF"/>
                    </a:solidFill>
                  </a:tcPr>
                </a:tc>
                <a:tc>
                  <a:txBody>
                    <a:bodyPr wrap="square"/>
                    <a:lstStyle/>
                    <a:p>
                      <a:pPr>
                        <a:lnSpc>
                          <a:spcPct val="110000"/>
                        </a:lnSpc>
                      </a:pPr>
                      <a:r>
                        <a:rPr b="0" sz="1323" i="0">
                          <a:solidFill>
                            <a:srgbClr val="161225"/>
                          </a:solidFill>
                          <a:latin typeface="Arial"/>
                        </a:rPr>
                        <a:t>Dependency and secret scanning</a:t>
                      </a:r>
                    </a:p>
                  </a:txBody>
                  <a:tcPr marL="73152" marR="73152" marT="45720" marB="45720" anchor="t">
                    <a:solidFill>
                      <a:srgbClr val="FFFFFF"/>
                    </a:solidFill>
                  </a:tcPr>
                </a:tc>
                <a:tc>
                  <a:txBody>
                    <a:bodyPr wrap="square"/>
                    <a:lstStyle/>
                    <a:p>
                      <a:pPr>
                        <a:lnSpc>
                          <a:spcPct val="110000"/>
                        </a:lnSpc>
                      </a:pPr>
                      <a:r>
                        <a:rPr b="0" sz="1323" i="0">
                          <a:solidFill>
                            <a:srgbClr val="161225"/>
                          </a:solidFill>
                          <a:latin typeface="Arial"/>
                        </a:rPr>
                        <a:t>.github/dependabot.yml, repository settings</a:t>
                      </a:r>
                    </a:p>
                  </a:txBody>
                  <a:tcPr marL="73152" marR="73152" marT="45720" marB="45720" anchor="t">
                    <a:solidFill>
                      <a:srgbClr val="FFFFFF"/>
                    </a:solidFill>
                  </a:tcPr>
                </a:tc>
              </a:tr>
              <a:tr h="567842">
                <a:tc>
                  <a:txBody>
                    <a:bodyPr wrap="square"/>
                    <a:lstStyle/>
                    <a:p>
                      <a:pPr>
                        <a:lnSpc>
                          <a:spcPct val="110000"/>
                        </a:lnSpc>
                      </a:pPr>
                      <a:r>
                        <a:rPr b="1" sz="1323" i="0">
                          <a:solidFill>
                            <a:srgbClr val="161225"/>
                          </a:solidFill>
                          <a:latin typeface="Arial"/>
                        </a:rPr>
                        <a:t>Day 2</a:t>
                      </a:r>
                    </a:p>
                  </a:txBody>
                  <a:tcPr marL="73152" marR="73152" marT="45720" marB="45720" anchor="t">
                    <a:solidFill>
                      <a:srgbClr val="ECEBE6"/>
                    </a:solidFill>
                  </a:tcPr>
                </a:tc>
                <a:tc>
                  <a:txBody>
                    <a:bodyPr wrap="square"/>
                    <a:lstStyle/>
                    <a:p>
                      <a:pPr>
                        <a:lnSpc>
                          <a:spcPct val="110000"/>
                        </a:lnSpc>
                      </a:pPr>
                      <a:r>
                        <a:rPr b="0" sz="1323" i="0">
                          <a:solidFill>
                            <a:srgbClr val="161225"/>
                          </a:solidFill>
                          <a:latin typeface="Arial"/>
                        </a:rPr>
                        <a:t>Require those checks, require a pull request, stop direct pushes</a:t>
                      </a:r>
                    </a:p>
                  </a:txBody>
                  <a:tcPr marL="73152" marR="73152" marT="45720" marB="45720" anchor="t">
                    <a:solidFill>
                      <a:srgbClr val="ECEBE6"/>
                    </a:solidFill>
                  </a:tcPr>
                </a:tc>
                <a:tc>
                  <a:txBody>
                    <a:bodyPr wrap="square"/>
                    <a:lstStyle/>
                    <a:p>
                      <a:pPr>
                        <a:lnSpc>
                          <a:spcPct val="110000"/>
                        </a:lnSpc>
                      </a:pPr>
                      <a:r>
                        <a:rPr b="0" sz="1323" i="0">
                          <a:solidFill>
                            <a:srgbClr val="161225"/>
                          </a:solidFill>
                          <a:latin typeface="Arial"/>
                        </a:rPr>
                        <a:t>Branch protection, or a ruleset</a:t>
                      </a:r>
                    </a:p>
                  </a:txBody>
                  <a:tcPr marL="73152" marR="73152" marT="45720" marB="45720" anchor="t">
                    <a:solidFill>
                      <a:srgbClr val="ECEBE6"/>
                    </a:solidFill>
                  </a:tcPr>
                </a:tc>
              </a:tr>
              <a:tr h="366217">
                <a:tc>
                  <a:txBody>
                    <a:bodyPr wrap="square"/>
                    <a:lstStyle/>
                    <a:p>
                      <a:pPr>
                        <a:lnSpc>
                          <a:spcPct val="110000"/>
                        </a:lnSpc>
                      </a:pPr>
                      <a:r>
                        <a:rPr b="1" sz="1323" i="0">
                          <a:solidFill>
                            <a:srgbClr val="161225"/>
                          </a:solidFill>
                          <a:latin typeface="Arial"/>
                        </a:rPr>
                        <a:t>Day 2</a:t>
                      </a:r>
                    </a:p>
                  </a:txBody>
                  <a:tcPr marL="73152" marR="73152" marT="45720" marB="45720" anchor="t">
                    <a:solidFill>
                      <a:srgbClr val="FFFFFF"/>
                    </a:solidFill>
                  </a:tcPr>
                </a:tc>
                <a:tc>
                  <a:txBody>
                    <a:bodyPr wrap="square"/>
                    <a:lstStyle/>
                    <a:p>
                      <a:pPr>
                        <a:lnSpc>
                          <a:spcPct val="110000"/>
                        </a:lnSpc>
                      </a:pPr>
                      <a:r>
                        <a:rPr b="0" sz="1323" i="0">
                          <a:solidFill>
                            <a:srgbClr val="161225"/>
                          </a:solidFill>
                          <a:latin typeface="Arial"/>
                        </a:rPr>
                        <a:t>Dismiss stale approvals when new commits land</a:t>
                      </a:r>
                    </a:p>
                  </a:txBody>
                  <a:tcPr marL="73152" marR="73152" marT="45720" marB="45720" anchor="t">
                    <a:solidFill>
                      <a:srgbClr val="FFFFFF"/>
                    </a:solidFill>
                  </a:tcPr>
                </a:tc>
                <a:tc>
                  <a:txBody>
                    <a:bodyPr wrap="square"/>
                    <a:lstStyle/>
                    <a:p>
                      <a:pPr>
                        <a:lnSpc>
                          <a:spcPct val="110000"/>
                        </a:lnSpc>
                      </a:pPr>
                      <a:r>
                        <a:rPr b="0" sz="1323" i="0">
                          <a:solidFill>
                            <a:srgbClr val="161225"/>
                          </a:solidFill>
                          <a:latin typeface="Arial"/>
                        </a:rPr>
                        <a:t>The same place</a:t>
                      </a:r>
                    </a:p>
                  </a:txBody>
                  <a:tcPr marL="73152" marR="73152" marT="45720" marB="45720" anchor="t">
                    <a:solidFill>
                      <a:srgbClr val="FFFFFF"/>
                    </a:solidFill>
                  </a:tcPr>
                </a:tc>
              </a:tr>
              <a:tr h="366217">
                <a:tc>
                  <a:txBody>
                    <a:bodyPr wrap="square"/>
                    <a:lstStyle/>
                    <a:p>
                      <a:pPr>
                        <a:lnSpc>
                          <a:spcPct val="110000"/>
                        </a:lnSpc>
                      </a:pPr>
                      <a:r>
                        <a:rPr b="1" sz="1323" i="0">
                          <a:solidFill>
                            <a:srgbClr val="161225"/>
                          </a:solidFill>
                          <a:latin typeface="Arial"/>
                        </a:rPr>
                        <a:t>Day 3</a:t>
                      </a:r>
                    </a:p>
                  </a:txBody>
                  <a:tcPr marL="73152" marR="73152" marT="45720" marB="45720" anchor="t">
                    <a:solidFill>
                      <a:srgbClr val="ECEBE6"/>
                    </a:solidFill>
                  </a:tcPr>
                </a:tc>
                <a:tc>
                  <a:txBody>
                    <a:bodyPr wrap="square"/>
                    <a:lstStyle/>
                    <a:p>
                      <a:pPr>
                        <a:lnSpc>
                          <a:spcPct val="110000"/>
                        </a:lnSpc>
                      </a:pPr>
                      <a:r>
                        <a:rPr b="0" sz="1323" i="0">
                          <a:solidFill>
                            <a:srgbClr val="161225"/>
                          </a:solidFill>
                          <a:latin typeface="Arial"/>
                        </a:rPr>
                        <a:t>A named reviewer for the paths that carry risk</a:t>
                      </a:r>
                    </a:p>
                  </a:txBody>
                  <a:tcPr marL="73152" marR="73152" marT="45720" marB="45720" anchor="t">
                    <a:solidFill>
                      <a:srgbClr val="ECEBE6"/>
                    </a:solidFill>
                  </a:tcPr>
                </a:tc>
                <a:tc>
                  <a:txBody>
                    <a:bodyPr wrap="square"/>
                    <a:lstStyle/>
                    <a:p>
                      <a:pPr>
                        <a:lnSpc>
                          <a:spcPct val="110000"/>
                        </a:lnSpc>
                      </a:pPr>
                      <a:r>
                        <a:rPr b="0" sz="1323" i="0">
                          <a:solidFill>
                            <a:srgbClr val="161225"/>
                          </a:solidFill>
                          <a:latin typeface="Arial"/>
                        </a:rPr>
                        <a:t>.github/CODEOWNERS</a:t>
                      </a:r>
                    </a:p>
                  </a:txBody>
                  <a:tcPr marL="73152" marR="73152" marT="45720" marB="45720" anchor="t">
                    <a:solidFill>
                      <a:srgbClr val="ECEBE6"/>
                    </a:solidFill>
                  </a:tcPr>
                </a:tc>
              </a:tr>
              <a:tr h="366217">
                <a:tc>
                  <a:txBody>
                    <a:bodyPr wrap="square"/>
                    <a:lstStyle/>
                    <a:p>
                      <a:pPr>
                        <a:lnSpc>
                          <a:spcPct val="110000"/>
                        </a:lnSpc>
                      </a:pPr>
                      <a:r>
                        <a:rPr b="1" sz="1323" i="0">
                          <a:solidFill>
                            <a:srgbClr val="161225"/>
                          </a:solidFill>
                          <a:latin typeface="Arial"/>
                        </a:rPr>
                        <a:t>Day 3</a:t>
                      </a:r>
                    </a:p>
                  </a:txBody>
                  <a:tcPr marL="73152" marR="73152" marT="45720" marB="45720" anchor="t">
                    <a:solidFill>
                      <a:srgbClr val="FFFFFF"/>
                    </a:solidFill>
                  </a:tcPr>
                </a:tc>
                <a:tc>
                  <a:txBody>
                    <a:bodyPr wrap="square"/>
                    <a:lstStyle/>
                    <a:p>
                      <a:pPr>
                        <a:lnSpc>
                          <a:spcPct val="110000"/>
                        </a:lnSpc>
                      </a:pPr>
                      <a:r>
                        <a:rPr b="0" sz="1323" i="0">
                          <a:solidFill>
                            <a:srgbClr val="161225"/>
                          </a:solidFill>
                          <a:latin typeface="Arial"/>
                        </a:rPr>
                        <a:t>Whether a machine may approve here, and why</a:t>
                      </a:r>
                    </a:p>
                  </a:txBody>
                  <a:tcPr marL="73152" marR="73152" marT="45720" marB="45720" anchor="t">
                    <a:solidFill>
                      <a:srgbClr val="FFFFFF"/>
                    </a:solidFill>
                  </a:tcPr>
                </a:tc>
                <a:tc>
                  <a:txBody>
                    <a:bodyPr wrap="square"/>
                    <a:lstStyle/>
                    <a:p>
                      <a:pPr>
                        <a:lnSpc>
                          <a:spcPct val="110000"/>
                        </a:lnSpc>
                      </a:pPr>
                      <a:r>
                        <a:rPr b="0" sz="1323" i="0">
                          <a:solidFill>
                            <a:srgbClr val="161225"/>
                          </a:solidFill>
                          <a:latin typeface="Arial"/>
                        </a:rPr>
                        <a:t>README, under "Review rules"</a:t>
                      </a:r>
                    </a:p>
                  </a:txBody>
                  <a:tcPr marL="73152" marR="73152" marT="45720" marB="45720" anchor="t">
                    <a:solidFill>
                      <a:srgbClr val="FFFFFF"/>
                    </a:solidFill>
                  </a:tcPr>
                </a:tc>
              </a:tr>
              <a:tr h="366217">
                <a:tc>
                  <a:txBody>
                    <a:bodyPr wrap="square"/>
                    <a:lstStyle/>
                    <a:p>
                      <a:pPr>
                        <a:lnSpc>
                          <a:spcPct val="110000"/>
                        </a:lnSpc>
                      </a:pPr>
                      <a:r>
                        <a:rPr b="1" sz="1323" i="0">
                          <a:solidFill>
                            <a:srgbClr val="161225"/>
                          </a:solidFill>
                          <a:latin typeface="Arial"/>
                        </a:rPr>
                        <a:t>Day 4</a:t>
                      </a:r>
                    </a:p>
                  </a:txBody>
                  <a:tcPr marL="73152" marR="73152" marT="45720" marB="45720" anchor="t">
                    <a:solidFill>
                      <a:srgbClr val="ECEBE6"/>
                    </a:solidFill>
                  </a:tcPr>
                </a:tc>
                <a:tc>
                  <a:txBody>
                    <a:bodyPr wrap="square"/>
                    <a:lstStyle/>
                    <a:p>
                      <a:pPr>
                        <a:lnSpc>
                          <a:spcPct val="110000"/>
                        </a:lnSpc>
                      </a:pPr>
                      <a:r>
                        <a:rPr b="0" sz="1323" i="0">
                          <a:solidFill>
                            <a:srgbClr val="161225"/>
                          </a:solidFill>
                          <a:latin typeface="Arial"/>
                        </a:rPr>
                        <a:t>The template that explains and asks</a:t>
                      </a:r>
                    </a:p>
                  </a:txBody>
                  <a:tcPr marL="73152" marR="73152" marT="45720" marB="45720" anchor="t">
                    <a:solidFill>
                      <a:srgbClr val="ECEBE6"/>
                    </a:solidFill>
                  </a:tcPr>
                </a:tc>
                <a:tc>
                  <a:txBody>
                    <a:bodyPr wrap="square"/>
                    <a:lstStyle/>
                    <a:p>
                      <a:pPr>
                        <a:lnSpc>
                          <a:spcPct val="110000"/>
                        </a:lnSpc>
                      </a:pPr>
                      <a:r>
                        <a:rPr b="0" sz="1323" i="0">
                          <a:solidFill>
                            <a:srgbClr val="161225"/>
                          </a:solidFill>
                          <a:latin typeface="Arial"/>
                        </a:rPr>
                        <a:t>.github/pull_request_template.md</a:t>
                      </a:r>
                    </a:p>
                  </a:txBody>
                  <a:tcPr marL="73152" marR="73152" marT="45720" marB="45720" anchor="t">
                    <a:solidFill>
                      <a:srgbClr val="ECEBE6"/>
                    </a:solidFill>
                  </a:tcPr>
                </a:tc>
              </a:tr>
              <a:tr h="366217">
                <a:tc>
                  <a:txBody>
                    <a:bodyPr wrap="square"/>
                    <a:lstStyle/>
                    <a:p>
                      <a:pPr>
                        <a:lnSpc>
                          <a:spcPct val="110000"/>
                        </a:lnSpc>
                      </a:pPr>
                      <a:r>
                        <a:rPr b="1" sz="1323" i="0">
                          <a:solidFill>
                            <a:srgbClr val="161225"/>
                          </a:solidFill>
                          <a:latin typeface="Arial"/>
                        </a:rPr>
                        <a:t>Ongoing</a:t>
                      </a:r>
                    </a:p>
                  </a:txBody>
                  <a:tcPr marL="73152" marR="73152" marT="45720" marB="45720" anchor="t">
                    <a:solidFill>
                      <a:srgbClr val="FFFFFF"/>
                    </a:solidFill>
                  </a:tcPr>
                </a:tc>
                <a:tc>
                  <a:txBody>
                    <a:bodyPr wrap="square"/>
                    <a:lstStyle/>
                    <a:p>
                      <a:pPr>
                        <a:lnSpc>
                          <a:spcPct val="110000"/>
                        </a:lnSpc>
                      </a:pPr>
                      <a:r>
                        <a:rPr b="0" sz="1323" i="0">
                          <a:solidFill>
                            <a:srgbClr val="161225"/>
                          </a:solidFill>
                          <a:latin typeface="Arial"/>
                        </a:rPr>
                        <a:t>Read a sample of already-approved changes</a:t>
                      </a:r>
                    </a:p>
                  </a:txBody>
                  <a:tcPr marL="73152" marR="73152" marT="45720" marB="45720" anchor="t">
                    <a:solidFill>
                      <a:srgbClr val="FFFFFF"/>
                    </a:solidFill>
                  </a:tcPr>
                </a:tc>
                <a:tc>
                  <a:txBody>
                    <a:bodyPr wrap="square"/>
                    <a:lstStyle/>
                    <a:p>
                      <a:pPr>
                        <a:lnSpc>
                          <a:spcPct val="110000"/>
                        </a:lnSpc>
                      </a:pPr>
                      <a:r>
                        <a:rPr b="0" sz="1323" i="0">
                          <a:solidFill>
                            <a:srgbClr val="161225"/>
                          </a:solidFill>
                          <a:latin typeface="Arial"/>
                        </a:rPr>
                        <a:t>A calendar entry, not a tool</a:t>
                      </a:r>
                    </a:p>
                  </a:txBody>
                  <a:tcPr marL="73152" marR="73152" marT="45720" marB="45720" anchor="t">
                    <a:solidFill>
                      <a:srgbClr val="FFFFFF"/>
                    </a:solidFill>
                  </a:tcPr>
                </a:tc>
              </a:tr>
            </a:tbl>
          </a:graphicData>
        </a:graphic>
      </p:graphicFrame>
      <p:sp>
        <p:nvSpPr>
          <p:cNvPr id="9" name="TextBox 8"/>
          <p:cNvSpPr txBox="1"/>
          <p:nvPr/>
        </p:nvSpPr>
        <p:spPr>
          <a:xfrm>
            <a:off x="548640" y="5737768"/>
            <a:ext cx="11094415" cy="507583"/>
          </a:xfrm>
          <a:prstGeom prst="rect">
            <a:avLst/>
          </a:prstGeom>
          <a:noFill/>
        </p:spPr>
        <p:txBody>
          <a:bodyPr wrap="square" lIns="0" rIns="0" tIns="0" bIns="0" anchor="t">
            <a:spAutoFit/>
          </a:bodyPr>
          <a:lstStyle/>
          <a:p>
            <a:pPr algn="l">
              <a:lnSpc>
                <a:spcPct val="115000"/>
              </a:lnSpc>
              <a:spcAft>
                <a:spcPts val="0"/>
              </a:spcAft>
            </a:pPr>
            <a:r>
              <a:rPr b="0" sz="1638" i="0">
                <a:solidFill>
                  <a:srgbClr val="161225"/>
                </a:solidFill>
                <a:latin typeface="Arial"/>
              </a:rPr>
              <a:t>Every line is a file or a setting, copied to the next repository in minutes and reverted by deleting a line. </a:t>
            </a:r>
            <a:r>
              <a:rPr b="1" sz="1638" i="0">
                <a:solidFill>
                  <a:srgbClr val="161225"/>
                </a:solidFill>
                <a:latin typeface="Arial"/>
              </a:rPr>
              <a:t>I have not checked which of these are already on in ours.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F5F5F2"/>
                </a:solidFill>
                <a:latin typeface="Arial"/>
              </a:rPr>
              <a:t>Vipps MobilePay</a:t>
            </a:r>
          </a:p>
        </p:txBody>
      </p:sp>
      <p:sp>
        <p:nvSpPr>
          <p:cNvPr id="4" name="TextBox 3"/>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28</a:t>
            </a:r>
          </a:p>
        </p:txBody>
      </p:sp>
      <p:sp>
        <p:nvSpPr>
          <p:cNvPr id="5" name="TextBox 4"/>
          <p:cNvSpPr txBox="1"/>
          <p:nvPr/>
        </p:nvSpPr>
        <p:spPr>
          <a:xfrm>
            <a:off x="548640" y="292608"/>
            <a:ext cx="11094415" cy="274320"/>
          </a:xfrm>
          <a:prstGeom prst="rect">
            <a:avLst/>
          </a:prstGeom>
          <a:noFill/>
        </p:spPr>
        <p:txBody>
          <a:bodyPr wrap="square" lIns="0" rIns="0" tIns="0" bIns="0" anchor="t">
            <a:spAutoFit/>
          </a:bodyPr>
          <a:lstStyle/>
          <a:p>
            <a:pPr algn="l">
              <a:lnSpc>
                <a:spcPct val="115000"/>
              </a:lnSpc>
              <a:spcAft>
                <a:spcPts val="0"/>
              </a:spcAft>
            </a:pPr>
            <a:r>
              <a:rPr b="1" sz="1100" i="0">
                <a:solidFill>
                  <a:srgbClr val="F5F5F2"/>
                </a:solidFill>
                <a:latin typeface="Arial"/>
              </a:rPr>
              <a:t>Vipps MobilePay</a:t>
            </a:r>
          </a:p>
        </p:txBody>
      </p:sp>
      <p:sp>
        <p:nvSpPr>
          <p:cNvPr id="6" name="Rectangle 5"/>
          <p:cNvSpPr/>
          <p:nvPr/>
        </p:nvSpPr>
        <p:spPr>
          <a:xfrm>
            <a:off x="548640" y="2555240"/>
            <a:ext cx="822960" cy="54864"/>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783080" y="1874519"/>
            <a:ext cx="9859975" cy="991615"/>
          </a:xfrm>
          <a:prstGeom prst="rect">
            <a:avLst/>
          </a:prstGeom>
          <a:noFill/>
        </p:spPr>
        <p:txBody>
          <a:bodyPr wrap="square" lIns="0" rIns="0" tIns="0" bIns="0" anchor="b">
            <a:spAutoFit/>
          </a:bodyPr>
          <a:lstStyle/>
          <a:p>
            <a:pPr algn="l">
              <a:lnSpc>
                <a:spcPct val="122000"/>
              </a:lnSpc>
              <a:spcAft>
                <a:spcPts val="0"/>
              </a:spcAft>
            </a:pPr>
            <a:r>
              <a:rPr b="1" sz="3200" i="0">
                <a:solidFill>
                  <a:srgbClr val="F5F5F2"/>
                </a:solidFill>
                <a:latin typeface="Arial"/>
              </a:rPr>
              <a:t>Conclusion</a:t>
            </a:r>
          </a:p>
        </p:txBody>
      </p:sp>
      <p:sp>
        <p:nvSpPr>
          <p:cNvPr id="8" name="TextBox 7"/>
          <p:cNvSpPr txBox="1"/>
          <p:nvPr/>
        </p:nvSpPr>
        <p:spPr>
          <a:xfrm>
            <a:off x="1783080" y="3140455"/>
            <a:ext cx="9859975" cy="247649"/>
          </a:xfrm>
          <a:prstGeom prst="rect">
            <a:avLst/>
          </a:prstGeom>
          <a:noFill/>
        </p:spPr>
        <p:txBody>
          <a:bodyPr wrap="square" lIns="0" rIns="0" tIns="0" bIns="0" anchor="t">
            <a:spAutoFit/>
          </a:bodyPr>
          <a:lstStyle/>
          <a:p>
            <a:pPr algn="l">
              <a:lnSpc>
                <a:spcPct val="130000"/>
              </a:lnSpc>
              <a:spcAft>
                <a:spcPts val="0"/>
              </a:spcAft>
            </a:pPr>
            <a:r>
              <a:rPr b="0" sz="1500" i="0">
                <a:solidFill>
                  <a:srgbClr val="F5F5F2"/>
                </a:solidFill>
                <a:latin typeface="Arial"/>
              </a:rPr>
              <a:t>What moves, what doesn't, and what I still don't know.</a:t>
            </a:r>
          </a:p>
        </p:txBody>
      </p:sp>
      <p:sp>
        <p:nvSpPr>
          <p:cNvPr id="9" name="Oval 8"/>
          <p:cNvSpPr/>
          <p:nvPr/>
        </p:nvSpPr>
        <p:spPr>
          <a:xfrm>
            <a:off x="10332720" y="5394960"/>
            <a:ext cx="457200" cy="457200"/>
          </a:xfrm>
          <a:prstGeom prst="ellipse">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927080" y="5532120"/>
            <a:ext cx="310896" cy="310896"/>
          </a:xfrm>
          <a:prstGeom prst="roundRect">
            <a:avLst>
              <a:gd name="adj" fmla="val 4000"/>
            </a:avLst>
          </a:prstGeom>
          <a:noFill/>
          <a:ln w="19050">
            <a:solidFill>
              <a:srgbClr val="5A7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5A78FF"/>
                </a:solidFill>
                <a:latin typeface="Arial"/>
              </a:rPr>
              <a:t>SLIDE 29 · CONCLUSION</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161225"/>
                </a:solidFill>
                <a:latin typeface="Arial"/>
              </a:rPr>
              <a:t>What moves, and what doesn't</a:t>
            </a:r>
          </a:p>
        </p:txBody>
      </p:sp>
      <p:sp>
        <p:nvSpPr>
          <p:cNvPr id="5" name="Rectangle 4"/>
          <p:cNvSpPr/>
          <p:nvPr/>
        </p:nvSpPr>
        <p:spPr>
          <a:xfrm>
            <a:off x="548640" y="1115568"/>
            <a:ext cx="1097280" cy="4114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161225"/>
                </a:solidFill>
                <a:latin typeface="Arial"/>
              </a:rPr>
              <a:t>Vipps MobilePay</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29</a:t>
            </a:r>
          </a:p>
        </p:txBody>
      </p:sp>
      <p:sp>
        <p:nvSpPr>
          <p:cNvPr id="8" name="Rounded Rectangle 7"/>
          <p:cNvSpPr/>
          <p:nvPr/>
        </p:nvSpPr>
        <p:spPr>
          <a:xfrm>
            <a:off x="548640" y="2014037"/>
            <a:ext cx="3576218" cy="1733232"/>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123765"/>
            <a:ext cx="45720" cy="1513776"/>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142053"/>
            <a:ext cx="3210458" cy="540131"/>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Shorter queue</a:t>
            </a:r>
          </a:p>
        </p:txBody>
      </p:sp>
      <p:sp>
        <p:nvSpPr>
          <p:cNvPr id="11" name="TextBox 10"/>
          <p:cNvSpPr txBox="1"/>
          <p:nvPr/>
        </p:nvSpPr>
        <p:spPr>
          <a:xfrm>
            <a:off x="749808" y="2755336"/>
            <a:ext cx="3210458" cy="809053"/>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Turn on what is there. Centralize the mechanical. Log it. Tier by risk.</a:t>
            </a:r>
          </a:p>
        </p:txBody>
      </p:sp>
      <p:sp>
        <p:nvSpPr>
          <p:cNvPr id="12" name="Rounded Rectangle 11"/>
          <p:cNvSpPr/>
          <p:nvPr/>
        </p:nvSpPr>
        <p:spPr>
          <a:xfrm>
            <a:off x="4307738" y="2014037"/>
            <a:ext cx="3576218" cy="1733232"/>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7738" y="2123765"/>
            <a:ext cx="45720" cy="1513776"/>
          </a:xfrm>
          <a:prstGeom prst="rect">
            <a:avLst/>
          </a:prstGeom>
          <a:solidFill>
            <a:srgbClr val="5A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8906" y="2142053"/>
            <a:ext cx="3210458" cy="540131"/>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Higher quality, with evidence</a:t>
            </a:r>
          </a:p>
        </p:txBody>
      </p:sp>
      <p:sp>
        <p:nvSpPr>
          <p:cNvPr id="15" name="TextBox 14"/>
          <p:cNvSpPr txBox="1"/>
          <p:nvPr/>
        </p:nvSpPr>
        <p:spPr>
          <a:xfrm>
            <a:off x="4508906" y="2755336"/>
            <a:ext cx="3210458" cy="809053"/>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A different model family reviews the change. Two more are design problems, not results.</a:t>
            </a:r>
          </a:p>
        </p:txBody>
      </p:sp>
      <p:sp>
        <p:nvSpPr>
          <p:cNvPr id="16" name="Rounded Rectangle 15"/>
          <p:cNvSpPr/>
          <p:nvPr/>
        </p:nvSpPr>
        <p:spPr>
          <a:xfrm>
            <a:off x="8066836" y="2014037"/>
            <a:ext cx="3576218" cy="1733232"/>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66836" y="2123765"/>
            <a:ext cx="45720" cy="1513776"/>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8004" y="2142053"/>
            <a:ext cx="3210458" cy="540131"/>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Set aside</a:t>
            </a:r>
          </a:p>
        </p:txBody>
      </p:sp>
      <p:sp>
        <p:nvSpPr>
          <p:cNvPr id="19" name="TextBox 18"/>
          <p:cNvSpPr txBox="1"/>
          <p:nvPr/>
        </p:nvSpPr>
        <p:spPr>
          <a:xfrm>
            <a:off x="8268004" y="2755336"/>
            <a:ext cx="3210458" cy="809053"/>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Restricting AI use. Open source defends against strangers. We employ our authors.</a:t>
            </a:r>
          </a:p>
        </p:txBody>
      </p:sp>
      <p:sp>
        <p:nvSpPr>
          <p:cNvPr id="20" name="Rectangle 19"/>
          <p:cNvSpPr/>
          <p:nvPr/>
        </p:nvSpPr>
        <p:spPr>
          <a:xfrm>
            <a:off x="548640" y="4231902"/>
            <a:ext cx="54864" cy="746861"/>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4323342"/>
            <a:ext cx="10682935" cy="563981"/>
          </a:xfrm>
          <a:prstGeom prst="rect">
            <a:avLst/>
          </a:prstGeom>
          <a:noFill/>
        </p:spPr>
        <p:txBody>
          <a:bodyPr wrap="square" lIns="0" rIns="0" tIns="0" bIns="0" anchor="ctr">
            <a:spAutoFit/>
          </a:bodyPr>
          <a:lstStyle/>
          <a:p>
            <a:pPr algn="l">
              <a:lnSpc>
                <a:spcPct val="115000"/>
              </a:lnSpc>
              <a:spcAft>
                <a:spcPts val="0"/>
              </a:spcAft>
            </a:pPr>
            <a:r>
              <a:rPr b="1" sz="1820" i="0">
                <a:solidFill>
                  <a:srgbClr val="161225"/>
                </a:solidFill>
                <a:latin typeface="Arial"/>
              </a:rPr>
              <a:t>The approval stays with a human who is independent of whoever implemented the change. That is the one line that does not move.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FF5B24"/>
                </a:solidFill>
                <a:latin typeface="Arial"/>
              </a:rPr>
              <a:t>SLIDE 30 · WHAT I DON'T KNOW YET</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161225"/>
                </a:solidFill>
                <a:latin typeface="Arial"/>
              </a:rPr>
              <a:t>What I don't know yet</a:t>
            </a:r>
          </a:p>
        </p:txBody>
      </p:sp>
      <p:sp>
        <p:nvSpPr>
          <p:cNvPr id="5" name="Rectangle 4"/>
          <p:cNvSpPr/>
          <p:nvPr/>
        </p:nvSpPr>
        <p:spPr>
          <a:xfrm>
            <a:off x="548640" y="1115568"/>
            <a:ext cx="1097280" cy="4114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161225"/>
                </a:solidFill>
                <a:latin typeface="Arial"/>
              </a:rPr>
              <a:t>Vipps MobilePay</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30</a:t>
            </a:r>
          </a:p>
        </p:txBody>
      </p:sp>
      <p:sp>
        <p:nvSpPr>
          <p:cNvPr id="8" name="Rounded Rectangle 7"/>
          <p:cNvSpPr/>
          <p:nvPr/>
        </p:nvSpPr>
        <p:spPr>
          <a:xfrm>
            <a:off x="548640" y="1811803"/>
            <a:ext cx="2636443" cy="2212022"/>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921531"/>
            <a:ext cx="45720" cy="1992566"/>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939819"/>
            <a:ext cx="2270683" cy="791908"/>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Same team, or outside it?</a:t>
            </a:r>
          </a:p>
        </p:txBody>
      </p:sp>
      <p:sp>
        <p:nvSpPr>
          <p:cNvPr id="11" name="TextBox 10"/>
          <p:cNvSpPr txBox="1"/>
          <p:nvPr/>
        </p:nvSpPr>
        <p:spPr>
          <a:xfrm>
            <a:off x="749808" y="2804879"/>
            <a:ext cx="2270683" cy="1036065"/>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Everything here assumes same-team approval is enough. The regulation does not say.</a:t>
            </a:r>
          </a:p>
        </p:txBody>
      </p:sp>
      <p:sp>
        <p:nvSpPr>
          <p:cNvPr id="12" name="Rounded Rectangle 11"/>
          <p:cNvSpPr/>
          <p:nvPr/>
        </p:nvSpPr>
        <p:spPr>
          <a:xfrm>
            <a:off x="3367963" y="1811803"/>
            <a:ext cx="2636443" cy="2212022"/>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67963" y="1921531"/>
            <a:ext cx="45720" cy="1992566"/>
          </a:xfrm>
          <a:prstGeom prst="rect">
            <a:avLst/>
          </a:prstGeom>
          <a:solidFill>
            <a:srgbClr val="5A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9131" y="1939819"/>
            <a:ext cx="2270683" cy="791908"/>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Does a classifier count as a function?</a:t>
            </a:r>
          </a:p>
        </p:txBody>
      </p:sp>
      <p:sp>
        <p:nvSpPr>
          <p:cNvPr id="15" name="TextBox 14"/>
          <p:cNvSpPr txBox="1"/>
          <p:nvPr/>
        </p:nvSpPr>
        <p:spPr>
          <a:xfrm>
            <a:off x="3569131" y="2804879"/>
            <a:ext cx="2270683" cy="1036065"/>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Meta and Zalando auto-approve. Nobody has written down whether DORA allows it.</a:t>
            </a:r>
          </a:p>
        </p:txBody>
      </p:sp>
      <p:sp>
        <p:nvSpPr>
          <p:cNvPr id="16" name="Rounded Rectangle 15"/>
          <p:cNvSpPr/>
          <p:nvPr/>
        </p:nvSpPr>
        <p:spPr>
          <a:xfrm>
            <a:off x="6187287" y="1811803"/>
            <a:ext cx="2636443" cy="2212022"/>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7287" y="1921531"/>
            <a:ext cx="45720" cy="1992566"/>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8455" y="1939819"/>
            <a:ext cx="2270683" cy="791908"/>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What is switched on today?</a:t>
            </a:r>
          </a:p>
        </p:txBody>
      </p:sp>
      <p:sp>
        <p:nvSpPr>
          <p:cNvPr id="19" name="TextBox 18"/>
          <p:cNvSpPr txBox="1"/>
          <p:nvPr/>
        </p:nvSpPr>
        <p:spPr>
          <a:xfrm>
            <a:off x="6388455" y="2804879"/>
            <a:ext cx="2270683" cy="1036065"/>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A day of checking I have not done.</a:t>
            </a:r>
          </a:p>
        </p:txBody>
      </p:sp>
      <p:sp>
        <p:nvSpPr>
          <p:cNvPr id="20" name="Rounded Rectangle 19"/>
          <p:cNvSpPr/>
          <p:nvPr/>
        </p:nvSpPr>
        <p:spPr>
          <a:xfrm>
            <a:off x="9006611" y="1811803"/>
            <a:ext cx="2636443" cy="2212022"/>
          </a:xfrm>
          <a:prstGeom prst="roundRect">
            <a:avLst>
              <a:gd name="adj" fmla="val 4000"/>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06611" y="1921531"/>
            <a:ext cx="45720" cy="1992566"/>
          </a:xfrm>
          <a:prstGeom prst="rect">
            <a:avLst/>
          </a:prstGeom>
          <a:solidFill>
            <a:srgbClr val="5A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07779" y="1939819"/>
            <a:ext cx="2270683" cy="791908"/>
          </a:xfrm>
          <a:prstGeom prst="rect">
            <a:avLst/>
          </a:prstGeom>
          <a:noFill/>
        </p:spPr>
        <p:txBody>
          <a:bodyPr wrap="square" lIns="0" rIns="0" tIns="0" bIns="0" anchor="t">
            <a:spAutoFit/>
          </a:bodyPr>
          <a:lstStyle/>
          <a:p>
            <a:pPr algn="l">
              <a:lnSpc>
                <a:spcPct val="115000"/>
              </a:lnSpc>
              <a:spcAft>
                <a:spcPts val="0"/>
              </a:spcAft>
            </a:pPr>
            <a:r>
              <a:rPr b="1" sz="1625" i="0">
                <a:solidFill>
                  <a:srgbClr val="161225"/>
                </a:solidFill>
                <a:latin typeface="Arial"/>
              </a:rPr>
              <a:t>Does the author's check survive a team?</a:t>
            </a:r>
          </a:p>
        </p:txBody>
      </p:sp>
      <p:sp>
        <p:nvSpPr>
          <p:cNvPr id="23" name="TextBox 22"/>
          <p:cNvSpPr txBox="1"/>
          <p:nvPr/>
        </p:nvSpPr>
        <p:spPr>
          <a:xfrm>
            <a:off x="9207779" y="2804879"/>
            <a:ext cx="2270683" cy="1036065"/>
          </a:xfrm>
          <a:prstGeom prst="rect">
            <a:avLst/>
          </a:prstGeom>
          <a:noFill/>
        </p:spPr>
        <p:txBody>
          <a:bodyPr wrap="square" lIns="0" rIns="0" tIns="0" bIns="0" anchor="t">
            <a:spAutoFit/>
          </a:bodyPr>
          <a:lstStyle/>
          <a:p>
            <a:pPr algn="l">
              <a:lnSpc>
                <a:spcPct val="125000"/>
              </a:lnSpc>
              <a:spcAft>
                <a:spcPts val="0"/>
              </a:spcAft>
            </a:pPr>
            <a:r>
              <a:rPr b="0" sz="1430" i="0">
                <a:solidFill>
                  <a:srgbClr val="161225"/>
                </a:solidFill>
                <a:latin typeface="Arial"/>
              </a:rPr>
              <a:t>Nobody has used it.</a:t>
            </a:r>
          </a:p>
        </p:txBody>
      </p:sp>
      <p:sp>
        <p:nvSpPr>
          <p:cNvPr id="24" name="Rectangle 23"/>
          <p:cNvSpPr/>
          <p:nvPr/>
        </p:nvSpPr>
        <p:spPr>
          <a:xfrm>
            <a:off x="548640" y="4508457"/>
            <a:ext cx="5455767" cy="911352"/>
          </a:xfrm>
          <a:prstGeom prst="rect">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508457"/>
            <a:ext cx="45720" cy="911352"/>
          </a:xfrm>
          <a:prstGeom prst="rect">
            <a:avLst/>
          </a:prstGeom>
          <a:solidFill>
            <a:srgbClr val="5A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618185"/>
            <a:ext cx="5090007" cy="228600"/>
          </a:xfrm>
          <a:prstGeom prst="rect">
            <a:avLst/>
          </a:prstGeom>
          <a:noFill/>
        </p:spPr>
        <p:txBody>
          <a:bodyPr wrap="square" lIns="0" rIns="0" tIns="0" bIns="0" anchor="t">
            <a:spAutoFit/>
          </a:bodyPr>
          <a:lstStyle/>
          <a:p>
            <a:pPr algn="l">
              <a:lnSpc>
                <a:spcPct val="115000"/>
              </a:lnSpc>
              <a:spcAft>
                <a:spcPts val="0"/>
              </a:spcAft>
            </a:pPr>
            <a:r>
              <a:rPr b="1" sz="1495" i="0">
                <a:solidFill>
                  <a:srgbClr val="161225"/>
                </a:solidFill>
                <a:latin typeface="Arial"/>
              </a:rPr>
              <a:t>What would help me most</a:t>
            </a:r>
          </a:p>
        </p:txBody>
      </p:sp>
      <p:sp>
        <p:nvSpPr>
          <p:cNvPr id="27" name="TextBox 26"/>
          <p:cNvSpPr txBox="1"/>
          <p:nvPr/>
        </p:nvSpPr>
        <p:spPr>
          <a:xfrm>
            <a:off x="749808" y="4855929"/>
            <a:ext cx="5090007" cy="435864"/>
          </a:xfrm>
          <a:prstGeom prst="rect">
            <a:avLst/>
          </a:prstGeom>
          <a:noFill/>
        </p:spPr>
        <p:txBody>
          <a:bodyPr wrap="square" lIns="0" rIns="0" tIns="0" bIns="0" anchor="t">
            <a:spAutoFit/>
          </a:bodyPr>
          <a:lstStyle/>
          <a:p>
            <a:pPr algn="l">
              <a:lnSpc>
                <a:spcPct val="120000"/>
              </a:lnSpc>
              <a:spcAft>
                <a:spcPts val="0"/>
              </a:spcAft>
            </a:pPr>
            <a:r>
              <a:rPr b="0" sz="1430" i="0">
                <a:solidFill>
                  <a:srgbClr val="161225"/>
                </a:solidFill>
                <a:latin typeface="Arial"/>
              </a:rPr>
              <a:t>A review decision you made and had to undo. What did it cost?</a:t>
            </a:r>
          </a:p>
        </p:txBody>
      </p:sp>
      <p:sp>
        <p:nvSpPr>
          <p:cNvPr id="28" name="Rectangle 27"/>
          <p:cNvSpPr/>
          <p:nvPr/>
        </p:nvSpPr>
        <p:spPr>
          <a:xfrm>
            <a:off x="6187287" y="4508457"/>
            <a:ext cx="5455767" cy="911352"/>
          </a:xfrm>
          <a:prstGeom prst="rect">
            <a:avLst/>
          </a:prstGeom>
          <a:solidFill>
            <a:srgbClr val="FFFFFF"/>
          </a:solidFill>
          <a:ln w="9525">
            <a:solidFill>
              <a:srgbClr val="DE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87287" y="4508457"/>
            <a:ext cx="45720" cy="911352"/>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88455" y="4618185"/>
            <a:ext cx="5090007" cy="228600"/>
          </a:xfrm>
          <a:prstGeom prst="rect">
            <a:avLst/>
          </a:prstGeom>
          <a:noFill/>
        </p:spPr>
        <p:txBody>
          <a:bodyPr wrap="square" lIns="0" rIns="0" tIns="0" bIns="0" anchor="t">
            <a:spAutoFit/>
          </a:bodyPr>
          <a:lstStyle/>
          <a:p>
            <a:pPr algn="l">
              <a:lnSpc>
                <a:spcPct val="115000"/>
              </a:lnSpc>
              <a:spcAft>
                <a:spcPts val="0"/>
              </a:spcAft>
            </a:pPr>
            <a:r>
              <a:rPr b="1" sz="1495" i="0">
                <a:solidFill>
                  <a:srgbClr val="161225"/>
                </a:solidFill>
                <a:latin typeface="Arial"/>
              </a:rPr>
              <a:t>What would change my mind</a:t>
            </a:r>
          </a:p>
        </p:txBody>
      </p:sp>
      <p:sp>
        <p:nvSpPr>
          <p:cNvPr id="31" name="TextBox 30"/>
          <p:cNvSpPr txBox="1"/>
          <p:nvPr/>
        </p:nvSpPr>
        <p:spPr>
          <a:xfrm>
            <a:off x="6388455" y="4855929"/>
            <a:ext cx="5090007" cy="435864"/>
          </a:xfrm>
          <a:prstGeom prst="rect">
            <a:avLst/>
          </a:prstGeom>
          <a:noFill/>
        </p:spPr>
        <p:txBody>
          <a:bodyPr wrap="square" lIns="0" rIns="0" tIns="0" bIns="0" anchor="t">
            <a:spAutoFit/>
          </a:bodyPr>
          <a:lstStyle/>
          <a:p>
            <a:pPr algn="l">
              <a:lnSpc>
                <a:spcPct val="120000"/>
              </a:lnSpc>
              <a:spcAft>
                <a:spcPts val="0"/>
              </a:spcAft>
            </a:pPr>
            <a:r>
              <a:rPr b="0" sz="1430" i="0">
                <a:solidFill>
                  <a:srgbClr val="161225"/>
                </a:solidFill>
                <a:latin typeface="Arial"/>
              </a:rPr>
              <a:t>A regulated company whose auditor accepted a machine's approval.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5A78FF"/>
                </a:solidFill>
                <a:latin typeface="Arial"/>
              </a:rPr>
              <a:t>SLIDE 31 · APPENDIX A1</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161225"/>
                </a:solidFill>
                <a:latin typeface="Arial"/>
              </a:rPr>
              <a:t>A1 — Who did what about the queue</a:t>
            </a:r>
          </a:p>
        </p:txBody>
      </p:sp>
      <p:sp>
        <p:nvSpPr>
          <p:cNvPr id="5" name="Rectangle 4"/>
          <p:cNvSpPr/>
          <p:nvPr/>
        </p:nvSpPr>
        <p:spPr>
          <a:xfrm>
            <a:off x="548640" y="1115568"/>
            <a:ext cx="1097280" cy="4114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161225"/>
                </a:solidFill>
                <a:latin typeface="Arial"/>
              </a:rPr>
              <a:t>Vipps MobilePay</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31</a:t>
            </a:r>
          </a:p>
        </p:txBody>
      </p:sp>
      <p:sp>
        <p:nvSpPr>
          <p:cNvPr id="8" name="TextBox 7"/>
          <p:cNvSpPr txBox="1"/>
          <p:nvPr/>
        </p:nvSpPr>
        <p:spPr>
          <a:xfrm>
            <a:off x="548640" y="1371600"/>
            <a:ext cx="11094415" cy="156179"/>
          </a:xfrm>
          <a:prstGeom prst="rect">
            <a:avLst/>
          </a:prstGeom>
          <a:noFill/>
        </p:spPr>
        <p:txBody>
          <a:bodyPr wrap="square" lIns="0" rIns="0" tIns="0" bIns="0" anchor="t">
            <a:spAutoFit/>
          </a:bodyPr>
          <a:lstStyle/>
          <a:p>
            <a:pPr algn="l">
              <a:lnSpc>
                <a:spcPct val="115000"/>
              </a:lnSpc>
              <a:spcAft>
                <a:spcPts val="0"/>
              </a:spcAft>
            </a:pPr>
            <a:r>
              <a:rPr b="0" sz="1008" i="1">
                <a:solidFill>
                  <a:srgbClr val="6F6C77"/>
                </a:solidFill>
                <a:latin typeface="Arial"/>
              </a:rPr>
              <a:t>Use when someone asks for the full list behind slide 13.</a:t>
            </a:r>
          </a:p>
        </p:txBody>
      </p:sp>
      <p:graphicFrame>
        <p:nvGraphicFramePr>
          <p:cNvPr id="9" name="Table 8"/>
          <p:cNvGraphicFramePr>
            <a:graphicFrameLocks noGrp="1"/>
          </p:cNvGraphicFramePr>
          <p:nvPr/>
        </p:nvGraphicFramePr>
        <p:xfrm>
          <a:off x="548640" y="1629460"/>
          <a:ext cx="11094413" cy="4615888"/>
        </p:xfrm>
        <a:graphic>
          <a:graphicData uri="http://schemas.openxmlformats.org/drawingml/2006/table">
            <a:tbl>
              <a:tblPr firstRow="0" bandRow="0">
                <a:tableStyleId>{5C22544A-7EE6-4342-B048-85BDC9FD1C3A}</a:tableStyleId>
              </a:tblPr>
              <a:tblGrid>
                <a:gridCol w="1312242"/>
                <a:gridCol w="7157687"/>
                <a:gridCol w="1312242"/>
                <a:gridCol w="1312242"/>
              </a:tblGrid>
              <a:tr h="347472">
                <a:tc>
                  <a:txBody>
                    <a:bodyPr wrap="square"/>
                    <a:lstStyle/>
                    <a:p>
                      <a:pPr>
                        <a:lnSpc>
                          <a:spcPct val="110000"/>
                        </a:lnSpc>
                      </a:pPr>
                      <a:r>
                        <a:rPr b="1" sz="1008" i="0">
                          <a:solidFill>
                            <a:srgbClr val="F5F5F2"/>
                          </a:solidFill>
                          <a:latin typeface="Arial"/>
                        </a:rPr>
                        <a:t>Who</a:t>
                      </a:r>
                    </a:p>
                  </a:txBody>
                  <a:tcPr marL="73152" marR="73152" marT="45720" marB="45720" anchor="t">
                    <a:solidFill>
                      <a:srgbClr val="161225"/>
                    </a:solidFill>
                  </a:tcPr>
                </a:tc>
                <a:tc>
                  <a:txBody>
                    <a:bodyPr wrap="square"/>
                    <a:lstStyle/>
                    <a:p>
                      <a:pPr>
                        <a:lnSpc>
                          <a:spcPct val="110000"/>
                        </a:lnSpc>
                      </a:pPr>
                      <a:r>
                        <a:rPr b="1" sz="1008" i="0">
                          <a:solidFill>
                            <a:srgbClr val="F5F5F2"/>
                          </a:solidFill>
                          <a:latin typeface="Arial"/>
                        </a:rPr>
                        <a:t>What they did</a:t>
                      </a:r>
                    </a:p>
                  </a:txBody>
                  <a:tcPr marL="73152" marR="73152" marT="45720" marB="45720" anchor="t">
                    <a:solidFill>
                      <a:srgbClr val="161225"/>
                    </a:solidFill>
                  </a:tcPr>
                </a:tc>
                <a:tc>
                  <a:txBody>
                    <a:bodyPr wrap="square"/>
                    <a:lstStyle/>
                    <a:p>
                      <a:pPr>
                        <a:lnSpc>
                          <a:spcPct val="110000"/>
                        </a:lnSpc>
                      </a:pPr>
                      <a:r>
                        <a:rPr b="1" sz="1008" i="0">
                          <a:solidFill>
                            <a:srgbClr val="F5F5F2"/>
                          </a:solidFill>
                          <a:latin typeface="Arial"/>
                        </a:rPr>
                        <a:t>Human approver?</a:t>
                      </a:r>
                    </a:p>
                  </a:txBody>
                  <a:tcPr marL="73152" marR="73152" marT="45720" marB="45720" anchor="t">
                    <a:solidFill>
                      <a:srgbClr val="161225"/>
                    </a:solidFill>
                  </a:tcPr>
                </a:tc>
                <a:tc>
                  <a:txBody>
                    <a:bodyPr wrap="square"/>
                    <a:lstStyle/>
                    <a:p>
                      <a:pPr>
                        <a:lnSpc>
                          <a:spcPct val="110000"/>
                        </a:lnSpc>
                      </a:pPr>
                      <a:r>
                        <a:rPr b="1" sz="1008" i="0">
                          <a:solidFill>
                            <a:srgbClr val="F5F5F2"/>
                          </a:solidFill>
                          <a:latin typeface="Arial"/>
                        </a:rPr>
                        <a:t>Regulated?</a:t>
                      </a:r>
                    </a:p>
                  </a:txBody>
                  <a:tcPr marL="73152" marR="73152" marT="45720" marB="45720" anchor="t">
                    <a:solidFill>
                      <a:srgbClr val="161225"/>
                    </a:solidFill>
                  </a:tcPr>
                </a:tc>
              </a:tr>
              <a:tr h="318211">
                <a:tc>
                  <a:txBody>
                    <a:bodyPr wrap="square"/>
                    <a:lstStyle/>
                    <a:p>
                      <a:pPr>
                        <a:lnSpc>
                          <a:spcPct val="110000"/>
                        </a:lnSpc>
                      </a:pPr>
                      <a:r>
                        <a:rPr b="1" sz="1008" i="0">
                          <a:solidFill>
                            <a:srgbClr val="161225"/>
                          </a:solidFill>
                          <a:latin typeface="Arial"/>
                        </a:rPr>
                        <a:t>Meta</a:t>
                      </a:r>
                    </a:p>
                  </a:txBody>
                  <a:tcPr marL="73152" marR="73152" marT="45720" marB="45720" anchor="t">
                    <a:solidFill>
                      <a:srgbClr val="FFFFFF"/>
                    </a:solidFill>
                  </a:tcPr>
                </a:tc>
                <a:tc>
                  <a:txBody>
                    <a:bodyPr wrap="square"/>
                    <a:lstStyle/>
                    <a:p>
                      <a:pPr>
                        <a:lnSpc>
                          <a:spcPct val="110000"/>
                        </a:lnSpc>
                      </a:pPr>
                      <a:r>
                        <a:rPr b="0" sz="1008" i="0">
                          <a:solidFill>
                            <a:srgbClr val="161225"/>
                          </a:solidFill>
                          <a:latin typeface="Arial"/>
                        </a:rPr>
                        <a:t>Risk score per change, low-risk merged automatically. 331.000+ to production.</a:t>
                      </a:r>
                    </a:p>
                  </a:txBody>
                  <a:tcPr marL="73152" marR="73152" marT="45720" marB="45720" anchor="t">
                    <a:solidFill>
                      <a:srgbClr val="FFFFFF"/>
                    </a:solidFill>
                  </a:tcPr>
                </a:tc>
                <a:tc>
                  <a:txBody>
                    <a:bodyPr wrap="square"/>
                    <a:lstStyle/>
                    <a:p>
                      <a:pPr>
                        <a:lnSpc>
                          <a:spcPct val="110000"/>
                        </a:lnSpc>
                      </a:pPr>
                      <a:r>
                        <a:rPr b="0" sz="1008" i="0">
                          <a:solidFill>
                            <a:srgbClr val="161225"/>
                          </a:solidFill>
                          <a:latin typeface="Arial"/>
                        </a:rPr>
                        <a:t>No, for low risk</a:t>
                      </a:r>
                    </a:p>
                  </a:txBody>
                  <a:tcPr marL="73152" marR="73152" marT="45720" marB="45720" anchor="t">
                    <a:solidFill>
                      <a:srgbClr val="FFFFFF"/>
                    </a:solidFill>
                  </a:tcPr>
                </a:tc>
                <a:tc>
                  <a:txBody>
                    <a:bodyPr wrap="square"/>
                    <a:lstStyle/>
                    <a:p>
                      <a:pPr>
                        <a:lnSpc>
                          <a:spcPct val="110000"/>
                        </a:lnSpc>
                      </a:pPr>
                      <a:r>
                        <a:rPr b="0" sz="1008" i="0">
                          <a:solidFill>
                            <a:srgbClr val="161225"/>
                          </a:solidFill>
                          <a:latin typeface="Arial"/>
                        </a:rPr>
                        <a:t>No</a:t>
                      </a:r>
                    </a:p>
                  </a:txBody>
                  <a:tcPr marL="73152" marR="73152" marT="45720" marB="45720" anchor="t">
                    <a:solidFill>
                      <a:srgbClr val="FFFFFF"/>
                    </a:solidFill>
                  </a:tcPr>
                </a:tc>
              </a:tr>
              <a:tr h="318211">
                <a:tc>
                  <a:txBody>
                    <a:bodyPr wrap="square"/>
                    <a:lstStyle/>
                    <a:p>
                      <a:pPr>
                        <a:lnSpc>
                          <a:spcPct val="110000"/>
                        </a:lnSpc>
                      </a:pPr>
                      <a:r>
                        <a:rPr b="1" sz="1008" i="0">
                          <a:solidFill>
                            <a:srgbClr val="161225"/>
                          </a:solidFill>
                          <a:latin typeface="Arial"/>
                        </a:rPr>
                        <a:t>Zalando</a:t>
                      </a:r>
                    </a:p>
                  </a:txBody>
                  <a:tcPr marL="73152" marR="73152" marT="45720" marB="45720" anchor="t">
                    <a:solidFill>
                      <a:srgbClr val="ECEBE6"/>
                    </a:solidFill>
                  </a:tcPr>
                </a:tc>
                <a:tc>
                  <a:txBody>
                    <a:bodyPr wrap="square"/>
                    <a:lstStyle/>
                    <a:p>
                      <a:pPr>
                        <a:lnSpc>
                          <a:spcPct val="110000"/>
                        </a:lnSpc>
                      </a:pPr>
                      <a:r>
                        <a:rPr b="0" sz="1008" i="0">
                          <a:solidFill>
                            <a:srgbClr val="161225"/>
                          </a:solidFill>
                          <a:latin typeface="Arial"/>
                        </a:rPr>
                        <a:t>Classifier on open. 33% auto-approved as low-risk, author merges.</a:t>
                      </a:r>
                    </a:p>
                  </a:txBody>
                  <a:tcPr marL="73152" marR="73152" marT="45720" marB="45720" anchor="t">
                    <a:solidFill>
                      <a:srgbClr val="ECEBE6"/>
                    </a:solidFill>
                  </a:tcPr>
                </a:tc>
                <a:tc>
                  <a:txBody>
                    <a:bodyPr wrap="square"/>
                    <a:lstStyle/>
                    <a:p>
                      <a:pPr>
                        <a:lnSpc>
                          <a:spcPct val="110000"/>
                        </a:lnSpc>
                      </a:pPr>
                      <a:r>
                        <a:rPr b="0" sz="1008" i="0">
                          <a:solidFill>
                            <a:srgbClr val="161225"/>
                          </a:solidFill>
                          <a:latin typeface="Arial"/>
                        </a:rPr>
                        <a:t>No, for low risk</a:t>
                      </a:r>
                    </a:p>
                  </a:txBody>
                  <a:tcPr marL="73152" marR="73152" marT="45720" marB="45720" anchor="t">
                    <a:solidFill>
                      <a:srgbClr val="ECEBE6"/>
                    </a:solidFill>
                  </a:tcPr>
                </a:tc>
                <a:tc>
                  <a:txBody>
                    <a:bodyPr wrap="square"/>
                    <a:lstStyle/>
                    <a:p>
                      <a:pPr>
                        <a:lnSpc>
                          <a:spcPct val="110000"/>
                        </a:lnSpc>
                      </a:pPr>
                      <a:r>
                        <a:rPr b="0" sz="1008" i="0">
                          <a:solidFill>
                            <a:srgbClr val="161225"/>
                          </a:solidFill>
                          <a:latin typeface="Arial"/>
                        </a:rPr>
                        <a:t>No</a:t>
                      </a:r>
                    </a:p>
                  </a:txBody>
                  <a:tcPr marL="73152" marR="73152" marT="45720" marB="45720" anchor="t">
                    <a:solidFill>
                      <a:srgbClr val="ECEBE6"/>
                    </a:solidFill>
                  </a:tcPr>
                </a:tc>
              </a:tr>
              <a:tr h="318211">
                <a:tc>
                  <a:txBody>
                    <a:bodyPr wrap="square"/>
                    <a:lstStyle/>
                    <a:p>
                      <a:pPr>
                        <a:lnSpc>
                          <a:spcPct val="110000"/>
                        </a:lnSpc>
                      </a:pPr>
                      <a:r>
                        <a:rPr b="1" sz="1008" i="0">
                          <a:solidFill>
                            <a:srgbClr val="161225"/>
                          </a:solidFill>
                          <a:latin typeface="Arial"/>
                        </a:rPr>
                        <a:t>Spotify</a:t>
                      </a:r>
                    </a:p>
                  </a:txBody>
                  <a:tcPr marL="73152" marR="73152" marT="45720" marB="45720" anchor="t">
                    <a:solidFill>
                      <a:srgbClr val="FFFFFF"/>
                    </a:solidFill>
                  </a:tcPr>
                </a:tc>
                <a:tc>
                  <a:txBody>
                    <a:bodyPr wrap="square"/>
                    <a:lstStyle/>
                    <a:p>
                      <a:pPr>
                        <a:lnSpc>
                          <a:spcPct val="110000"/>
                        </a:lnSpc>
                      </a:pPr>
                      <a:r>
                        <a:rPr b="0" sz="1008" i="0">
                          <a:solidFill>
                            <a:srgbClr val="161225"/>
                          </a:solidFill>
                          <a:latin typeface="Arial"/>
                        </a:rPr>
                        <a:t>76% more pull requests. Auto-merges what it judges safe. Soundcheck tiers checks per component type.</a:t>
                      </a:r>
                    </a:p>
                  </a:txBody>
                  <a:tcPr marL="73152" marR="73152" marT="45720" marB="45720" anchor="t">
                    <a:solidFill>
                      <a:srgbClr val="FFFFFF"/>
                    </a:solidFill>
                  </a:tcPr>
                </a:tc>
                <a:tc>
                  <a:txBody>
                    <a:bodyPr wrap="square"/>
                    <a:lstStyle/>
                    <a:p>
                      <a:pPr>
                        <a:lnSpc>
                          <a:spcPct val="110000"/>
                        </a:lnSpc>
                      </a:pPr>
                      <a:r>
                        <a:rPr b="0" sz="1008" i="0">
                          <a:solidFill>
                            <a:srgbClr val="161225"/>
                          </a:solidFill>
                          <a:latin typeface="Arial"/>
                        </a:rPr>
                        <a:t>No, for safe</a:t>
                      </a:r>
                    </a:p>
                  </a:txBody>
                  <a:tcPr marL="73152" marR="73152" marT="45720" marB="45720" anchor="t">
                    <a:solidFill>
                      <a:srgbClr val="FFFFFF"/>
                    </a:solidFill>
                  </a:tcPr>
                </a:tc>
                <a:tc>
                  <a:txBody>
                    <a:bodyPr wrap="square"/>
                    <a:lstStyle/>
                    <a:p>
                      <a:pPr>
                        <a:lnSpc>
                          <a:spcPct val="110000"/>
                        </a:lnSpc>
                      </a:pPr>
                      <a:r>
                        <a:rPr b="0" sz="1008" i="0">
                          <a:solidFill>
                            <a:srgbClr val="161225"/>
                          </a:solidFill>
                          <a:latin typeface="Arial"/>
                        </a:rPr>
                        <a:t>No</a:t>
                      </a:r>
                    </a:p>
                  </a:txBody>
                  <a:tcPr marL="73152" marR="73152" marT="45720" marB="45720" anchor="t">
                    <a:solidFill>
                      <a:srgbClr val="FFFFFF"/>
                    </a:solidFill>
                  </a:tcPr>
                </a:tc>
              </a:tr>
              <a:tr h="318211">
                <a:tc>
                  <a:txBody>
                    <a:bodyPr wrap="square"/>
                    <a:lstStyle/>
                    <a:p>
                      <a:pPr>
                        <a:lnSpc>
                          <a:spcPct val="110000"/>
                        </a:lnSpc>
                      </a:pPr>
                      <a:r>
                        <a:rPr b="1" sz="1008" i="0">
                          <a:solidFill>
                            <a:srgbClr val="161225"/>
                          </a:solidFill>
                          <a:latin typeface="Arial"/>
                        </a:rPr>
                        <a:t>Shopify</a:t>
                      </a:r>
                    </a:p>
                  </a:txBody>
                  <a:tcPr marL="73152" marR="73152" marT="45720" marB="45720" anchor="t">
                    <a:solidFill>
                      <a:srgbClr val="ECEBE6"/>
                    </a:solidFill>
                  </a:tcPr>
                </a:tc>
                <a:tc>
                  <a:txBody>
                    <a:bodyPr wrap="square"/>
                    <a:lstStyle/>
                    <a:p>
                      <a:pPr>
                        <a:lnSpc>
                          <a:spcPct val="110000"/>
                        </a:lnSpc>
                      </a:pPr>
                      <a:r>
                        <a:rPr b="0" sz="1008" i="0">
                          <a:solidFill>
                            <a:srgbClr val="161225"/>
                          </a:solidFill>
                          <a:latin typeface="Arial"/>
                        </a:rPr>
                        <a:t>System writes and explains security fixes, freshness-gated merge queue. Backlog down ~70% in 11 days.</a:t>
                      </a:r>
                    </a:p>
                  </a:txBody>
                  <a:tcPr marL="73152" marR="73152" marT="45720" marB="45720" anchor="t">
                    <a:solidFill>
                      <a:srgbClr val="ECEBE6"/>
                    </a:solidFill>
                  </a:tcPr>
                </a:tc>
                <a:tc>
                  <a:txBody>
                    <a:bodyPr wrap="square"/>
                    <a:lstStyle/>
                    <a:p>
                      <a:pPr>
                        <a:lnSpc>
                          <a:spcPct val="110000"/>
                        </a:lnSpc>
                      </a:pPr>
                      <a:r>
                        <a:rPr b="0" sz="1008" i="0">
                          <a:solidFill>
                            <a:srgbClr val="161225"/>
                          </a:solidFill>
                          <a:latin typeface="Arial"/>
                        </a:rPr>
                        <a:t>Yes</a:t>
                      </a:r>
                    </a:p>
                  </a:txBody>
                  <a:tcPr marL="73152" marR="73152" marT="45720" marB="45720" anchor="t">
                    <a:solidFill>
                      <a:srgbClr val="ECEBE6"/>
                    </a:solidFill>
                  </a:tcPr>
                </a:tc>
                <a:tc>
                  <a:txBody>
                    <a:bodyPr wrap="square"/>
                    <a:lstStyle/>
                    <a:p>
                      <a:pPr>
                        <a:lnSpc>
                          <a:spcPct val="110000"/>
                        </a:lnSpc>
                      </a:pPr>
                      <a:r>
                        <a:rPr b="0" sz="1008" i="0">
                          <a:solidFill>
                            <a:srgbClr val="161225"/>
                          </a:solidFill>
                          <a:latin typeface="Arial"/>
                        </a:rPr>
                        <a:t>No</a:t>
                      </a:r>
                    </a:p>
                  </a:txBody>
                  <a:tcPr marL="73152" marR="73152" marT="45720" marB="45720" anchor="t">
                    <a:solidFill>
                      <a:srgbClr val="ECEBE6"/>
                    </a:solidFill>
                  </a:tcPr>
                </a:tc>
              </a:tr>
              <a:tr h="471830">
                <a:tc>
                  <a:txBody>
                    <a:bodyPr wrap="square"/>
                    <a:lstStyle/>
                    <a:p>
                      <a:pPr>
                        <a:lnSpc>
                          <a:spcPct val="110000"/>
                        </a:lnSpc>
                      </a:pPr>
                      <a:r>
                        <a:rPr b="1" sz="1008" i="0">
                          <a:solidFill>
                            <a:srgbClr val="161225"/>
                          </a:solidFill>
                          <a:latin typeface="Arial"/>
                        </a:rPr>
                        <a:t>Adyen</a:t>
                      </a:r>
                    </a:p>
                  </a:txBody>
                  <a:tcPr marL="73152" marR="73152" marT="45720" marB="45720" anchor="t">
                    <a:solidFill>
                      <a:srgbClr val="FFFFFF"/>
                    </a:solidFill>
                  </a:tcPr>
                </a:tc>
                <a:tc>
                  <a:txBody>
                    <a:bodyPr wrap="square"/>
                    <a:lstStyle/>
                    <a:p>
                      <a:pPr>
                        <a:lnSpc>
                          <a:spcPct val="110000"/>
                        </a:lnSpc>
                      </a:pPr>
                      <a:r>
                        <a:rPr b="0" sz="1008" i="0">
                          <a:solidFill>
                            <a:srgbClr val="161225"/>
                          </a:solidFill>
                          <a:latin typeface="Arial"/>
                        </a:rPr>
                        <a:t>4.000+ automated merge requests from a deterministic bot, under five files each. Designated person re-reads approved changes.</a:t>
                      </a:r>
                    </a:p>
                  </a:txBody>
                  <a:tcPr marL="73152" marR="73152" marT="45720" marB="45720" anchor="t">
                    <a:solidFill>
                      <a:srgbClr val="FFFFFF"/>
                    </a:solidFill>
                  </a:tcPr>
                </a:tc>
                <a:tc>
                  <a:txBody>
                    <a:bodyPr wrap="square"/>
                    <a:lstStyle/>
                    <a:p>
                      <a:pPr>
                        <a:lnSpc>
                          <a:spcPct val="110000"/>
                        </a:lnSpc>
                      </a:pPr>
                      <a:r>
                        <a:rPr b="0" sz="1008" i="0">
                          <a:solidFill>
                            <a:srgbClr val="161225"/>
                          </a:solidFill>
                          <a:latin typeface="Arial"/>
                        </a:rPr>
                        <a:t>Yes</a:t>
                      </a:r>
                    </a:p>
                  </a:txBody>
                  <a:tcPr marL="73152" marR="73152" marT="45720" marB="45720" anchor="t">
                    <a:solidFill>
                      <a:srgbClr val="FFFFFF"/>
                    </a:solidFill>
                  </a:tcPr>
                </a:tc>
                <a:tc>
                  <a:txBody>
                    <a:bodyPr wrap="square"/>
                    <a:lstStyle/>
                    <a:p>
                      <a:pPr>
                        <a:lnSpc>
                          <a:spcPct val="110000"/>
                        </a:lnSpc>
                      </a:pPr>
                      <a:r>
                        <a:rPr b="0" sz="1008" i="0">
                          <a:solidFill>
                            <a:srgbClr val="161225"/>
                          </a:solidFill>
                          <a:latin typeface="Arial"/>
                        </a:rPr>
                        <a:t>Yes</a:t>
                      </a:r>
                    </a:p>
                  </a:txBody>
                  <a:tcPr marL="73152" marR="73152" marT="45720" marB="45720" anchor="t">
                    <a:solidFill>
                      <a:srgbClr val="FFFFFF"/>
                    </a:solidFill>
                  </a:tcPr>
                </a:tc>
              </a:tr>
              <a:tr h="471830">
                <a:tc>
                  <a:txBody>
                    <a:bodyPr wrap="square"/>
                    <a:lstStyle/>
                    <a:p>
                      <a:pPr>
                        <a:lnSpc>
                          <a:spcPct val="110000"/>
                        </a:lnSpc>
                      </a:pPr>
                      <a:r>
                        <a:rPr b="1" sz="1008" i="0">
                          <a:solidFill>
                            <a:srgbClr val="161225"/>
                          </a:solidFill>
                          <a:latin typeface="Arial"/>
                        </a:rPr>
                        <a:t>Monzo</a:t>
                      </a:r>
                    </a:p>
                  </a:txBody>
                  <a:tcPr marL="73152" marR="73152" marT="45720" marB="45720" anchor="t">
                    <a:solidFill>
                      <a:srgbClr val="ECEBE6"/>
                    </a:solidFill>
                  </a:tcPr>
                </a:tc>
                <a:tc>
                  <a:txBody>
                    <a:bodyPr wrap="square"/>
                    <a:lstStyle/>
                    <a:p>
                      <a:pPr>
                        <a:lnSpc>
                          <a:spcPct val="110000"/>
                        </a:lnSpc>
                      </a:pPr>
                      <a:r>
                        <a:rPr b="0" sz="1008" i="0">
                          <a:solidFill>
                            <a:srgbClr val="161225"/>
                          </a:solidFill>
                          <a:latin typeface="Arial"/>
                        </a:rPr>
                        <a:t>"An engineer still reviews and merges, but the bottleneck moves from 'find an engineer with capacity' to 'find a reviewer'."</a:t>
                      </a:r>
                    </a:p>
                  </a:txBody>
                  <a:tcPr marL="73152" marR="73152" marT="45720" marB="45720" anchor="t">
                    <a:solidFill>
                      <a:srgbClr val="ECEBE6"/>
                    </a:solidFill>
                  </a:tcPr>
                </a:tc>
                <a:tc>
                  <a:txBody>
                    <a:bodyPr wrap="square"/>
                    <a:lstStyle/>
                    <a:p>
                      <a:pPr>
                        <a:lnSpc>
                          <a:spcPct val="110000"/>
                        </a:lnSpc>
                      </a:pPr>
                      <a:r>
                        <a:rPr b="0" sz="1008" i="0">
                          <a:solidFill>
                            <a:srgbClr val="161225"/>
                          </a:solidFill>
                          <a:latin typeface="Arial"/>
                        </a:rPr>
                        <a:t>Yes</a:t>
                      </a:r>
                    </a:p>
                  </a:txBody>
                  <a:tcPr marL="73152" marR="73152" marT="45720" marB="45720" anchor="t">
                    <a:solidFill>
                      <a:srgbClr val="ECEBE6"/>
                    </a:solidFill>
                  </a:tcPr>
                </a:tc>
                <a:tc>
                  <a:txBody>
                    <a:bodyPr wrap="square"/>
                    <a:lstStyle/>
                    <a:p>
                      <a:pPr>
                        <a:lnSpc>
                          <a:spcPct val="110000"/>
                        </a:lnSpc>
                      </a:pPr>
                      <a:r>
                        <a:rPr b="0" sz="1008" i="0">
                          <a:solidFill>
                            <a:srgbClr val="161225"/>
                          </a:solidFill>
                          <a:latin typeface="Arial"/>
                        </a:rPr>
                        <a:t>Yes</a:t>
                      </a:r>
                    </a:p>
                  </a:txBody>
                  <a:tcPr marL="73152" marR="73152" marT="45720" marB="45720" anchor="t">
                    <a:solidFill>
                      <a:srgbClr val="ECEBE6"/>
                    </a:solidFill>
                  </a:tcPr>
                </a:tc>
              </a:tr>
              <a:tr h="471830">
                <a:tc>
                  <a:txBody>
                    <a:bodyPr wrap="square"/>
                    <a:lstStyle/>
                    <a:p>
                      <a:pPr>
                        <a:lnSpc>
                          <a:spcPct val="110000"/>
                        </a:lnSpc>
                      </a:pPr>
                      <a:r>
                        <a:rPr b="1" sz="1008" i="0">
                          <a:solidFill>
                            <a:srgbClr val="161225"/>
                          </a:solidFill>
                          <a:latin typeface="Arial"/>
                        </a:rPr>
                        <a:t>Cloudflare</a:t>
                      </a:r>
                    </a:p>
                  </a:txBody>
                  <a:tcPr marL="73152" marR="73152" marT="45720" marB="45720" anchor="t">
                    <a:solidFill>
                      <a:srgbClr val="FFFFFF"/>
                    </a:solidFill>
                  </a:tcPr>
                </a:tc>
                <a:tc>
                  <a:txBody>
                    <a:bodyPr wrap="square"/>
                    <a:lstStyle/>
                    <a:p>
                      <a:pPr>
                        <a:lnSpc>
                          <a:spcPct val="110000"/>
                        </a:lnSpc>
                      </a:pPr>
                      <a:r>
                        <a:rPr b="0" sz="1008" i="0">
                          <a:solidFill>
                            <a:srgbClr val="161225"/>
                          </a:solidFill>
                          <a:latin typeface="Arial"/>
                        </a:rPr>
                        <a:t>131.000+ review runs in 30 days across 5.000+ repositories. Per-team config, break-glass used 0,6% of the time. Explicitly not a replacement for human review.</a:t>
                      </a:r>
                    </a:p>
                  </a:txBody>
                  <a:tcPr marL="73152" marR="73152" marT="45720" marB="45720" anchor="t">
                    <a:solidFill>
                      <a:srgbClr val="FFFFFF"/>
                    </a:solidFill>
                  </a:tcPr>
                </a:tc>
                <a:tc>
                  <a:txBody>
                    <a:bodyPr wrap="square"/>
                    <a:lstStyle/>
                    <a:p>
                      <a:pPr>
                        <a:lnSpc>
                          <a:spcPct val="110000"/>
                        </a:lnSpc>
                      </a:pPr>
                      <a:r>
                        <a:rPr b="0" sz="1008" i="0">
                          <a:solidFill>
                            <a:srgbClr val="161225"/>
                          </a:solidFill>
                          <a:latin typeface="Arial"/>
                        </a:rPr>
                        <a:t>Yes</a:t>
                      </a:r>
                    </a:p>
                  </a:txBody>
                  <a:tcPr marL="73152" marR="73152" marT="45720" marB="45720" anchor="t">
                    <a:solidFill>
                      <a:srgbClr val="FFFFFF"/>
                    </a:solidFill>
                  </a:tcPr>
                </a:tc>
                <a:tc>
                  <a:txBody>
                    <a:bodyPr wrap="square"/>
                    <a:lstStyle/>
                    <a:p>
                      <a:pPr>
                        <a:lnSpc>
                          <a:spcPct val="110000"/>
                        </a:lnSpc>
                      </a:pPr>
                      <a:r>
                        <a:rPr b="0" sz="1008" i="0">
                          <a:solidFill>
                            <a:srgbClr val="161225"/>
                          </a:solidFill>
                          <a:latin typeface="Arial"/>
                        </a:rPr>
                        <a:t>No</a:t>
                      </a:r>
                    </a:p>
                  </a:txBody>
                  <a:tcPr marL="73152" marR="73152" marT="45720" marB="45720" anchor="t">
                    <a:solidFill>
                      <a:srgbClr val="FFFFFF"/>
                    </a:solidFill>
                  </a:tcPr>
                </a:tc>
              </a:tr>
              <a:tr h="318211">
                <a:tc>
                  <a:txBody>
                    <a:bodyPr wrap="square"/>
                    <a:lstStyle/>
                    <a:p>
                      <a:pPr>
                        <a:lnSpc>
                          <a:spcPct val="110000"/>
                        </a:lnSpc>
                      </a:pPr>
                      <a:r>
                        <a:rPr b="1" sz="1008" i="0">
                          <a:solidFill>
                            <a:srgbClr val="161225"/>
                          </a:solidFill>
                          <a:latin typeface="Arial"/>
                        </a:rPr>
                        <a:t>Godot</a:t>
                      </a:r>
                    </a:p>
                  </a:txBody>
                  <a:tcPr marL="73152" marR="73152" marT="45720" marB="45720" anchor="t">
                    <a:solidFill>
                      <a:srgbClr val="ECEBE6"/>
                    </a:solidFill>
                  </a:tcPr>
                </a:tc>
                <a:tc>
                  <a:txBody>
                    <a:bodyPr wrap="square"/>
                    <a:lstStyle/>
                    <a:p>
                      <a:pPr>
                        <a:lnSpc>
                          <a:spcPct val="110000"/>
                        </a:lnSpc>
                      </a:pPr>
                      <a:r>
                        <a:rPr b="0" sz="1008" i="0">
                          <a:solidFill>
                            <a:srgbClr val="161225"/>
                          </a:solidFill>
                          <a:latin typeface="Arial"/>
                        </a:rPr>
                        <a:t>Banned AI-generated contributions. "All PRs must be reviewed and approved by a human before merging."</a:t>
                      </a:r>
                    </a:p>
                  </a:txBody>
                  <a:tcPr marL="73152" marR="73152" marT="45720" marB="45720" anchor="t">
                    <a:solidFill>
                      <a:srgbClr val="ECEBE6"/>
                    </a:solidFill>
                  </a:tcPr>
                </a:tc>
                <a:tc>
                  <a:txBody>
                    <a:bodyPr wrap="square"/>
                    <a:lstStyle/>
                    <a:p>
                      <a:pPr>
                        <a:lnSpc>
                          <a:spcPct val="110000"/>
                        </a:lnSpc>
                      </a:pPr>
                      <a:r>
                        <a:rPr b="0" sz="1008" i="0">
                          <a:solidFill>
                            <a:srgbClr val="161225"/>
                          </a:solidFill>
                          <a:latin typeface="Arial"/>
                        </a:rPr>
                        <a:t>Yes</a:t>
                      </a:r>
                    </a:p>
                  </a:txBody>
                  <a:tcPr marL="73152" marR="73152" marT="45720" marB="45720" anchor="t">
                    <a:solidFill>
                      <a:srgbClr val="ECEBE6"/>
                    </a:solidFill>
                  </a:tcPr>
                </a:tc>
                <a:tc>
                  <a:txBody>
                    <a:bodyPr wrap="square"/>
                    <a:lstStyle/>
                    <a:p>
                      <a:pPr>
                        <a:lnSpc>
                          <a:spcPct val="110000"/>
                        </a:lnSpc>
                      </a:pPr>
                      <a:r>
                        <a:rPr b="0" sz="1008" i="0">
                          <a:solidFill>
                            <a:srgbClr val="161225"/>
                          </a:solidFill>
                          <a:latin typeface="Arial"/>
                        </a:rPr>
                        <a:t>No</a:t>
                      </a:r>
                    </a:p>
                  </a:txBody>
                  <a:tcPr marL="73152" marR="73152" marT="45720" marB="45720" anchor="t">
                    <a:solidFill>
                      <a:srgbClr val="ECEBE6"/>
                    </a:solidFill>
                  </a:tcPr>
                </a:tc>
              </a:tr>
              <a:tr h="471830">
                <a:tc>
                  <a:txBody>
                    <a:bodyPr wrap="square"/>
                    <a:lstStyle/>
                    <a:p>
                      <a:pPr>
                        <a:lnSpc>
                          <a:spcPct val="110000"/>
                        </a:lnSpc>
                      </a:pPr>
                      <a:r>
                        <a:rPr b="1" sz="1008" i="0">
                          <a:solidFill>
                            <a:srgbClr val="161225"/>
                          </a:solidFill>
                          <a:latin typeface="Arial"/>
                        </a:rPr>
                        <a:t>Rust (five teams)</a:t>
                      </a:r>
                    </a:p>
                  </a:txBody>
                  <a:tcPr marL="73152" marR="73152" marT="45720" marB="45720" anchor="t">
                    <a:solidFill>
                      <a:srgbClr val="FFFFFF"/>
                    </a:solidFill>
                  </a:tcPr>
                </a:tc>
                <a:tc>
                  <a:txBody>
                    <a:bodyPr wrap="square"/>
                    <a:lstStyle/>
                    <a:p>
                      <a:pPr>
                        <a:lnSpc>
                          <a:spcPct val="110000"/>
                        </a:lnSpc>
                      </a:pPr>
                      <a:r>
                        <a:rPr b="0" sz="1008" i="0">
                          <a:solidFill>
                            <a:srgbClr val="161225"/>
                          </a:solidFill>
                          <a:latin typeface="Arial"/>
                        </a:rPr>
                        <a:t>Circuit breaker: AI over half of merges in six weeks, AI changes stop for ten days.</a:t>
                      </a:r>
                    </a:p>
                  </a:txBody>
                  <a:tcPr marL="73152" marR="73152" marT="45720" marB="45720" anchor="t">
                    <a:solidFill>
                      <a:srgbClr val="FFFFFF"/>
                    </a:solidFill>
                  </a:tcPr>
                </a:tc>
                <a:tc>
                  <a:txBody>
                    <a:bodyPr wrap="square"/>
                    <a:lstStyle/>
                    <a:p>
                      <a:pPr>
                        <a:lnSpc>
                          <a:spcPct val="110000"/>
                        </a:lnSpc>
                      </a:pPr>
                      <a:r>
                        <a:rPr b="0" sz="1008" i="0">
                          <a:solidFill>
                            <a:srgbClr val="161225"/>
                          </a:solidFill>
                          <a:latin typeface="Arial"/>
                        </a:rPr>
                        <a:t>Yes</a:t>
                      </a:r>
                    </a:p>
                  </a:txBody>
                  <a:tcPr marL="73152" marR="73152" marT="45720" marB="45720" anchor="t">
                    <a:solidFill>
                      <a:srgbClr val="FFFFFF"/>
                    </a:solidFill>
                  </a:tcPr>
                </a:tc>
                <a:tc>
                  <a:txBody>
                    <a:bodyPr wrap="square"/>
                    <a:lstStyle/>
                    <a:p>
                      <a:pPr>
                        <a:lnSpc>
                          <a:spcPct val="110000"/>
                        </a:lnSpc>
                      </a:pPr>
                      <a:r>
                        <a:rPr b="0" sz="1008" i="0">
                          <a:solidFill>
                            <a:srgbClr val="161225"/>
                          </a:solidFill>
                          <a:latin typeface="Arial"/>
                        </a:rPr>
                        <a:t>No</a:t>
                      </a:r>
                    </a:p>
                  </a:txBody>
                  <a:tcPr marL="73152" marR="73152" marT="45720" marB="45720" anchor="t">
                    <a:solidFill>
                      <a:srgbClr val="FFFFFF"/>
                    </a:solidFill>
                  </a:tcPr>
                </a:tc>
              </a:tr>
              <a:tr h="318211">
                <a:tc>
                  <a:txBody>
                    <a:bodyPr wrap="square"/>
                    <a:lstStyle/>
                    <a:p>
                      <a:pPr>
                        <a:lnSpc>
                          <a:spcPct val="110000"/>
                        </a:lnSpc>
                      </a:pPr>
                      <a:r>
                        <a:rPr b="1" sz="1008" i="0">
                          <a:solidFill>
                            <a:srgbClr val="161225"/>
                          </a:solidFill>
                          <a:latin typeface="Arial"/>
                        </a:rPr>
                        <a:t>curl</a:t>
                      </a:r>
                    </a:p>
                  </a:txBody>
                  <a:tcPr marL="73152" marR="73152" marT="45720" marB="45720" anchor="t">
                    <a:solidFill>
                      <a:srgbClr val="ECEBE6"/>
                    </a:solidFill>
                  </a:tcPr>
                </a:tc>
                <a:tc>
                  <a:txBody>
                    <a:bodyPr wrap="square"/>
                    <a:lstStyle/>
                    <a:p>
                      <a:pPr>
                        <a:lnSpc>
                          <a:spcPct val="110000"/>
                        </a:lnSpc>
                      </a:pPr>
                      <a:r>
                        <a:rPr b="0" sz="1008" i="0">
                          <a:solidFill>
                            <a:srgbClr val="161225"/>
                          </a:solidFill>
                          <a:latin typeface="Arial"/>
                        </a:rPr>
                        <a:t>Ended its bug bounty in January 2026. About 20% of security submissions were slop.</a:t>
                      </a:r>
                    </a:p>
                  </a:txBody>
                  <a:tcPr marL="73152" marR="73152" marT="45720" marB="45720" anchor="t">
                    <a:solidFill>
                      <a:srgbClr val="ECEBE6"/>
                    </a:solidFill>
                  </a:tcPr>
                </a:tc>
                <a:tc>
                  <a:txBody>
                    <a:bodyPr wrap="square"/>
                    <a:lstStyle/>
                    <a:p>
                      <a:pPr>
                        <a:lnSpc>
                          <a:spcPct val="110000"/>
                        </a:lnSpc>
                      </a:pPr>
                      <a:r>
                        <a:rPr b="0" sz="1008" i="0">
                          <a:solidFill>
                            <a:srgbClr val="161225"/>
                          </a:solidFill>
                          <a:latin typeface="Arial"/>
                        </a:rPr>
                        <a:t>Yes</a:t>
                      </a:r>
                    </a:p>
                  </a:txBody>
                  <a:tcPr marL="73152" marR="73152" marT="45720" marB="45720" anchor="t">
                    <a:solidFill>
                      <a:srgbClr val="ECEBE6"/>
                    </a:solidFill>
                  </a:tcPr>
                </a:tc>
                <a:tc>
                  <a:txBody>
                    <a:bodyPr wrap="square"/>
                    <a:lstStyle/>
                    <a:p>
                      <a:pPr>
                        <a:lnSpc>
                          <a:spcPct val="110000"/>
                        </a:lnSpc>
                      </a:pPr>
                      <a:r>
                        <a:rPr b="0" sz="1008" i="0">
                          <a:solidFill>
                            <a:srgbClr val="161225"/>
                          </a:solidFill>
                          <a:latin typeface="Arial"/>
                        </a:rPr>
                        <a:t>No</a:t>
                      </a:r>
                    </a:p>
                  </a:txBody>
                  <a:tcPr marL="73152" marR="73152" marT="45720" marB="45720" anchor="t">
                    <a:solidFill>
                      <a:srgbClr val="ECEBE6"/>
                    </a:solidFill>
                  </a:tcPr>
                </a:tc>
              </a:tr>
              <a:tr h="471830">
                <a:tc>
                  <a:txBody>
                    <a:bodyPr wrap="square"/>
                    <a:lstStyle/>
                    <a:p>
                      <a:pPr>
                        <a:lnSpc>
                          <a:spcPct val="110000"/>
                        </a:lnSpc>
                      </a:pPr>
                      <a:r>
                        <a:rPr b="1" sz="1008" i="0">
                          <a:solidFill>
                            <a:srgbClr val="161225"/>
                          </a:solidFill>
                          <a:latin typeface="Arial"/>
                        </a:rPr>
                        <a:t>GitHub</a:t>
                      </a:r>
                    </a:p>
                  </a:txBody>
                  <a:tcPr marL="73152" marR="73152" marT="45720" marB="45720" anchor="t">
                    <a:solidFill>
                      <a:srgbClr val="FFFFFF"/>
                    </a:solidFill>
                  </a:tcPr>
                </a:tc>
                <a:tc>
                  <a:txBody>
                    <a:bodyPr wrap="square"/>
                    <a:lstStyle/>
                    <a:p>
                      <a:pPr>
                        <a:lnSpc>
                          <a:spcPct val="110000"/>
                        </a:lnSpc>
                      </a:pPr>
                      <a:r>
                        <a:rPr b="0" sz="1008" i="0">
                          <a:solidFill>
                            <a:srgbClr val="161225"/>
                          </a:solidFill>
                          <a:latin typeface="Arial"/>
                        </a:rPr>
                        <a:t>Per-contributor limit on open pull requests. Copilot approval can count toward required approvals since 1 Sep 2026.</a:t>
                      </a:r>
                    </a:p>
                  </a:txBody>
                  <a:tcPr marL="73152" marR="73152" marT="45720" marB="45720" anchor="t">
                    <a:solidFill>
                      <a:srgbClr val="FFFFFF"/>
                    </a:solidFill>
                  </a:tcPr>
                </a:tc>
                <a:tc>
                  <a:txBody>
                    <a:bodyPr wrap="square"/>
                    <a:lstStyle/>
                    <a:p>
                      <a:pPr>
                        <a:lnSpc>
                          <a:spcPct val="110000"/>
                        </a:lnSpc>
                      </a:pPr>
                      <a:r>
                        <a:rPr b="0" sz="1008" i="0">
                          <a:solidFill>
                            <a:srgbClr val="161225"/>
                          </a:solidFill>
                          <a:latin typeface="Arial"/>
                        </a:rPr>
                        <a:t>Setting</a:t>
                      </a:r>
                    </a:p>
                  </a:txBody>
                  <a:tcPr marL="73152" marR="73152" marT="45720" marB="45720" anchor="t">
                    <a:solidFill>
                      <a:srgbClr val="FFFFFF"/>
                    </a:solidFill>
                  </a:tcPr>
                </a:tc>
                <a:tc>
                  <a:txBody>
                    <a:bodyPr wrap="square"/>
                    <a:lstStyle/>
                    <a:p>
                      <a:pPr>
                        <a:lnSpc>
                          <a:spcPct val="110000"/>
                        </a:lnSpc>
                      </a:pPr>
                      <a:r>
                        <a:rPr b="0" sz="1008" i="0">
                          <a:solidFill>
                            <a:srgbClr val="161225"/>
                          </a:solidFill>
                          <a:latin typeface="Arial"/>
                        </a:rPr>
                        <a:t>No</a:t>
                      </a:r>
                    </a:p>
                  </a:txBody>
                  <a:tcPr marL="73152" marR="73152" marT="45720" marB="45720" anchor="t">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FF5B24"/>
                </a:solidFill>
                <a:latin typeface="Arial"/>
              </a:rPr>
              <a:t>SLIDE 32 · APPENDIX A2</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161225"/>
                </a:solidFill>
                <a:latin typeface="Arial"/>
              </a:rPr>
              <a:t>A2 — The regulatory detail</a:t>
            </a:r>
          </a:p>
        </p:txBody>
      </p:sp>
      <p:sp>
        <p:nvSpPr>
          <p:cNvPr id="5" name="Rectangle 4"/>
          <p:cNvSpPr/>
          <p:nvPr/>
        </p:nvSpPr>
        <p:spPr>
          <a:xfrm>
            <a:off x="548640" y="1115568"/>
            <a:ext cx="1097280" cy="4114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161225"/>
                </a:solidFill>
                <a:latin typeface="Arial"/>
              </a:rPr>
              <a:t>Vipps MobilePay</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32</a:t>
            </a:r>
          </a:p>
        </p:txBody>
      </p:sp>
      <p:sp>
        <p:nvSpPr>
          <p:cNvPr id="8" name="TextBox 7"/>
          <p:cNvSpPr txBox="1"/>
          <p:nvPr/>
        </p:nvSpPr>
        <p:spPr>
          <a:xfrm>
            <a:off x="548640" y="1371600"/>
            <a:ext cx="11094415" cy="162687"/>
          </a:xfrm>
          <a:prstGeom prst="rect">
            <a:avLst/>
          </a:prstGeom>
          <a:noFill/>
        </p:spPr>
        <p:txBody>
          <a:bodyPr wrap="square" lIns="0" rIns="0" tIns="0" bIns="0" anchor="t">
            <a:spAutoFit/>
          </a:bodyPr>
          <a:lstStyle/>
          <a:p>
            <a:pPr algn="l">
              <a:lnSpc>
                <a:spcPct val="115000"/>
              </a:lnSpc>
              <a:spcAft>
                <a:spcPts val="0"/>
              </a:spcAft>
            </a:pPr>
            <a:r>
              <a:rPr b="0" sz="1050" i="1">
                <a:solidFill>
                  <a:srgbClr val="6F6C77"/>
                </a:solidFill>
                <a:latin typeface="Arial"/>
              </a:rPr>
              <a:t>Use when someone wants the rule read out rather than summarised.</a:t>
            </a:r>
          </a:p>
        </p:txBody>
      </p:sp>
      <p:sp>
        <p:nvSpPr>
          <p:cNvPr id="9" name="TextBox 8"/>
          <p:cNvSpPr txBox="1"/>
          <p:nvPr/>
        </p:nvSpPr>
        <p:spPr>
          <a:xfrm>
            <a:off x="548640" y="2037207"/>
            <a:ext cx="11094415" cy="2627312"/>
          </a:xfrm>
          <a:prstGeom prst="rect">
            <a:avLst/>
          </a:prstGeom>
          <a:noFill/>
        </p:spPr>
        <p:txBody>
          <a:bodyPr wrap="square" lIns="0" rIns="0" tIns="0" bIns="0">
            <a:spAutoFit/>
          </a:bodyPr>
          <a:lstStyle/>
          <a:p>
            <a:pPr>
              <a:lnSpc>
                <a:spcPct val="115000"/>
              </a:lnSpc>
              <a:spcAft>
                <a:spcPts val="400"/>
              </a:spcAft>
            </a:pPr>
            <a:r>
              <a:rPr sz="1250" b="1">
                <a:solidFill>
                  <a:srgbClr val="5A78FF"/>
                </a:solidFill>
                <a:latin typeface="Arial"/>
              </a:rPr>
              <a:t>—  </a:t>
            </a:r>
            <a:r>
              <a:rPr b="1" sz="1250" i="0">
                <a:solidFill>
                  <a:srgbClr val="161225"/>
                </a:solidFill>
                <a:latin typeface="Arial"/>
              </a:rPr>
              <a:t>Two persons direct the business.</a:t>
            </a:r>
            <a:r>
              <a:rPr b="0" sz="1250" i="0">
                <a:solidFill>
                  <a:srgbClr val="161225"/>
                </a:solidFill>
                <a:latin typeface="Arial"/>
              </a:rPr>
              <a:t> European banking law (CRD art. 13) grants a licence only where "at least two persons effectively direct the business". That is the origin of Vier-Augen-Prinzip and the English phrase four eyes. They approve no individual change.</a:t>
            </a:r>
          </a:p>
          <a:p>
            <a:pPr>
              <a:lnSpc>
                <a:spcPct val="115000"/>
              </a:lnSpc>
              <a:spcAft>
                <a:spcPts val="400"/>
              </a:spcAft>
            </a:pPr>
            <a:r>
              <a:rPr sz="1250" b="1">
                <a:solidFill>
                  <a:srgbClr val="5A78FF"/>
                </a:solidFill>
                <a:latin typeface="Arial"/>
              </a:rPr>
              <a:t>—  </a:t>
            </a:r>
            <a:r>
              <a:rPr b="1" sz="1250" i="0">
                <a:solidFill>
                  <a:srgbClr val="161225"/>
                </a:solidFill>
                <a:latin typeface="Arial"/>
              </a:rPr>
              <a:t>Dual control on a sensitive action.</a:t>
            </a:r>
            <a:r>
              <a:rPr b="0" sz="1250" i="0">
                <a:solidFill>
                  <a:srgbClr val="161225"/>
                </a:solidFill>
                <a:latin typeface="Arial"/>
              </a:rPr>
              <a:t> Basel defines it as two or more separate "entities (usually persons)" acting in concert. The Norwegian supervisor fined a savings bank in 2023 partly because no four-eyes check existed when an employee manually lowered a customer's money-laundering risk level.</a:t>
            </a:r>
          </a:p>
          <a:p>
            <a:pPr>
              <a:lnSpc>
                <a:spcPct val="115000"/>
              </a:lnSpc>
              <a:spcAft>
                <a:spcPts val="400"/>
              </a:spcAft>
            </a:pPr>
            <a:r>
              <a:rPr sz="1250" b="1">
                <a:solidFill>
                  <a:srgbClr val="5A78FF"/>
                </a:solidFill>
                <a:latin typeface="Arial"/>
              </a:rPr>
              <a:t>—  </a:t>
            </a:r>
            <a:r>
              <a:rPr b="1" sz="1250" i="0">
                <a:solidFill>
                  <a:srgbClr val="161225"/>
                </a:solidFill>
                <a:latin typeface="Arial"/>
              </a:rPr>
              <a:t>Change management before July 2025.</a:t>
            </a:r>
            <a:r>
              <a:rPr b="0" sz="1250" i="0">
                <a:solidFill>
                  <a:srgbClr val="161225"/>
                </a:solidFill>
                <a:latin typeface="Arial"/>
              </a:rPr>
              <a:t> IKT-forskriften § 9 required procedures for handling changes, and that they be followed. It never asked for an approver.</a:t>
            </a:r>
          </a:p>
          <a:p>
            <a:pPr>
              <a:lnSpc>
                <a:spcPct val="115000"/>
              </a:lnSpc>
              <a:spcAft>
                <a:spcPts val="400"/>
              </a:spcAft>
            </a:pPr>
            <a:r>
              <a:rPr sz="1250" b="1">
                <a:solidFill>
                  <a:srgbClr val="5A78FF"/>
                </a:solidFill>
                <a:latin typeface="Arial"/>
              </a:rPr>
              <a:t>—  </a:t>
            </a:r>
            <a:r>
              <a:rPr b="1" sz="1250" i="0">
                <a:solidFill>
                  <a:srgbClr val="161225"/>
                </a:solidFill>
                <a:latin typeface="Arial"/>
              </a:rPr>
              <a:t>Change management since July 2025.</a:t>
            </a:r>
            <a:r>
              <a:rPr b="0" sz="1250" i="0">
                <a:solidFill>
                  <a:srgbClr val="161225"/>
                </a:solidFill>
                <a:latin typeface="Arial"/>
              </a:rPr>
              <a:t> DORA (EU 2022/2554) art. 9(4)(e), with RTS 2024/1774 art. 17(1)(b): "the independence of the functions that approve changes and the functions responsible for requesting and implementing those changes". Every change recorded, tested, assessed, approved, implemented and verified. Policy "based on a risk assessment approach". Source code reviews defined as static and dynamic testing.</a:t>
            </a:r>
          </a:p>
          <a:p>
            <a:pPr>
              <a:lnSpc>
                <a:spcPct val="115000"/>
              </a:lnSpc>
              <a:spcAft>
                <a:spcPts val="400"/>
              </a:spcAft>
            </a:pPr>
            <a:r>
              <a:rPr sz="1250" b="1">
                <a:solidFill>
                  <a:srgbClr val="5A78FF"/>
                </a:solidFill>
                <a:latin typeface="Arial"/>
              </a:rPr>
              <a:t>—  </a:t>
            </a:r>
            <a:r>
              <a:rPr b="1" sz="1250" i="0">
                <a:solidFill>
                  <a:srgbClr val="161225"/>
                </a:solidFill>
                <a:latin typeface="Arial"/>
              </a:rPr>
              <a:t>Not defined:</a:t>
            </a:r>
            <a:r>
              <a:rPr b="0" sz="1250" i="0">
                <a:solidFill>
                  <a:srgbClr val="161225"/>
                </a:solidFill>
                <a:latin typeface="Arial"/>
              </a:rPr>
              <a:t> function, independence. Elsewhere in the rulebook a function is a part of the organisation. Whether the approver must sit outside the implementing team is not stated.</a:t>
            </a:r>
          </a:p>
        </p:txBody>
      </p:sp>
      <p:sp>
        <p:nvSpPr>
          <p:cNvPr id="10" name="TextBox 9"/>
          <p:cNvSpPr txBox="1"/>
          <p:nvPr/>
        </p:nvSpPr>
        <p:spPr>
          <a:xfrm>
            <a:off x="548640" y="5149151"/>
            <a:ext cx="11094415" cy="325374"/>
          </a:xfrm>
          <a:prstGeom prst="rect">
            <a:avLst/>
          </a:prstGeom>
          <a:noFill/>
        </p:spPr>
        <p:txBody>
          <a:bodyPr wrap="square" lIns="0" rIns="0" tIns="0" bIns="0" anchor="t">
            <a:spAutoFit/>
          </a:bodyPr>
          <a:lstStyle/>
          <a:p>
            <a:pPr algn="l">
              <a:lnSpc>
                <a:spcPct val="115000"/>
              </a:lnSpc>
              <a:spcAft>
                <a:spcPts val="0"/>
              </a:spcAft>
            </a:pPr>
            <a:r>
              <a:rPr b="0" sz="1050" i="1">
                <a:solidFill>
                  <a:srgbClr val="6F6C77"/>
                </a:solidFill>
                <a:latin typeface="Arial"/>
              </a:rPr>
              <a:t>The art. 17 wording relies on two secondary reproductions that agree. Verify against EUR-Lex before anything is quoted externally. Two things in this deck are called DORA: the EU act here, and Google's DevOps Research and Assessment on slides 17 and 18.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5A78FF"/>
                </a:solidFill>
                <a:latin typeface="Arial"/>
              </a:rPr>
              <a:t>SLIDE 33 · APPENDIX A3</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161225"/>
                </a:solidFill>
                <a:latin typeface="Arial"/>
              </a:rPr>
              <a:t>A3 — How far to trust each number</a:t>
            </a:r>
          </a:p>
        </p:txBody>
      </p:sp>
      <p:sp>
        <p:nvSpPr>
          <p:cNvPr id="5" name="Rectangle 4"/>
          <p:cNvSpPr/>
          <p:nvPr/>
        </p:nvSpPr>
        <p:spPr>
          <a:xfrm>
            <a:off x="548640" y="1115568"/>
            <a:ext cx="1097280" cy="4114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161225"/>
                </a:solidFill>
                <a:latin typeface="Arial"/>
              </a:rPr>
              <a:t>Vipps MobilePay</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33</a:t>
            </a:r>
          </a:p>
        </p:txBody>
      </p:sp>
      <p:sp>
        <p:nvSpPr>
          <p:cNvPr id="8" name="TextBox 7"/>
          <p:cNvSpPr txBox="1"/>
          <p:nvPr/>
        </p:nvSpPr>
        <p:spPr>
          <a:xfrm>
            <a:off x="548640" y="1371600"/>
            <a:ext cx="11094415" cy="130149"/>
          </a:xfrm>
          <a:prstGeom prst="rect">
            <a:avLst/>
          </a:prstGeom>
          <a:noFill/>
        </p:spPr>
        <p:txBody>
          <a:bodyPr wrap="square" lIns="0" rIns="0" tIns="0" bIns="0" anchor="t">
            <a:spAutoFit/>
          </a:bodyPr>
          <a:lstStyle/>
          <a:p>
            <a:pPr algn="l">
              <a:lnSpc>
                <a:spcPct val="115000"/>
              </a:lnSpc>
              <a:spcAft>
                <a:spcPts val="0"/>
              </a:spcAft>
            </a:pPr>
            <a:r>
              <a:rPr b="0" sz="839" i="1">
                <a:solidFill>
                  <a:srgbClr val="6F6C77"/>
                </a:solidFill>
                <a:latin typeface="Arial"/>
              </a:rPr>
              <a:t>Use when someone pushes on a figure. Every number in the main line has a caveat, and these are them.</a:t>
            </a:r>
          </a:p>
        </p:txBody>
      </p:sp>
      <p:graphicFrame>
        <p:nvGraphicFramePr>
          <p:cNvPr id="9" name="Table 8"/>
          <p:cNvGraphicFramePr>
            <a:graphicFrameLocks noGrp="1"/>
          </p:cNvGraphicFramePr>
          <p:nvPr/>
        </p:nvGraphicFramePr>
        <p:xfrm>
          <a:off x="548640" y="1746504"/>
          <a:ext cx="11094414" cy="4498836"/>
        </p:xfrm>
        <a:graphic>
          <a:graphicData uri="http://schemas.openxmlformats.org/drawingml/2006/table">
            <a:tbl>
              <a:tblPr firstRow="0" bandRow="0">
                <a:tableStyleId>{5C22544A-7EE6-4342-B048-85BDC9FD1C3A}</a:tableStyleId>
              </a:tblPr>
              <a:tblGrid>
                <a:gridCol w="2597716"/>
                <a:gridCol w="4600123"/>
                <a:gridCol w="3896575"/>
              </a:tblGrid>
              <a:tr h="347472">
                <a:tc>
                  <a:txBody>
                    <a:bodyPr wrap="square"/>
                    <a:lstStyle/>
                    <a:p>
                      <a:pPr>
                        <a:lnSpc>
                          <a:spcPct val="110000"/>
                        </a:lnSpc>
                      </a:pPr>
                      <a:r>
                        <a:rPr b="1" sz="839" i="0">
                          <a:solidFill>
                            <a:srgbClr val="F5F5F2"/>
                          </a:solidFill>
                          <a:latin typeface="Arial"/>
                        </a:rPr>
                        <a:t>Number</a:t>
                      </a:r>
                    </a:p>
                  </a:txBody>
                  <a:tcPr marL="73152" marR="73152" marT="45720" marB="45720" anchor="t">
                    <a:solidFill>
                      <a:srgbClr val="161225"/>
                    </a:solidFill>
                  </a:tcPr>
                </a:tc>
                <a:tc>
                  <a:txBody>
                    <a:bodyPr wrap="square"/>
                    <a:lstStyle/>
                    <a:p>
                      <a:pPr>
                        <a:lnSpc>
                          <a:spcPct val="110000"/>
                        </a:lnSpc>
                      </a:pPr>
                      <a:r>
                        <a:rPr b="1" sz="839" i="0">
                          <a:solidFill>
                            <a:srgbClr val="F5F5F2"/>
                          </a:solidFill>
                          <a:latin typeface="Arial"/>
                        </a:rPr>
                        <a:t>Where it comes from</a:t>
                      </a:r>
                    </a:p>
                  </a:txBody>
                  <a:tcPr marL="73152" marR="73152" marT="45720" marB="45720" anchor="t">
                    <a:solidFill>
                      <a:srgbClr val="161225"/>
                    </a:solidFill>
                  </a:tcPr>
                </a:tc>
                <a:tc>
                  <a:txBody>
                    <a:bodyPr wrap="square"/>
                    <a:lstStyle/>
                    <a:p>
                      <a:pPr>
                        <a:lnSpc>
                          <a:spcPct val="110000"/>
                        </a:lnSpc>
                      </a:pPr>
                      <a:r>
                        <a:rPr b="1" sz="839" i="0">
                          <a:solidFill>
                            <a:srgbClr val="F5F5F2"/>
                          </a:solidFill>
                          <a:latin typeface="Arial"/>
                        </a:rPr>
                        <a:t>How far it carries</a:t>
                      </a:r>
                    </a:p>
                  </a:txBody>
                  <a:tcPr marL="73152" marR="73152" marT="45720" marB="45720" anchor="t">
                    <a:solidFill>
                      <a:srgbClr val="161225"/>
                    </a:solidFill>
                  </a:tcPr>
                </a:tc>
              </a:tr>
              <a:tr h="420623">
                <a:tc>
                  <a:txBody>
                    <a:bodyPr wrap="square"/>
                    <a:lstStyle/>
                    <a:p>
                      <a:pPr>
                        <a:lnSpc>
                          <a:spcPct val="110000"/>
                        </a:lnSpc>
                      </a:pPr>
                      <a:r>
                        <a:rPr b="1" sz="839" i="0">
                          <a:solidFill>
                            <a:srgbClr val="161225"/>
                          </a:solidFill>
                          <a:latin typeface="Arial"/>
                        </a:rPr>
                        <a:t>30,1% → 36,8% approval, comments −22%</a:t>
                      </a:r>
                    </a:p>
                  </a:txBody>
                  <a:tcPr marL="73152" marR="73152" marT="45720" marB="45720" anchor="t">
                    <a:solidFill>
                      <a:srgbClr val="FFFFFF"/>
                    </a:solidFill>
                  </a:tcPr>
                </a:tc>
                <a:tc>
                  <a:txBody>
                    <a:bodyPr wrap="square"/>
                    <a:lstStyle/>
                    <a:p>
                      <a:pPr>
                        <a:lnSpc>
                          <a:spcPct val="110000"/>
                        </a:lnSpc>
                      </a:pPr>
                      <a:r>
                        <a:rPr b="0" sz="839" i="0">
                          <a:solidFill>
                            <a:srgbClr val="161225"/>
                          </a:solidFill>
                          <a:latin typeface="Arial"/>
                        </a:rPr>
                        <a:t>400 reviewers, 11.429 reviews, seven months, three controls. KDD 2026 workshop paper.</a:t>
                      </a:r>
                    </a:p>
                  </a:txBody>
                  <a:tcPr marL="73152" marR="73152" marT="45720" marB="45720" anchor="t">
                    <a:solidFill>
                      <a:srgbClr val="FFFFFF"/>
                    </a:solidFill>
                  </a:tcPr>
                </a:tc>
                <a:tc>
                  <a:txBody>
                    <a:bodyPr wrap="square"/>
                    <a:lstStyle/>
                    <a:p>
                      <a:pPr>
                        <a:lnSpc>
                          <a:spcPct val="110000"/>
                        </a:lnSpc>
                      </a:pPr>
                      <a:r>
                        <a:rPr b="0" sz="839" i="0">
                          <a:solidFill>
                            <a:srgbClr val="161225"/>
                          </a:solidFill>
                          <a:latin typeface="Arial"/>
                        </a:rPr>
                        <a:t>Measures repetition and load, not team boundaries.</a:t>
                      </a:r>
                    </a:p>
                  </a:txBody>
                  <a:tcPr marL="73152" marR="73152" marT="45720" marB="45720" anchor="t">
                    <a:solidFill>
                      <a:srgbClr val="FFFFFF"/>
                    </a:solidFill>
                  </a:tcPr>
                </a:tc>
              </a:tr>
              <a:tr h="292607">
                <a:tc>
                  <a:txBody>
                    <a:bodyPr wrap="square"/>
                    <a:lstStyle/>
                    <a:p>
                      <a:pPr>
                        <a:lnSpc>
                          <a:spcPct val="110000"/>
                        </a:lnSpc>
                      </a:pPr>
                      <a:r>
                        <a:rPr b="1" sz="839" i="0">
                          <a:solidFill>
                            <a:srgbClr val="161225"/>
                          </a:solidFill>
                          <a:latin typeface="Arial"/>
                        </a:rPr>
                        <a:t>96% distrust, 48% always verify</a:t>
                      </a:r>
                    </a:p>
                  </a:txBody>
                  <a:tcPr marL="73152" marR="73152" marT="45720" marB="45720" anchor="t">
                    <a:solidFill>
                      <a:srgbClr val="ECEBE6"/>
                    </a:solidFill>
                  </a:tcPr>
                </a:tc>
                <a:tc>
                  <a:txBody>
                    <a:bodyPr wrap="square"/>
                    <a:lstStyle/>
                    <a:p>
                      <a:pPr>
                        <a:lnSpc>
                          <a:spcPct val="110000"/>
                        </a:lnSpc>
                      </a:pPr>
                      <a:r>
                        <a:rPr b="0" sz="839" i="0">
                          <a:solidFill>
                            <a:srgbClr val="161225"/>
                          </a:solidFill>
                          <a:latin typeface="Arial"/>
                        </a:rPr>
                        <a:t>Sonar survey, about 1.150 respondents.</a:t>
                      </a:r>
                    </a:p>
                  </a:txBody>
                  <a:tcPr marL="73152" marR="73152" marT="45720" marB="45720" anchor="t">
                    <a:solidFill>
                      <a:srgbClr val="ECEBE6"/>
                    </a:solidFill>
                  </a:tcPr>
                </a:tc>
                <a:tc>
                  <a:txBody>
                    <a:bodyPr wrap="square"/>
                    <a:lstStyle/>
                    <a:p>
                      <a:pPr>
                        <a:lnSpc>
                          <a:spcPct val="110000"/>
                        </a:lnSpc>
                      </a:pPr>
                      <a:r>
                        <a:rPr b="0" sz="839" i="0">
                          <a:solidFill>
                            <a:srgbClr val="161225"/>
                          </a:solidFill>
                          <a:latin typeface="Arial"/>
                        </a:rPr>
                        <a:t>Self-reported.</a:t>
                      </a:r>
                    </a:p>
                  </a:txBody>
                  <a:tcPr marL="73152" marR="73152" marT="45720" marB="45720" anchor="t">
                    <a:solidFill>
                      <a:srgbClr val="ECEBE6"/>
                    </a:solidFill>
                  </a:tcPr>
                </a:tc>
              </a:tr>
              <a:tr h="292607">
                <a:tc>
                  <a:txBody>
                    <a:bodyPr wrap="square"/>
                    <a:lstStyle/>
                    <a:p>
                      <a:pPr>
                        <a:lnSpc>
                          <a:spcPct val="110000"/>
                        </a:lnSpc>
                      </a:pPr>
                      <a:r>
                        <a:rPr b="1" sz="839" i="0">
                          <a:solidFill>
                            <a:srgbClr val="161225"/>
                          </a:solidFill>
                          <a:latin typeface="Arial"/>
                        </a:rPr>
                        <a:t>200 lines an hour</a:t>
                      </a:r>
                    </a:p>
                  </a:txBody>
                  <a:tcPr marL="73152" marR="73152" marT="45720" marB="45720" anchor="t">
                    <a:solidFill>
                      <a:srgbClr val="FFFFFF"/>
                    </a:solidFill>
                  </a:tcPr>
                </a:tc>
                <a:tc>
                  <a:txBody>
                    <a:bodyPr wrap="square"/>
                    <a:lstStyle/>
                    <a:p>
                      <a:pPr>
                        <a:lnSpc>
                          <a:spcPct val="110000"/>
                        </a:lnSpc>
                      </a:pPr>
                      <a:r>
                        <a:rPr b="0" sz="839" i="0">
                          <a:solidFill>
                            <a:srgbClr val="161225"/>
                          </a:solidFill>
                          <a:latin typeface="Arial"/>
                        </a:rPr>
                        <a:t>Kemerer &amp; Paulk, 2009.</a:t>
                      </a:r>
                    </a:p>
                  </a:txBody>
                  <a:tcPr marL="73152" marR="73152" marT="45720" marB="45720" anchor="t">
                    <a:solidFill>
                      <a:srgbClr val="FFFFFF"/>
                    </a:solidFill>
                  </a:tcPr>
                </a:tc>
                <a:tc>
                  <a:txBody>
                    <a:bodyPr wrap="square"/>
                    <a:lstStyle/>
                    <a:p>
                      <a:pPr>
                        <a:lnSpc>
                          <a:spcPct val="110000"/>
                        </a:lnSpc>
                      </a:pPr>
                      <a:r>
                        <a:rPr b="0" sz="839" i="0">
                          <a:solidFill>
                            <a:srgbClr val="161225"/>
                          </a:solidFill>
                          <a:latin typeface="Arial"/>
                        </a:rPr>
                        <a:t>One study. The 2-hour arithmetic is mine and rests on it.</a:t>
                      </a:r>
                    </a:p>
                  </a:txBody>
                  <a:tcPr marL="73152" marR="73152" marT="45720" marB="45720" anchor="t">
                    <a:solidFill>
                      <a:srgbClr val="FFFFFF"/>
                    </a:solidFill>
                  </a:tcPr>
                </a:tc>
              </a:tr>
              <a:tr h="292607">
                <a:tc>
                  <a:txBody>
                    <a:bodyPr wrap="square"/>
                    <a:lstStyle/>
                    <a:p>
                      <a:pPr>
                        <a:lnSpc>
                          <a:spcPct val="110000"/>
                        </a:lnSpc>
                      </a:pPr>
                      <a:r>
                        <a:rPr b="1" sz="839" i="0">
                          <a:solidFill>
                            <a:srgbClr val="161225"/>
                          </a:solidFill>
                          <a:latin typeface="Arial"/>
                        </a:rPr>
                        <a:t>3,2 h and 6,4 h a week reviewing</a:t>
                      </a:r>
                    </a:p>
                  </a:txBody>
                  <a:tcPr marL="73152" marR="73152" marT="45720" marB="45720" anchor="t">
                    <a:solidFill>
                      <a:srgbClr val="ECEBE6"/>
                    </a:solidFill>
                  </a:tcPr>
                </a:tc>
                <a:tc>
                  <a:txBody>
                    <a:bodyPr wrap="square"/>
                    <a:lstStyle/>
                    <a:p>
                      <a:pPr>
                        <a:lnSpc>
                          <a:spcPct val="110000"/>
                        </a:lnSpc>
                      </a:pPr>
                      <a:r>
                        <a:rPr b="0" sz="839" i="0">
                          <a:solidFill>
                            <a:srgbClr val="161225"/>
                          </a:solidFill>
                          <a:latin typeface="Arial"/>
                        </a:rPr>
                        <a:t>Google telemetry; open-source survey of 287 respondents.</a:t>
                      </a:r>
                    </a:p>
                  </a:txBody>
                  <a:tcPr marL="73152" marR="73152" marT="45720" marB="45720" anchor="t">
                    <a:solidFill>
                      <a:srgbClr val="ECEBE6"/>
                    </a:solidFill>
                  </a:tcPr>
                </a:tc>
                <a:tc>
                  <a:txBody>
                    <a:bodyPr wrap="square"/>
                    <a:lstStyle/>
                    <a:p>
                      <a:pPr>
                        <a:lnSpc>
                          <a:spcPct val="110000"/>
                        </a:lnSpc>
                      </a:pPr>
                      <a:r>
                        <a:rPr b="0" sz="839" i="0">
                          <a:solidFill>
                            <a:srgbClr val="161225"/>
                          </a:solidFill>
                          <a:latin typeface="Arial"/>
                        </a:rPr>
                        <a:t>The open-source figure is self-reported.</a:t>
                      </a:r>
                    </a:p>
                  </a:txBody>
                  <a:tcPr marL="73152" marR="73152" marT="45720" marB="45720" anchor="t">
                    <a:solidFill>
                      <a:srgbClr val="ECEBE6"/>
                    </a:solidFill>
                  </a:tcPr>
                </a:tc>
              </a:tr>
              <a:tr h="292607">
                <a:tc>
                  <a:txBody>
                    <a:bodyPr wrap="square"/>
                    <a:lstStyle/>
                    <a:p>
                      <a:pPr>
                        <a:lnSpc>
                          <a:spcPct val="110000"/>
                        </a:lnSpc>
                      </a:pPr>
                      <a:r>
                        <a:rPr b="1" sz="839" i="0">
                          <a:solidFill>
                            <a:srgbClr val="161225"/>
                          </a:solidFill>
                          <a:latin typeface="Arial"/>
                        </a:rPr>
                        <a:t>62% vs 53,7%; 60% vs 50,5%</a:t>
                      </a:r>
                    </a:p>
                  </a:txBody>
                  <a:tcPr marL="73152" marR="73152" marT="45720" marB="45720" anchor="t">
                    <a:solidFill>
                      <a:srgbClr val="FFFFFF"/>
                    </a:solidFill>
                  </a:tcPr>
                </a:tc>
                <a:tc>
                  <a:txBody>
                    <a:bodyPr wrap="square"/>
                    <a:lstStyle/>
                    <a:p>
                      <a:pPr>
                        <a:lnSpc>
                          <a:spcPct val="110000"/>
                        </a:lnSpc>
                      </a:pPr>
                      <a:r>
                        <a:rPr b="0" sz="839" i="0">
                          <a:solidFill>
                            <a:srgbClr val="161225"/>
                          </a:solidFill>
                          <a:latin typeface="Arial"/>
                        </a:rPr>
                        <a:t>Greptile, two sets of 500 pull requests, July 2026.</a:t>
                      </a:r>
                    </a:p>
                  </a:txBody>
                  <a:tcPr marL="73152" marR="73152" marT="45720" marB="45720" anchor="t">
                    <a:solidFill>
                      <a:srgbClr val="FFFFFF"/>
                    </a:solidFill>
                  </a:tcPr>
                </a:tc>
                <a:tc>
                  <a:txBody>
                    <a:bodyPr wrap="square"/>
                    <a:lstStyle/>
                    <a:p>
                      <a:pPr>
                        <a:lnSpc>
                          <a:spcPct val="110000"/>
                        </a:lnSpc>
                      </a:pPr>
                      <a:r>
                        <a:rPr b="0" sz="839" i="0">
                          <a:solidFill>
                            <a:srgbClr val="161225"/>
                          </a:solidFill>
                          <a:latin typeface="Arial"/>
                        </a:rPr>
                        <a:t>Vendor research selling the feature. Directional only.</a:t>
                      </a:r>
                    </a:p>
                  </a:txBody>
                  <a:tcPr marL="73152" marR="73152" marT="45720" marB="45720" anchor="t">
                    <a:solidFill>
                      <a:srgbClr val="FFFFFF"/>
                    </a:solidFill>
                  </a:tcPr>
                </a:tc>
              </a:tr>
              <a:tr h="292607">
                <a:tc>
                  <a:txBody>
                    <a:bodyPr wrap="square"/>
                    <a:lstStyle/>
                    <a:p>
                      <a:pPr>
                        <a:lnSpc>
                          <a:spcPct val="110000"/>
                        </a:lnSpc>
                      </a:pPr>
                      <a:r>
                        <a:rPr b="1" sz="839" i="0">
                          <a:solidFill>
                            <a:srgbClr val="161225"/>
                          </a:solidFill>
                          <a:latin typeface="Arial"/>
                        </a:rPr>
                        <a:t>32 of 33 vulnerabilities passed review</a:t>
                      </a:r>
                    </a:p>
                  </a:txBody>
                  <a:tcPr marL="73152" marR="73152" marT="45720" marB="45720" anchor="t">
                    <a:solidFill>
                      <a:srgbClr val="ECEBE6"/>
                    </a:solidFill>
                  </a:tcPr>
                </a:tc>
                <a:tc>
                  <a:txBody>
                    <a:bodyPr wrap="square"/>
                    <a:lstStyle/>
                    <a:p>
                      <a:pPr>
                        <a:lnSpc>
                          <a:spcPct val="110000"/>
                        </a:lnSpc>
                      </a:pPr>
                      <a:r>
                        <a:rPr b="0" sz="839" i="0">
                          <a:solidFill>
                            <a:srgbClr val="161225"/>
                          </a:solidFill>
                          <a:latin typeface="Arial"/>
                        </a:rPr>
                        <a:t>Preprint, March 2026, 33 CVEs across 20 projects.</a:t>
                      </a:r>
                    </a:p>
                  </a:txBody>
                  <a:tcPr marL="73152" marR="73152" marT="45720" marB="45720" anchor="t">
                    <a:solidFill>
                      <a:srgbClr val="ECEBE6"/>
                    </a:solidFill>
                  </a:tcPr>
                </a:tc>
                <a:tc>
                  <a:txBody>
                    <a:bodyPr wrap="square"/>
                    <a:lstStyle/>
                    <a:p>
                      <a:pPr>
                        <a:lnSpc>
                          <a:spcPct val="110000"/>
                        </a:lnSpc>
                      </a:pPr>
                      <a:r>
                        <a:rPr b="0" sz="839" i="0">
                          <a:solidFill>
                            <a:srgbClr val="161225"/>
                          </a:solidFill>
                          <a:latin typeface="Arial"/>
                        </a:rPr>
                        <a:t>Not peer-reviewed. The mechanism carries even if the number moves.</a:t>
                      </a:r>
                    </a:p>
                  </a:txBody>
                  <a:tcPr marL="73152" marR="73152" marT="45720" marB="45720" anchor="t">
                    <a:solidFill>
                      <a:srgbClr val="ECEBE6"/>
                    </a:solidFill>
                  </a:tcPr>
                </a:tc>
              </a:tr>
              <a:tr h="420623">
                <a:tc>
                  <a:txBody>
                    <a:bodyPr wrap="square"/>
                    <a:lstStyle/>
                    <a:p>
                      <a:pPr>
                        <a:lnSpc>
                          <a:spcPct val="110000"/>
                        </a:lnSpc>
                      </a:pPr>
                      <a:r>
                        <a:rPr b="1" sz="839" i="0">
                          <a:solidFill>
                            <a:srgbClr val="161225"/>
                          </a:solidFill>
                          <a:latin typeface="Arial"/>
                        </a:rPr>
                        <a:t>Fewer unreviewed PRs, fewer security bugs</a:t>
                      </a:r>
                    </a:p>
                  </a:txBody>
                  <a:tcPr marL="73152" marR="73152" marT="45720" marB="45720" anchor="t">
                    <a:solidFill>
                      <a:srgbClr val="FFFFFF"/>
                    </a:solidFill>
                  </a:tcPr>
                </a:tc>
                <a:tc>
                  <a:txBody>
                    <a:bodyPr wrap="square"/>
                    <a:lstStyle/>
                    <a:p>
                      <a:pPr>
                        <a:lnSpc>
                          <a:spcPct val="110000"/>
                        </a:lnSpc>
                      </a:pPr>
                      <a:r>
                        <a:rPr b="0" sz="839" i="0">
                          <a:solidFill>
                            <a:srgbClr val="161225"/>
                          </a:solidFill>
                          <a:latin typeface="Arial"/>
                        </a:rPr>
                        <a:t>3.126 projects, nearly 400.000 pull requests, PROMISE 2017.</a:t>
                      </a:r>
                    </a:p>
                  </a:txBody>
                  <a:tcPr marL="73152" marR="73152" marT="45720" marB="45720" anchor="t">
                    <a:solidFill>
                      <a:srgbClr val="FFFFFF"/>
                    </a:solidFill>
                  </a:tcPr>
                </a:tc>
                <a:tc>
                  <a:txBody>
                    <a:bodyPr wrap="square"/>
                    <a:lstStyle/>
                    <a:p>
                      <a:pPr>
                        <a:lnSpc>
                          <a:spcPct val="110000"/>
                        </a:lnSpc>
                      </a:pPr>
                      <a:r>
                        <a:rPr b="0" sz="839" i="0">
                          <a:solidFill>
                            <a:srgbClr val="161225"/>
                          </a:solidFill>
                          <a:latin typeface="Arial"/>
                        </a:rPr>
                        <a:t>Association, open source only. Effect called small but significant.</a:t>
                      </a:r>
                    </a:p>
                  </a:txBody>
                  <a:tcPr marL="73152" marR="73152" marT="45720" marB="45720" anchor="t">
                    <a:solidFill>
                      <a:srgbClr val="FFFFFF"/>
                    </a:solidFill>
                  </a:tcPr>
                </a:tc>
              </a:tr>
              <a:tr h="292607">
                <a:tc>
                  <a:txBody>
                    <a:bodyPr wrap="square"/>
                    <a:lstStyle/>
                    <a:p>
                      <a:pPr>
                        <a:lnSpc>
                          <a:spcPct val="110000"/>
                        </a:lnSpc>
                      </a:pPr>
                      <a:r>
                        <a:rPr b="1" sz="839" i="0">
                          <a:solidFill>
                            <a:srgbClr val="161225"/>
                          </a:solidFill>
                          <a:latin typeface="Arial"/>
                        </a:rPr>
                        <a:t>2,6× more likely worst performers</a:t>
                      </a:r>
                    </a:p>
                  </a:txBody>
                  <a:tcPr marL="73152" marR="73152" marT="45720" marB="45720" anchor="t">
                    <a:solidFill>
                      <a:srgbClr val="ECEBE6"/>
                    </a:solidFill>
                  </a:tcPr>
                </a:tc>
                <a:tc>
                  <a:txBody>
                    <a:bodyPr wrap="square"/>
                    <a:lstStyle/>
                    <a:p>
                      <a:pPr>
                        <a:lnSpc>
                          <a:spcPct val="110000"/>
                        </a:lnSpc>
                      </a:pPr>
                      <a:r>
                        <a:rPr b="0" sz="839" i="0">
                          <a:solidFill>
                            <a:srgbClr val="161225"/>
                          </a:solidFill>
                          <a:latin typeface="Arial"/>
                        </a:rPr>
                        <a:t>Google's DORA (DevOps Research and Assessment), 2019.</a:t>
                      </a:r>
                    </a:p>
                  </a:txBody>
                  <a:tcPr marL="73152" marR="73152" marT="45720" marB="45720" anchor="t">
                    <a:solidFill>
                      <a:srgbClr val="ECEBE6"/>
                    </a:solidFill>
                  </a:tcPr>
                </a:tc>
                <a:tc>
                  <a:txBody>
                    <a:bodyPr wrap="square"/>
                    <a:lstStyle/>
                    <a:p>
                      <a:pPr>
                        <a:lnSpc>
                          <a:spcPct val="110000"/>
                        </a:lnSpc>
                      </a:pPr>
                      <a:r>
                        <a:rPr b="0" sz="839" i="0">
                          <a:solidFill>
                            <a:srgbClr val="161225"/>
                          </a:solidFill>
                          <a:latin typeface="Arial"/>
                        </a:rPr>
                        <a:t>Correlation across survey respondents.</a:t>
                      </a:r>
                    </a:p>
                  </a:txBody>
                  <a:tcPr marL="73152" marR="73152" marT="45720" marB="45720" anchor="t">
                    <a:solidFill>
                      <a:srgbClr val="ECEBE6"/>
                    </a:solidFill>
                  </a:tcPr>
                </a:tc>
              </a:tr>
              <a:tr h="292607">
                <a:tc>
                  <a:txBody>
                    <a:bodyPr wrap="square"/>
                    <a:lstStyle/>
                    <a:p>
                      <a:pPr>
                        <a:lnSpc>
                          <a:spcPct val="110000"/>
                        </a:lnSpc>
                      </a:pPr>
                      <a:r>
                        <a:rPr b="1" sz="839" i="0">
                          <a:solidFill>
                            <a:srgbClr val="161225"/>
                          </a:solidFill>
                          <a:latin typeface="Arial"/>
                        </a:rPr>
                        <a:t>&gt;90% of riskiest changes approved</a:t>
                      </a:r>
                    </a:p>
                  </a:txBody>
                  <a:tcPr marL="73152" marR="73152" marT="45720" marB="45720" anchor="t">
                    <a:solidFill>
                      <a:srgbClr val="FFFFFF"/>
                    </a:solidFill>
                  </a:tcPr>
                </a:tc>
                <a:tc>
                  <a:txBody>
                    <a:bodyPr wrap="square"/>
                    <a:lstStyle/>
                    <a:p>
                      <a:pPr>
                        <a:lnSpc>
                          <a:spcPct val="110000"/>
                        </a:lnSpc>
                      </a:pPr>
                      <a:r>
                        <a:rPr b="0" sz="839" i="0">
                          <a:solidFill>
                            <a:srgbClr val="161225"/>
                          </a:solidFill>
                          <a:latin typeface="Arial"/>
                        </a:rPr>
                        <a:t>UK FCA multi-firm review, 23 firms, over a million changes, 2021.</a:t>
                      </a:r>
                    </a:p>
                  </a:txBody>
                  <a:tcPr marL="73152" marR="73152" marT="45720" marB="45720" anchor="t">
                    <a:solidFill>
                      <a:srgbClr val="FFFFFF"/>
                    </a:solidFill>
                  </a:tcPr>
                </a:tc>
                <a:tc>
                  <a:txBody>
                    <a:bodyPr wrap="square"/>
                    <a:lstStyle/>
                    <a:p>
                      <a:pPr>
                        <a:lnSpc>
                          <a:spcPct val="110000"/>
                        </a:lnSpc>
                      </a:pPr>
                      <a:r>
                        <a:rPr b="0" sz="839" i="0">
                          <a:solidFill>
                            <a:srgbClr val="161225"/>
                          </a:solidFill>
                          <a:latin typeface="Arial"/>
                        </a:rPr>
                        <a:t>Major changes are selected into board review for being risky.</a:t>
                      </a:r>
                    </a:p>
                  </a:txBody>
                  <a:tcPr marL="73152" marR="73152" marT="45720" marB="45720" anchor="t">
                    <a:solidFill>
                      <a:srgbClr val="FFFFFF"/>
                    </a:solidFill>
                  </a:tcPr>
                </a:tc>
              </a:tr>
              <a:tr h="420623">
                <a:tc>
                  <a:txBody>
                    <a:bodyPr wrap="square"/>
                    <a:lstStyle/>
                    <a:p>
                      <a:pPr>
                        <a:lnSpc>
                          <a:spcPct val="110000"/>
                        </a:lnSpc>
                      </a:pPr>
                      <a:r>
                        <a:rPr b="1" sz="839" i="0">
                          <a:solidFill>
                            <a:srgbClr val="161225"/>
                          </a:solidFill>
                          <a:latin typeface="Arial"/>
                        </a:rPr>
                        <a:t>Close time 6 h → 8 h after turning a reviewer on</a:t>
                      </a:r>
                    </a:p>
                  </a:txBody>
                  <a:tcPr marL="73152" marR="73152" marT="45720" marB="45720" anchor="t">
                    <a:solidFill>
                      <a:srgbClr val="ECEBE6"/>
                    </a:solidFill>
                  </a:tcPr>
                </a:tc>
                <a:tc>
                  <a:txBody>
                    <a:bodyPr wrap="square"/>
                    <a:lstStyle/>
                    <a:p>
                      <a:pPr>
                        <a:lnSpc>
                          <a:spcPct val="110000"/>
                        </a:lnSpc>
                      </a:pPr>
                      <a:r>
                        <a:rPr b="0" sz="839" i="0">
                          <a:solidFill>
                            <a:srgbClr val="161225"/>
                          </a:solidFill>
                          <a:latin typeface="Arial"/>
                        </a:rPr>
                        <a:t>One company, 4.335 pull requests, ICSE 2025 industry track.</a:t>
                      </a:r>
                    </a:p>
                  </a:txBody>
                  <a:tcPr marL="73152" marR="73152" marT="45720" marB="45720" anchor="t">
                    <a:solidFill>
                      <a:srgbClr val="ECEBE6"/>
                    </a:solidFill>
                  </a:tcPr>
                </a:tc>
                <a:tc>
                  <a:txBody>
                    <a:bodyPr wrap="square"/>
                    <a:lstStyle/>
                    <a:p>
                      <a:pPr>
                        <a:lnSpc>
                          <a:spcPct val="110000"/>
                        </a:lnSpc>
                      </a:pPr>
                      <a:r>
                        <a:rPr b="0" sz="839" i="0">
                          <a:solidFill>
                            <a:srgbClr val="161225"/>
                          </a:solidFill>
                          <a:latin typeface="Arial"/>
                        </a:rPr>
                        <a:t>One company.</a:t>
                      </a:r>
                    </a:p>
                  </a:txBody>
                  <a:tcPr marL="73152" marR="73152" marT="45720" marB="45720" anchor="t">
                    <a:solidFill>
                      <a:srgbClr val="ECEBE6"/>
                    </a:solidFill>
                  </a:tcPr>
                </a:tc>
              </a:tr>
              <a:tr h="420623">
                <a:tc>
                  <a:txBody>
                    <a:bodyPr wrap="square"/>
                    <a:lstStyle/>
                    <a:p>
                      <a:pPr>
                        <a:lnSpc>
                          <a:spcPct val="110000"/>
                        </a:lnSpc>
                      </a:pPr>
                      <a:r>
                        <a:rPr b="1" sz="839" i="0">
                          <a:solidFill>
                            <a:srgbClr val="161225"/>
                          </a:solidFill>
                          <a:latin typeface="Arial"/>
                        </a:rPr>
                        <a:t>Atlassian 75% / 96% / $4 million</a:t>
                      </a:r>
                    </a:p>
                  </a:txBody>
                  <a:tcPr marL="73152" marR="73152" marT="45720" marB="45720" anchor="t">
                    <a:solidFill>
                      <a:srgbClr val="FFFFFF"/>
                    </a:solidFill>
                  </a:tcPr>
                </a:tc>
                <a:tc>
                  <a:txBody>
                    <a:bodyPr wrap="square"/>
                    <a:lstStyle/>
                    <a:p>
                      <a:pPr>
                        <a:lnSpc>
                          <a:spcPct val="110000"/>
                        </a:lnSpc>
                      </a:pPr>
                      <a:r>
                        <a:rPr b="0" sz="839" i="0">
                          <a:solidFill>
                            <a:srgbClr val="161225"/>
                          </a:solidFill>
                          <a:latin typeface="Arial"/>
                        </a:rPr>
                        <a:t>Atlassian engineering blog, August 2025.</a:t>
                      </a:r>
                    </a:p>
                  </a:txBody>
                  <a:tcPr marL="73152" marR="73152" marT="45720" marB="45720" anchor="t">
                    <a:solidFill>
                      <a:srgbClr val="FFFFFF"/>
                    </a:solidFill>
                  </a:tcPr>
                </a:tc>
                <a:tc>
                  <a:txBody>
                    <a:bodyPr wrap="square"/>
                    <a:lstStyle/>
                    <a:p>
                      <a:pPr>
                        <a:lnSpc>
                          <a:spcPct val="110000"/>
                        </a:lnSpc>
                      </a:pPr>
                      <a:r>
                        <a:rPr b="0" sz="839" i="0">
                          <a:solidFill>
                            <a:srgbClr val="161225"/>
                          </a:solidFill>
                          <a:latin typeface="Arial"/>
                        </a:rPr>
                        <a:t>First-party. A 2026 review finds no proof platforms cause such gains.</a:t>
                      </a:r>
                    </a:p>
                  </a:txBody>
                  <a:tcPr marL="73152" marR="73152" marT="45720" marB="45720" anchor="t">
                    <a:solidFill>
                      <a:srgbClr val="FFFFFF"/>
                    </a:solidFill>
                  </a:tcPr>
                </a:tc>
              </a:tr>
              <a:tr h="420623">
                <a:tc>
                  <a:txBody>
                    <a:bodyPr wrap="square"/>
                    <a:lstStyle/>
                    <a:p>
                      <a:pPr>
                        <a:lnSpc>
                          <a:spcPct val="110000"/>
                        </a:lnSpc>
                      </a:pPr>
                      <a:r>
                        <a:rPr b="1" sz="839" i="0">
                          <a:solidFill>
                            <a:srgbClr val="161225"/>
                          </a:solidFill>
                          <a:latin typeface="Arial"/>
                        </a:rPr>
                        <a:t>60 to 70% of platform initiatives fail</a:t>
                      </a:r>
                    </a:p>
                  </a:txBody>
                  <a:tcPr marL="73152" marR="73152" marT="45720" marB="45720" anchor="t">
                    <a:solidFill>
                      <a:srgbClr val="ECEBE6"/>
                    </a:solidFill>
                  </a:tcPr>
                </a:tc>
                <a:tc>
                  <a:txBody>
                    <a:bodyPr wrap="square"/>
                    <a:lstStyle/>
                    <a:p>
                      <a:pPr>
                        <a:lnSpc>
                          <a:spcPct val="110000"/>
                        </a:lnSpc>
                      </a:pPr>
                      <a:r>
                        <a:rPr b="0" sz="839" i="0">
                          <a:solidFill>
                            <a:srgbClr val="161225"/>
                          </a:solidFill>
                          <a:latin typeface="Arial"/>
                        </a:rPr>
                        <a:t>Conference reporting in The New Stack, October 2025.</a:t>
                      </a:r>
                    </a:p>
                  </a:txBody>
                  <a:tcPr marL="73152" marR="73152" marT="45720" marB="45720" anchor="t">
                    <a:solidFill>
                      <a:srgbClr val="ECEBE6"/>
                    </a:solidFill>
                  </a:tcPr>
                </a:tc>
                <a:tc>
                  <a:txBody>
                    <a:bodyPr wrap="square"/>
                    <a:lstStyle/>
                    <a:p>
                      <a:pPr>
                        <a:lnSpc>
                          <a:spcPct val="110000"/>
                        </a:lnSpc>
                      </a:pPr>
                      <a:r>
                        <a:rPr b="0" sz="839" i="0">
                          <a:solidFill>
                            <a:srgbClr val="161225"/>
                          </a:solidFill>
                          <a:latin typeface="Arial"/>
                        </a:rPr>
                        <a:t>Industry reporting, not a study. About platforms in general, not review.</a:t>
                      </a:r>
                    </a:p>
                  </a:txBody>
                  <a:tcPr marL="73152" marR="73152" marT="45720" marB="45720" anchor="t">
                    <a:solidFill>
                      <a:srgbClr val="ECEBE6"/>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FF5B24"/>
                </a:solidFill>
                <a:latin typeface="Arial"/>
              </a:rPr>
              <a:t>SLIDE 34 · APPENDIX A4</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161225"/>
                </a:solidFill>
                <a:latin typeface="Arial"/>
              </a:rPr>
              <a:t>A4 — Names and terms</a:t>
            </a:r>
          </a:p>
        </p:txBody>
      </p:sp>
      <p:sp>
        <p:nvSpPr>
          <p:cNvPr id="5" name="Rectangle 4"/>
          <p:cNvSpPr/>
          <p:nvPr/>
        </p:nvSpPr>
        <p:spPr>
          <a:xfrm>
            <a:off x="548640" y="1115568"/>
            <a:ext cx="1097280" cy="41148"/>
          </a:xfrm>
          <a:prstGeom prst="rect">
            <a:avLst/>
          </a:prstGeom>
          <a:solidFill>
            <a:srgbClr val="FF5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161225"/>
                </a:solidFill>
                <a:latin typeface="Arial"/>
              </a:rPr>
              <a:t>Vipps MobilePay</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6F6C77"/>
                </a:solidFill>
                <a:latin typeface="Arial"/>
              </a:rPr>
              <a:t>34</a:t>
            </a:r>
          </a:p>
        </p:txBody>
      </p:sp>
      <p:sp>
        <p:nvSpPr>
          <p:cNvPr id="8" name="TextBox 7"/>
          <p:cNvSpPr txBox="1"/>
          <p:nvPr/>
        </p:nvSpPr>
        <p:spPr>
          <a:xfrm>
            <a:off x="548640" y="1371600"/>
            <a:ext cx="11094415" cy="162687"/>
          </a:xfrm>
          <a:prstGeom prst="rect">
            <a:avLst/>
          </a:prstGeom>
          <a:noFill/>
        </p:spPr>
        <p:txBody>
          <a:bodyPr wrap="square" lIns="0" rIns="0" tIns="0" bIns="0" anchor="t">
            <a:spAutoFit/>
          </a:bodyPr>
          <a:lstStyle/>
          <a:p>
            <a:pPr algn="l">
              <a:lnSpc>
                <a:spcPct val="115000"/>
              </a:lnSpc>
              <a:spcAft>
                <a:spcPts val="0"/>
              </a:spcAft>
            </a:pPr>
            <a:r>
              <a:rPr b="0" sz="1050" i="1">
                <a:solidFill>
                  <a:srgbClr val="6F6C77"/>
                </a:solidFill>
                <a:latin typeface="Arial"/>
              </a:rPr>
              <a:t>Use if the room mixes people who live in the tooling with people who don't.</a:t>
            </a:r>
          </a:p>
        </p:txBody>
      </p:sp>
      <p:graphicFrame>
        <p:nvGraphicFramePr>
          <p:cNvPr id="9" name="Table 8"/>
          <p:cNvGraphicFramePr>
            <a:graphicFrameLocks noGrp="1"/>
          </p:cNvGraphicFramePr>
          <p:nvPr/>
        </p:nvGraphicFramePr>
        <p:xfrm>
          <a:off x="548640" y="1691639"/>
          <a:ext cx="11094414" cy="4553712"/>
        </p:xfrm>
        <a:graphic>
          <a:graphicData uri="http://schemas.openxmlformats.org/drawingml/2006/table">
            <a:tbl>
              <a:tblPr firstRow="0" bandRow="0">
                <a:tableStyleId>{5C22544A-7EE6-4342-B048-85BDC9FD1C3A}</a:tableStyleId>
              </a:tblPr>
              <a:tblGrid>
                <a:gridCol w="2277661"/>
                <a:gridCol w="8816753"/>
              </a:tblGrid>
              <a:tr h="347472">
                <a:tc>
                  <a:txBody>
                    <a:bodyPr wrap="square"/>
                    <a:lstStyle/>
                    <a:p>
                      <a:pPr>
                        <a:lnSpc>
                          <a:spcPct val="110000"/>
                        </a:lnSpc>
                      </a:pPr>
                      <a:r>
                        <a:rPr b="1" sz="1050" i="0">
                          <a:solidFill>
                            <a:srgbClr val="F5F5F2"/>
                          </a:solidFill>
                          <a:latin typeface="Arial"/>
                        </a:rPr>
                        <a:t>Term</a:t>
                      </a:r>
                    </a:p>
                  </a:txBody>
                  <a:tcPr marL="73152" marR="73152" marT="45720" marB="45720" anchor="t">
                    <a:solidFill>
                      <a:srgbClr val="161225"/>
                    </a:solidFill>
                  </a:tcPr>
                </a:tc>
                <a:tc>
                  <a:txBody>
                    <a:bodyPr wrap="square"/>
                    <a:lstStyle/>
                    <a:p>
                      <a:pPr>
                        <a:lnSpc>
                          <a:spcPct val="110000"/>
                        </a:lnSpc>
                      </a:pPr>
                      <a:r>
                        <a:rPr b="1" sz="1050" i="0">
                          <a:solidFill>
                            <a:srgbClr val="F5F5F2"/>
                          </a:solidFill>
                          <a:latin typeface="Arial"/>
                        </a:rPr>
                        <a:t>Meaning in this deck</a:t>
                      </a:r>
                    </a:p>
                  </a:txBody>
                  <a:tcPr marL="73152" marR="73152" marT="45720" marB="45720" anchor="t">
                    <a:solidFill>
                      <a:srgbClr val="161225"/>
                    </a:solidFill>
                  </a:tcPr>
                </a:tc>
              </a:tr>
              <a:tr h="484632">
                <a:tc>
                  <a:txBody>
                    <a:bodyPr wrap="square"/>
                    <a:lstStyle/>
                    <a:p>
                      <a:pPr>
                        <a:lnSpc>
                          <a:spcPct val="110000"/>
                        </a:lnSpc>
                      </a:pPr>
                      <a:r>
                        <a:rPr b="1" sz="1050" i="0">
                          <a:solidFill>
                            <a:srgbClr val="161225"/>
                          </a:solidFill>
                          <a:latin typeface="Arial"/>
                        </a:rPr>
                        <a:t>Four eyes</a:t>
                      </a:r>
                    </a:p>
                  </a:txBody>
                  <a:tcPr marL="73152" marR="73152" marT="45720" marB="45720" anchor="t">
                    <a:solidFill>
                      <a:srgbClr val="FFFFFF"/>
                    </a:solidFill>
                  </a:tcPr>
                </a:tc>
                <a:tc>
                  <a:txBody>
                    <a:bodyPr wrap="square"/>
                    <a:lstStyle/>
                    <a:p>
                      <a:pPr>
                        <a:lnSpc>
                          <a:spcPct val="110000"/>
                        </a:lnSpc>
                      </a:pPr>
                      <a:r>
                        <a:rPr b="0" sz="1050" i="0">
                          <a:solidFill>
                            <a:srgbClr val="161225"/>
                          </a:solidFill>
                          <a:latin typeface="Arial"/>
                        </a:rPr>
                        <a:t>Three different rules: two persons run a bank, a second person checks a sensitive action, the approving function is independent of the implementing one.</a:t>
                      </a:r>
                    </a:p>
                  </a:txBody>
                  <a:tcPr marL="73152" marR="73152" marT="45720" marB="45720" anchor="t">
                    <a:solidFill>
                      <a:srgbClr val="FFFFFF"/>
                    </a:solidFill>
                  </a:tcPr>
                </a:tc>
              </a:tr>
              <a:tr h="324612">
                <a:tc>
                  <a:txBody>
                    <a:bodyPr wrap="square"/>
                    <a:lstStyle/>
                    <a:p>
                      <a:pPr>
                        <a:lnSpc>
                          <a:spcPct val="110000"/>
                        </a:lnSpc>
                      </a:pPr>
                      <a:r>
                        <a:rPr b="1" sz="1050" i="0">
                          <a:solidFill>
                            <a:srgbClr val="161225"/>
                          </a:solidFill>
                          <a:latin typeface="Arial"/>
                        </a:rPr>
                        <a:t>DORA (EU)</a:t>
                      </a:r>
                    </a:p>
                  </a:txBody>
                  <a:tcPr marL="73152" marR="73152" marT="45720" marB="45720" anchor="t">
                    <a:solidFill>
                      <a:srgbClr val="ECEBE6"/>
                    </a:solidFill>
                  </a:tcPr>
                </a:tc>
                <a:tc>
                  <a:txBody>
                    <a:bodyPr wrap="square"/>
                    <a:lstStyle/>
                    <a:p>
                      <a:pPr>
                        <a:lnSpc>
                          <a:spcPct val="110000"/>
                        </a:lnSpc>
                      </a:pPr>
                      <a:r>
                        <a:rPr b="0" sz="1050" i="0">
                          <a:solidFill>
                            <a:srgbClr val="161225"/>
                          </a:solidFill>
                          <a:latin typeface="Arial"/>
                        </a:rPr>
                        <a:t>Digital Operational Resilience Act, EU 2022/2554. Applies to payment institutions since July 2025.</a:t>
                      </a:r>
                    </a:p>
                  </a:txBody>
                  <a:tcPr marL="73152" marR="73152" marT="45720" marB="45720" anchor="t">
                    <a:solidFill>
                      <a:srgbClr val="ECEBE6"/>
                    </a:solidFill>
                  </a:tcPr>
                </a:tc>
              </a:tr>
              <a:tr h="484632">
                <a:tc>
                  <a:txBody>
                    <a:bodyPr wrap="square"/>
                    <a:lstStyle/>
                    <a:p>
                      <a:pPr>
                        <a:lnSpc>
                          <a:spcPct val="110000"/>
                        </a:lnSpc>
                      </a:pPr>
                      <a:r>
                        <a:rPr b="1" sz="1050" i="0">
                          <a:solidFill>
                            <a:srgbClr val="161225"/>
                          </a:solidFill>
                          <a:latin typeface="Arial"/>
                        </a:rPr>
                        <a:t>DORA (Google)</a:t>
                      </a:r>
                    </a:p>
                  </a:txBody>
                  <a:tcPr marL="73152" marR="73152" marT="45720" marB="45720" anchor="t">
                    <a:solidFill>
                      <a:srgbClr val="FFFFFF"/>
                    </a:solidFill>
                  </a:tcPr>
                </a:tc>
                <a:tc>
                  <a:txBody>
                    <a:bodyPr wrap="square"/>
                    <a:lstStyle/>
                    <a:p>
                      <a:pPr>
                        <a:lnSpc>
                          <a:spcPct val="110000"/>
                        </a:lnSpc>
                      </a:pPr>
                      <a:r>
                        <a:rPr b="0" sz="1050" i="0">
                          <a:solidFill>
                            <a:srgbClr val="161225"/>
                          </a:solidFill>
                          <a:latin typeface="Arial"/>
                        </a:rPr>
                        <a:t>DevOps Research and Assessment. Google Cloud's research programme on software delivery. Coined "the verification tax" in 2026.</a:t>
                      </a:r>
                    </a:p>
                  </a:txBody>
                  <a:tcPr marL="73152" marR="73152" marT="45720" marB="45720" anchor="t">
                    <a:solidFill>
                      <a:srgbClr val="FFFFFF"/>
                    </a:solidFill>
                  </a:tcPr>
                </a:tc>
              </a:tr>
              <a:tr h="324612">
                <a:tc>
                  <a:txBody>
                    <a:bodyPr wrap="square"/>
                    <a:lstStyle/>
                    <a:p>
                      <a:pPr>
                        <a:lnSpc>
                          <a:spcPct val="110000"/>
                        </a:lnSpc>
                      </a:pPr>
                      <a:r>
                        <a:rPr b="1" sz="1050" i="0">
                          <a:solidFill>
                            <a:srgbClr val="161225"/>
                          </a:solidFill>
                          <a:latin typeface="Arial"/>
                        </a:rPr>
                        <a:t>RTS</a:t>
                      </a:r>
                    </a:p>
                  </a:txBody>
                  <a:tcPr marL="73152" marR="73152" marT="45720" marB="45720" anchor="t">
                    <a:solidFill>
                      <a:srgbClr val="ECEBE6"/>
                    </a:solidFill>
                  </a:tcPr>
                </a:tc>
                <a:tc>
                  <a:txBody>
                    <a:bodyPr wrap="square"/>
                    <a:lstStyle/>
                    <a:p>
                      <a:pPr>
                        <a:lnSpc>
                          <a:spcPct val="110000"/>
                        </a:lnSpc>
                      </a:pPr>
                      <a:r>
                        <a:rPr b="0" sz="1050" i="0">
                          <a:solidFill>
                            <a:srgbClr val="161225"/>
                          </a:solidFill>
                          <a:latin typeface="Arial"/>
                        </a:rPr>
                        <a:t>Regulatory Technical Standard. The detailed rules under DORA (EU). 2024/1774 art. 17 is the change-management one.</a:t>
                      </a:r>
                    </a:p>
                  </a:txBody>
                  <a:tcPr marL="73152" marR="73152" marT="45720" marB="45720" anchor="t">
                    <a:solidFill>
                      <a:srgbClr val="ECEBE6"/>
                    </a:solidFill>
                  </a:tcPr>
                </a:tc>
              </a:tr>
              <a:tr h="484632">
                <a:tc>
                  <a:txBody>
                    <a:bodyPr wrap="square"/>
                    <a:lstStyle/>
                    <a:p>
                      <a:pPr>
                        <a:lnSpc>
                          <a:spcPct val="110000"/>
                        </a:lnSpc>
                      </a:pPr>
                      <a:r>
                        <a:rPr b="1" sz="1050" i="0">
                          <a:solidFill>
                            <a:srgbClr val="161225"/>
                          </a:solidFill>
                          <a:latin typeface="Arial"/>
                        </a:rPr>
                        <a:t>Required approvals, code owners</a:t>
                      </a:r>
                    </a:p>
                  </a:txBody>
                  <a:tcPr marL="73152" marR="73152" marT="45720" marB="45720" anchor="t">
                    <a:solidFill>
                      <a:srgbClr val="FFFFFF"/>
                    </a:solidFill>
                  </a:tcPr>
                </a:tc>
                <a:tc>
                  <a:txBody>
                    <a:bodyPr wrap="square"/>
                    <a:lstStyle/>
                    <a:p>
                      <a:pPr>
                        <a:lnSpc>
                          <a:spcPct val="110000"/>
                        </a:lnSpc>
                      </a:pPr>
                      <a:r>
                        <a:rPr b="0" sz="1050" i="0">
                          <a:solidFill>
                            <a:srgbClr val="161225"/>
                          </a:solidFill>
                          <a:latin typeface="Arial"/>
                        </a:rPr>
                        <a:t>GitHub branch-protection rules from 2016 and 2017. One more person has to say yes before a merge.</a:t>
                      </a:r>
                    </a:p>
                  </a:txBody>
                  <a:tcPr marL="73152" marR="73152" marT="45720" marB="45720" anchor="t">
                    <a:solidFill>
                      <a:srgbClr val="FFFFFF"/>
                    </a:solidFill>
                  </a:tcPr>
                </a:tc>
              </a:tr>
              <a:tr h="484632">
                <a:tc>
                  <a:txBody>
                    <a:bodyPr wrap="square"/>
                    <a:lstStyle/>
                    <a:p>
                      <a:pPr>
                        <a:lnSpc>
                          <a:spcPct val="110000"/>
                        </a:lnSpc>
                      </a:pPr>
                      <a:r>
                        <a:rPr b="1" sz="1050" i="0">
                          <a:solidFill>
                            <a:srgbClr val="161225"/>
                          </a:solidFill>
                          <a:latin typeface="Arial"/>
                        </a:rPr>
                        <a:t>Break-glass</a:t>
                      </a:r>
                    </a:p>
                  </a:txBody>
                  <a:tcPr marL="73152" marR="73152" marT="45720" marB="45720" anchor="t">
                    <a:solidFill>
                      <a:srgbClr val="ECEBE6"/>
                    </a:solidFill>
                  </a:tcPr>
                </a:tc>
                <a:tc>
                  <a:txBody>
                    <a:bodyPr wrap="square"/>
                    <a:lstStyle/>
                    <a:p>
                      <a:pPr>
                        <a:lnSpc>
                          <a:spcPct val="110000"/>
                        </a:lnSpc>
                      </a:pPr>
                      <a:r>
                        <a:rPr b="0" sz="1050" i="0">
                          <a:solidFill>
                            <a:srgbClr val="161225"/>
                          </a:solidFill>
                          <a:latin typeface="Arial"/>
                        </a:rPr>
                        <a:t>A logged override that lets a team bypass a check in an emergency. Cloudflare's reviewer has one; GitHub's org-wide rulesets do not.</a:t>
                      </a:r>
                    </a:p>
                  </a:txBody>
                  <a:tcPr marL="73152" marR="73152" marT="45720" marB="45720" anchor="t">
                    <a:solidFill>
                      <a:srgbClr val="ECEBE6"/>
                    </a:solidFill>
                  </a:tcPr>
                </a:tc>
              </a:tr>
              <a:tr h="324612">
                <a:tc>
                  <a:txBody>
                    <a:bodyPr wrap="square"/>
                    <a:lstStyle/>
                    <a:p>
                      <a:pPr>
                        <a:lnSpc>
                          <a:spcPct val="110000"/>
                        </a:lnSpc>
                      </a:pPr>
                      <a:r>
                        <a:rPr b="1" sz="1050" i="0">
                          <a:solidFill>
                            <a:srgbClr val="161225"/>
                          </a:solidFill>
                          <a:latin typeface="Arial"/>
                        </a:rPr>
                        <a:t>Tricorder</a:t>
                      </a:r>
                    </a:p>
                  </a:txBody>
                  <a:tcPr marL="73152" marR="73152" marT="45720" marB="45720" anchor="t">
                    <a:solidFill>
                      <a:srgbClr val="FFFFFF"/>
                    </a:solidFill>
                  </a:tcPr>
                </a:tc>
                <a:tc>
                  <a:txBody>
                    <a:bodyPr wrap="square"/>
                    <a:lstStyle/>
                    <a:p>
                      <a:pPr>
                        <a:lnSpc>
                          <a:spcPct val="110000"/>
                        </a:lnSpc>
                      </a:pPr>
                      <a:r>
                        <a:rPr b="0" sz="1050" i="0">
                          <a:solidFill>
                            <a:srgbClr val="161225"/>
                          </a:solidFill>
                          <a:latin typeface="Arial"/>
                        </a:rPr>
                        <a:t>Google's static-analysis platform. Runs on every change before a human reviewer sees it.</a:t>
                      </a:r>
                    </a:p>
                  </a:txBody>
                  <a:tcPr marL="73152" marR="73152" marT="45720" marB="45720" anchor="t">
                    <a:solidFill>
                      <a:srgbClr val="FFFFFF"/>
                    </a:solidFill>
                  </a:tcPr>
                </a:tc>
              </a:tr>
              <a:tr h="324612">
                <a:tc>
                  <a:txBody>
                    <a:bodyPr wrap="square"/>
                    <a:lstStyle/>
                    <a:p>
                      <a:pPr>
                        <a:lnSpc>
                          <a:spcPct val="110000"/>
                        </a:lnSpc>
                      </a:pPr>
                      <a:r>
                        <a:rPr b="1" sz="1050" i="0">
                          <a:solidFill>
                            <a:srgbClr val="161225"/>
                          </a:solidFill>
                          <a:latin typeface="Arial"/>
                        </a:rPr>
                        <a:t>Soundcheck</a:t>
                      </a:r>
                    </a:p>
                  </a:txBody>
                  <a:tcPr marL="73152" marR="73152" marT="45720" marB="45720" anchor="t">
                    <a:solidFill>
                      <a:srgbClr val="ECEBE6"/>
                    </a:solidFill>
                  </a:tcPr>
                </a:tc>
                <a:tc>
                  <a:txBody>
                    <a:bodyPr wrap="square"/>
                    <a:lstStyle/>
                    <a:p>
                      <a:pPr>
                        <a:lnSpc>
                          <a:spcPct val="110000"/>
                        </a:lnSpc>
                      </a:pPr>
                      <a:r>
                        <a:rPr b="0" sz="1050" i="0">
                          <a:solidFill>
                            <a:srgbClr val="161225"/>
                          </a:solidFill>
                          <a:latin typeface="Arial"/>
                        </a:rPr>
                        <a:t>Spotify's platform for running different tiers of checks per kind of component.</a:t>
                      </a:r>
                    </a:p>
                  </a:txBody>
                  <a:tcPr marL="73152" marR="73152" marT="45720" marB="45720" anchor="t">
                    <a:solidFill>
                      <a:srgbClr val="ECEBE6"/>
                    </a:solidFill>
                  </a:tcPr>
                </a:tc>
              </a:tr>
              <a:tr h="484632">
                <a:tc>
                  <a:txBody>
                    <a:bodyPr wrap="square"/>
                    <a:lstStyle/>
                    <a:p>
                      <a:pPr>
                        <a:lnSpc>
                          <a:spcPct val="110000"/>
                        </a:lnSpc>
                      </a:pPr>
                      <a:r>
                        <a:rPr b="1" sz="1050" i="0">
                          <a:solidFill>
                            <a:srgbClr val="161225"/>
                          </a:solidFill>
                          <a:latin typeface="Arial"/>
                        </a:rPr>
                        <a:t>Self-review</a:t>
                      </a:r>
                    </a:p>
                  </a:txBody>
                  <a:tcPr marL="73152" marR="73152" marT="45720" marB="45720" anchor="t">
                    <a:solidFill>
                      <a:srgbClr val="FFFFFF"/>
                    </a:solidFill>
                  </a:tcPr>
                </a:tc>
                <a:tc>
                  <a:txBody>
                    <a:bodyPr wrap="square"/>
                    <a:lstStyle/>
                    <a:p>
                      <a:pPr>
                        <a:lnSpc>
                          <a:spcPct val="110000"/>
                        </a:lnSpc>
                      </a:pPr>
                      <a:r>
                        <a:rPr b="0" sz="1050" i="0">
                          <a:solidFill>
                            <a:srgbClr val="161225"/>
                          </a:solidFill>
                          <a:latin typeface="Arial"/>
                        </a:rPr>
                        <a:t>The author reading their own change as a critic would before asking anyone else to. GitHub recommends it. Rust's policy says an LLM review is not a substitute.</a:t>
                      </a:r>
                    </a:p>
                  </a:txBody>
                  <a:tcPr marL="73152" marR="73152" marT="45720" marB="45720" anchor="t">
                    <a:solidFill>
                      <a:srgbClr val="FFFFFF"/>
                    </a:solidFill>
                  </a:tcPr>
                </a:tc>
              </a:tr>
              <a:tr h="484632">
                <a:tc>
                  <a:txBody>
                    <a:bodyPr wrap="square"/>
                    <a:lstStyle/>
                    <a:p>
                      <a:pPr>
                        <a:lnSpc>
                          <a:spcPct val="110000"/>
                        </a:lnSpc>
                      </a:pPr>
                      <a:r>
                        <a:rPr b="1" sz="1050" i="0">
                          <a:solidFill>
                            <a:srgbClr val="161225"/>
                          </a:solidFill>
                          <a:latin typeface="Arial"/>
                        </a:rPr>
                        <a:t>The author's half of four eyes</a:t>
                      </a:r>
                    </a:p>
                  </a:txBody>
                  <a:tcPr marL="73152" marR="73152" marT="45720" marB="45720" anchor="t">
                    <a:solidFill>
                      <a:srgbClr val="ECEBE6"/>
                    </a:solidFill>
                  </a:tcPr>
                </a:tc>
                <a:tc>
                  <a:txBody>
                    <a:bodyPr wrap="square"/>
                    <a:lstStyle/>
                    <a:p>
                      <a:pPr>
                        <a:lnSpc>
                          <a:spcPct val="110000"/>
                        </a:lnSpc>
                      </a:pPr>
                      <a:r>
                        <a:rPr b="0" sz="1050" i="0">
                          <a:solidFill>
                            <a:srgbClr val="161225"/>
                          </a:solidFill>
                          <a:latin typeface="Arial"/>
                        </a:rPr>
                        <a:t>My name for a check that asks the author to explain the change in their own words before opening a pull request. A design, not yet a result.</a:t>
                      </a:r>
                    </a:p>
                  </a:txBody>
                  <a:tcPr marL="73152" marR="73152" marT="45720" marB="45720" anchor="t">
                    <a:solidFill>
                      <a:srgbClr val="ECEBE6"/>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