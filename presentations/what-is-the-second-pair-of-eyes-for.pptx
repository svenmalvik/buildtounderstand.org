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down where the next person will find it, with the reason.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Everything above it decays quietly, and only a person re-reading approved changes notices.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first week</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First, decide what this repository touches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Does it move money, hold customer data, or neither?</a:t>
            </a:r>
          </a:p>
          <a:p>
            <a:pPr>
              <a:lnSpc>
                <a:spcPct val="115000"/>
              </a:lnSpc>
              <a:spcAft>
                <a:spcPts val="400"/>
              </a:spcAft>
            </a:pPr>
            <a:r>
              <a:rPr sz="1625" b="1">
                <a:solidFill>
                  <a:srgbClr val="E8A33D"/>
                </a:solidFill>
                <a:latin typeface="Arial"/>
              </a:rPr>
              <a:t>—  </a:t>
            </a:r>
            <a:r>
              <a:rPr b="0" sz="1625" i="0">
                <a:solidFill>
                  <a:srgbClr val="E6ECF7"/>
                </a:solidFill>
                <a:latin typeface="Arial"/>
              </a:rPr>
              <a:t>Write the answer in the README, with the date</a:t>
            </a:r>
          </a:p>
          <a:p>
            <a:pPr>
              <a:lnSpc>
                <a:spcPct val="115000"/>
              </a:lnSpc>
              <a:spcAft>
                <a:spcPts val="400"/>
              </a:spcAft>
            </a:pPr>
            <a:r>
              <a:rPr sz="1625" b="1">
                <a:solidFill>
                  <a:srgbClr val="E8A33D"/>
                </a:solidFill>
                <a:latin typeface="Arial"/>
              </a:rPr>
              <a:t>—  </a:t>
            </a:r>
            <a:r>
              <a:rPr b="0" sz="1625" i="0">
                <a:solidFill>
                  <a:srgbClr val="E6ECF7"/>
                </a:solidFill>
                <a:latin typeface="Arial"/>
              </a:rPr>
              <a:t>Say what follows: how many reviewers, whether a machine may approve, whether a security review is mandatory</a:t>
            </a:r>
          </a:p>
          <a:p>
            <a:pPr>
              <a:lnSpc>
                <a:spcPct val="115000"/>
              </a:lnSpc>
              <a:spcAft>
                <a:spcPts val="400"/>
              </a:spcAft>
            </a:pPr>
            <a:r>
              <a:rPr sz="1625" b="1">
                <a:solidFill>
                  <a:srgbClr val="E8A33D"/>
                </a:solidFill>
                <a:latin typeface="Arial"/>
              </a:rPr>
              <a:t>—  </a:t>
            </a:r>
            <a:r>
              <a:rPr b="0" sz="1625" i="0">
                <a:solidFill>
                  <a:srgbClr val="E6ECF7"/>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that follow from the tier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the second answer down, with the reason. A setting with no owner is a decision nobody made.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27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first week</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graphicFrame>
        <p:nvGraphicFramePr>
          <p:cNvPr id="8" name="Table 7"/>
          <p:cNvGraphicFramePr>
            <a:graphicFrameLocks noGrp="1"/>
          </p:cNvGraphicFramePr>
          <p:nvPr/>
        </p:nvGraphicFramePr>
        <p:xfrm>
          <a:off x="548640" y="1371600"/>
          <a:ext cx="11094414" cy="4248300"/>
        </p:xfrm>
        <a:graphic>
          <a:graphicData uri="http://schemas.openxmlformats.org/drawingml/2006/table">
            <a:tbl>
              <a:tblPr firstRow="0" bandRow="0">
                <a:tableStyleId>{5C22544A-7EE6-4342-B048-85BDC9FD1C3A}</a:tableStyleId>
              </a:tblPr>
              <a:tblGrid>
                <a:gridCol w="1877516"/>
                <a:gridCol w="5547207"/>
                <a:gridCol w="3669691"/>
              </a:tblGrid>
              <a:tr h="347472">
                <a:tc>
                  <a:txBody>
                    <a:bodyPr wrap="square"/>
                    <a:lstStyle/>
                    <a:p>
                      <a:pPr>
                        <a:lnSpc>
                          <a:spcPct val="110000"/>
                        </a:lnSpc>
                      </a:pPr>
                      <a:r>
                        <a:rPr b="1" sz="1323" i="0">
                          <a:solidFill>
                            <a:srgbClr val="E6ECF7"/>
                          </a:solidFill>
                          <a:latin typeface="Arial"/>
                        </a:rPr>
                        <a:t>When</a:t>
                      </a:r>
                    </a:p>
                  </a:txBody>
                  <a:tcPr marL="73152" marR="73152" marT="45720" marB="45720" anchor="t">
                    <a:solidFill>
                      <a:srgbClr val="1C2740"/>
                    </a:solidFill>
                  </a:tcPr>
                </a:tc>
                <a:tc>
                  <a:txBody>
                    <a:bodyPr wrap="square"/>
                    <a:lstStyle/>
                    <a:p>
                      <a:pPr>
                        <a:lnSpc>
                          <a:spcPct val="110000"/>
                        </a:lnSpc>
                      </a:pPr>
                      <a:r>
                        <a:rPr b="1" sz="1323"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323" i="0">
                          <a:solidFill>
                            <a:srgbClr val="E6ECF7"/>
                          </a:solidFill>
                          <a:latin typeface="Arial"/>
                        </a:rPr>
                        <a:t>Where it lives</a:t>
                      </a:r>
                    </a:p>
                  </a:txBody>
                  <a:tcPr marL="73152" marR="73152" marT="45720" marB="45720" anchor="t">
                    <a:solidFill>
                      <a:srgbClr val="1C2740"/>
                    </a:solidFill>
                  </a:tcPr>
                </a:tc>
              </a:tr>
              <a:tr h="567842">
                <a:tc>
                  <a:txBody>
                    <a:bodyPr wrap="square"/>
                    <a:lstStyle/>
                    <a:p>
                      <a:pPr>
                        <a:lnSpc>
                          <a:spcPct val="110000"/>
                        </a:lnSpc>
                      </a:pPr>
                      <a:r>
                        <a:rPr b="1" sz="1323"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Write down what this repository touches, and what follows from it</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README</a:t>
                      </a:r>
                    </a:p>
                  </a:txBody>
                  <a:tcPr marL="73152" marR="73152" marT="45720" marB="45720" anchor="t">
                    <a:solidFill>
                      <a:srgbClr val="151D2E"/>
                    </a:solidFill>
                  </a:tcPr>
                </a:tc>
              </a:tr>
              <a:tr h="366217">
                <a:tc>
                  <a:txBody>
                    <a:bodyPr wrap="square"/>
                    <a:lstStyle/>
                    <a:p>
                      <a:pPr>
                        <a:lnSpc>
                          <a:spcPct val="110000"/>
                        </a:lnSpc>
                      </a:pPr>
                      <a:r>
                        <a:rPr b="1" sz="1323" i="0">
                          <a:solidFill>
                            <a:srgbClr val="E6ECF7"/>
                          </a:solidFill>
                          <a:latin typeface="Arial"/>
                        </a:rPr>
                        <a:t>Day 1</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Format, lint, test, static analysis on every change</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.github/workflows/</a:t>
                      </a:r>
                    </a:p>
                  </a:txBody>
                  <a:tcPr marL="73152" marR="73152" marT="45720" marB="45720" anchor="t">
                    <a:solidFill>
                      <a:srgbClr val="121A2A"/>
                    </a:solidFill>
                  </a:tcPr>
                </a:tc>
              </a:tr>
              <a:tr h="567842">
                <a:tc>
                  <a:txBody>
                    <a:bodyPr wrap="square"/>
                    <a:lstStyle/>
                    <a:p>
                      <a:pPr>
                        <a:lnSpc>
                          <a:spcPct val="110000"/>
                        </a:lnSpc>
                      </a:pPr>
                      <a:r>
                        <a:rPr b="1" sz="1323"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Dependency and secret scanning</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.github/dependabot.yml, repository settings</a:t>
                      </a:r>
                    </a:p>
                  </a:txBody>
                  <a:tcPr marL="73152" marR="73152" marT="45720" marB="45720" anchor="t">
                    <a:solidFill>
                      <a:srgbClr val="151D2E"/>
                    </a:solidFill>
                  </a:tcPr>
                </a:tc>
              </a:tr>
              <a:tr h="567842">
                <a:tc>
                  <a:txBody>
                    <a:bodyPr wrap="square"/>
                    <a:lstStyle/>
                    <a:p>
                      <a:pPr>
                        <a:lnSpc>
                          <a:spcPct val="110000"/>
                        </a:lnSpc>
                      </a:pPr>
                      <a:r>
                        <a:rPr b="1" sz="1323" i="0">
                          <a:solidFill>
                            <a:srgbClr val="E6ECF7"/>
                          </a:solidFill>
                          <a:latin typeface="Arial"/>
                        </a:rPr>
                        <a:t>Day 2</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Require those checks, require a pull request, stop direct pushes</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Branch protection, or a ruleset</a:t>
                      </a:r>
                    </a:p>
                  </a:txBody>
                  <a:tcPr marL="73152" marR="73152" marT="45720" marB="45720" anchor="t">
                    <a:solidFill>
                      <a:srgbClr val="121A2A"/>
                    </a:solidFill>
                  </a:tcPr>
                </a:tc>
              </a:tr>
              <a:tr h="366217">
                <a:tc>
                  <a:txBody>
                    <a:bodyPr wrap="square"/>
                    <a:lstStyle/>
                    <a:p>
                      <a:pPr>
                        <a:lnSpc>
                          <a:spcPct val="110000"/>
                        </a:lnSpc>
                      </a:pPr>
                      <a:r>
                        <a:rPr b="1" sz="1323" i="0">
                          <a:solidFill>
                            <a:srgbClr val="E6ECF7"/>
                          </a:solidFill>
                          <a:latin typeface="Arial"/>
                        </a:rPr>
                        <a:t>Day 2</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Dismiss stale approvals when new commits land</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The same place</a:t>
                      </a:r>
                    </a:p>
                  </a:txBody>
                  <a:tcPr marL="73152" marR="73152" marT="45720" marB="45720" anchor="t">
                    <a:solidFill>
                      <a:srgbClr val="151D2E"/>
                    </a:solidFill>
                  </a:tcPr>
                </a:tc>
              </a:tr>
              <a:tr h="366217">
                <a:tc>
                  <a:txBody>
                    <a:bodyPr wrap="square"/>
                    <a:lstStyle/>
                    <a:p>
                      <a:pPr>
                        <a:lnSpc>
                          <a:spcPct val="110000"/>
                        </a:lnSpc>
                      </a:pPr>
                      <a:r>
                        <a:rPr b="1" sz="1323" i="0">
                          <a:solidFill>
                            <a:srgbClr val="E6ECF7"/>
                          </a:solidFill>
                          <a:latin typeface="Arial"/>
                        </a:rPr>
                        <a:t>Day 3</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A named reviewer for the paths that carry risk</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.github/CODEOWNERS</a:t>
                      </a:r>
                    </a:p>
                  </a:txBody>
                  <a:tcPr marL="73152" marR="73152" marT="45720" marB="45720" anchor="t">
                    <a:solidFill>
                      <a:srgbClr val="121A2A"/>
                    </a:solidFill>
                  </a:tcPr>
                </a:tc>
              </a:tr>
              <a:tr h="366217">
                <a:tc>
                  <a:txBody>
                    <a:bodyPr wrap="square"/>
                    <a:lstStyle/>
                    <a:p>
                      <a:pPr>
                        <a:lnSpc>
                          <a:spcPct val="110000"/>
                        </a:lnSpc>
                      </a:pPr>
                      <a:r>
                        <a:rPr b="1" sz="1323" i="0">
                          <a:solidFill>
                            <a:srgbClr val="E6ECF7"/>
                          </a:solidFill>
                          <a:latin typeface="Arial"/>
                        </a:rPr>
                        <a:t>Day 3</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Whether a machine may approve here, and why</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Written down where the next person looks</a:t>
                      </a:r>
                    </a:p>
                  </a:txBody>
                  <a:tcPr marL="73152" marR="73152" marT="45720" marB="45720" anchor="t">
                    <a:solidFill>
                      <a:srgbClr val="151D2E"/>
                    </a:solidFill>
                  </a:tcPr>
                </a:tc>
              </a:tr>
              <a:tr h="366217">
                <a:tc>
                  <a:txBody>
                    <a:bodyPr wrap="square"/>
                    <a:lstStyle/>
                    <a:p>
                      <a:pPr>
                        <a:lnSpc>
                          <a:spcPct val="110000"/>
                        </a:lnSpc>
                      </a:pPr>
                      <a:r>
                        <a:rPr b="1" sz="1323" i="0">
                          <a:solidFill>
                            <a:srgbClr val="E6ECF7"/>
                          </a:solidFill>
                          <a:latin typeface="Arial"/>
                        </a:rPr>
                        <a:t>Day 4</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The template that explains and asks</a:t>
                      </a:r>
                    </a:p>
                  </a:txBody>
                  <a:tcPr marL="73152" marR="73152" marT="45720" marB="45720" anchor="t">
                    <a:solidFill>
                      <a:srgbClr val="121A2A"/>
                    </a:solidFill>
                  </a:tcPr>
                </a:tc>
                <a:tc>
                  <a:txBody>
                    <a:bodyPr wrap="square"/>
                    <a:lstStyle/>
                    <a:p>
                      <a:pPr>
                        <a:lnSpc>
                          <a:spcPct val="110000"/>
                        </a:lnSpc>
                      </a:pPr>
                      <a:r>
                        <a:rPr b="0" sz="1323" i="0">
                          <a:solidFill>
                            <a:srgbClr val="E6ECF7"/>
                          </a:solidFill>
                          <a:latin typeface="Arial"/>
                        </a:rPr>
                        <a:t>.github/pull_request_template.md</a:t>
                      </a:r>
                    </a:p>
                  </a:txBody>
                  <a:tcPr marL="73152" marR="73152" marT="45720" marB="45720" anchor="t">
                    <a:solidFill>
                      <a:srgbClr val="121A2A"/>
                    </a:solidFill>
                  </a:tcPr>
                </a:tc>
              </a:tr>
              <a:tr h="366217">
                <a:tc>
                  <a:txBody>
                    <a:bodyPr wrap="square"/>
                    <a:lstStyle/>
                    <a:p>
                      <a:pPr>
                        <a:lnSpc>
                          <a:spcPct val="110000"/>
                        </a:lnSpc>
                      </a:pPr>
                      <a:r>
                        <a:rPr b="1" sz="1323" i="0">
                          <a:solidFill>
                            <a:srgbClr val="E6ECF7"/>
                          </a:solidFill>
                          <a:latin typeface="Arial"/>
                        </a:rPr>
                        <a:t>Ongoing</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Read a sample of already-approved changes</a:t>
                      </a:r>
                    </a:p>
                  </a:txBody>
                  <a:tcPr marL="73152" marR="73152" marT="45720" marB="45720" anchor="t">
                    <a:solidFill>
                      <a:srgbClr val="151D2E"/>
                    </a:solidFill>
                  </a:tcPr>
                </a:tc>
                <a:tc>
                  <a:txBody>
                    <a:bodyPr wrap="square"/>
                    <a:lstStyle/>
                    <a:p>
                      <a:pPr>
                        <a:lnSpc>
                          <a:spcPct val="110000"/>
                        </a:lnSpc>
                      </a:pPr>
                      <a:r>
                        <a:rPr b="0" sz="1323" i="0">
                          <a:solidFill>
                            <a:srgbClr val="E6ECF7"/>
                          </a:solidFill>
                          <a:latin typeface="Arial"/>
                        </a:rPr>
                        <a:t>A calendar entry, not a tool</a:t>
                      </a:r>
                    </a:p>
                  </a:txBody>
                  <a:tcPr marL="73152" marR="73152" marT="45720" marB="45720" anchor="t">
                    <a:solidFill>
                      <a:srgbClr val="151D2E"/>
                    </a:solidFill>
                  </a:tcPr>
                </a:tc>
              </a:tr>
            </a:tbl>
          </a:graphicData>
        </a:graphic>
      </p:graphicFrame>
      <p:sp>
        <p:nvSpPr>
          <p:cNvPr id="9" name="TextBox 8"/>
          <p:cNvSpPr txBox="1"/>
          <p:nvPr/>
        </p:nvSpPr>
        <p:spPr>
          <a:xfrm>
            <a:off x="548640" y="5737768"/>
            <a:ext cx="11094415" cy="507583"/>
          </a:xfrm>
          <a:prstGeom prst="rect">
            <a:avLst/>
          </a:prstGeom>
          <a:noFill/>
        </p:spPr>
        <p:txBody>
          <a:bodyPr wrap="square" lIns="0" rIns="0" tIns="0" bIns="0" anchor="t">
            <a:spAutoFit/>
          </a:bodyPr>
          <a:lstStyle/>
          <a:p>
            <a:pPr algn="l">
              <a:lnSpc>
                <a:spcPct val="115000"/>
              </a:lnSpc>
              <a:spcAft>
                <a:spcPts val="0"/>
              </a:spcAft>
            </a:pPr>
            <a:r>
              <a:rPr b="0" sz="1638" i="0">
                <a:solidFill>
                  <a:srgbClr val="E6ECF7"/>
                </a:solidFill>
                <a:latin typeface="Arial"/>
              </a:rPr>
              <a:t>Every line is a file or a setting, copied to the next repository in minutes and reverted by deleting a line. </a:t>
            </a:r>
            <a:r>
              <a:rPr b="1" sz="1638" i="0">
                <a:solidFill>
                  <a:srgbClr val="E6ECF7"/>
                </a:solidFill>
                <a:latin typeface="Arial"/>
              </a:rPr>
              <a:t>I have not checked which of these are already on in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29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34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34</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