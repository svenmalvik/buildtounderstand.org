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 decision somebody else makes. This chapter is for the developer who agrees with the argument and wants to do something on Monday. Nothing in it needs a platform team, a budget, or a vendor. Every item is a file in the repository or a setting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04 said to tier repositories by what they touch, and never said who does the tiering. A developer with one repository in front of them has to settle it, because the answer decides how strict every step after this one should be: how many reviewers, whether a machine may approve, whether a security review is mandatory. A payment repository and an internal dashboard are not the same bet, even when a change to each looks equally small. Chapter 01 found the regulation asking for exactly this, a policy based on a risk assessment approach, and it never said the assessment had to be elaborate. One sentence in the README, dated, that a new joiner can find, is more than most repositories have today. The date matters because the answer expires: a repository that starts handling customer data has changed tier whether or not anybody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chapter 03's dividing line applied to one repository. Everything mechanically verifiable runs before a person looks at the change. Formatting, linting, the test suite and a static analysis pass go in a workflow file under .github/workflows. Dependency scanning is a dependabot.yml. Secret scanning is a toggle in the repository settings. Google's reason is the one from chapter 03: static analysis exists so that human review can focus on what is not mechanically verifiable. The second step is the one people skip. A check that merely runs is advice. In branch protection or a ruleset, require those status checks by name, require a pull request before merging, and stop direct pushes to the default branch. Then dismiss stale approvals when new commits land. Dismissing stale approvals is the cheapest defence in this whole deck against the third failure, where the record says approved and nobody read the version that shipped.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settled what the whole repository touches. Both decisions here follow from that answer. A CODEOWNERS file requires a named reviewer for the paths that move money or hold customer data, and leaves the rest on the lighter default. That is the risk-based approach the regulation asks for, written as a file rather than a policy nobody reads. It also answers something the approval rule leaves open: not just that someone approved, but that someone who knows this code did. The second decision comes from chapter 02. Whether Copilot's review counts toward this repository's required approvals is a per-repository choice, currently off by default. Write the answer into the README under the same Review rules heading step 1 started, with the reason. The setting has nowhere to hold a reason, and chapter 02 found GitHub's organisation audit log records no event at all when a machine approves, so the README is the only place the decision survives. Both repositories are allowed to answer differently. What neither should do is answer by accident, which is what happens when nobody decides.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author's half of four eyes, in the one place a repository can host it. A pull_request_template.md in the .github folder puts the same questions in front of every pull request. The wording matters more than the existence. Chapter 04 cited a 2026 study of 80.000 pull requests across 156 projects where description elements made largely negligible difference to review outcomes, with one exception: a description that explains the code and asks for a specific kind of feedback. So the template asks for both. A template that only asks for a summary is asking for the thing the study found does not matter. One honest limit: a template is a prompt, not a control. GitHub prefills it and nothing stops someone deleting it. Enforcing it takes a CI check, and an enforced field is exactly where N/A 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one nothing else covers. Every row above it can be in place and still stop working: the checks stay green, the approvals keep arriving, the template keeps getting filled in, and none of that requires anyone to have read the change. What to look for in those ten pull requests: approvals that arrived a minute after opening on changes too long to read in a minute, template sections filled with N/A or the branch name, one person approving everything, code owners approving paths they never otherwise touch. That is Adyen's fix from chapter 02, the one regulated payment company in this deck, whose reviewers said they had started to pattern-match after a dozen near-identical changes. At one-repository scale it is a recurring calendar entry rather than a tool: read a sample of merged pull requests and ask whether the approvals on them meant anything. On leverage and freedom: the workflow file and the template are copied to the next repository in minutes, so the second repository costs a fraction of the first. Each item is reverted by deleting a line, with no vendor to ask. What the list cannot do is the job chapter 01 found underneath all three: decide whether the change is wanted. Days 1 to 3 make that decision cheaper to reach, day 4 gives the decider something to read, and the last row checks that the decision is still being made. None of them makes it. And I owe this argument the check in the last line: I do not know how many of these settings are already on in our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E6ECF7"/>
                </a:solidFill>
                <a:latin typeface="Georgia"/>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29D3E0"/>
                </a:solidFill>
                <a:latin typeface="Georgia"/>
              </a:rPr>
              <a:t>For?</a:t>
            </a:r>
          </a:p>
        </p:txBody>
      </p:sp>
      <p:sp>
        <p:nvSpPr>
          <p:cNvPr id="8" name="Oval 7"/>
          <p:cNvSpPr/>
          <p:nvPr/>
        </p:nvSpPr>
        <p:spPr>
          <a:xfrm>
            <a:off x="9646920" y="4800600"/>
            <a:ext cx="566928" cy="566928"/>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Who lives with the change</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Defects, or understanding</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regulator's pair of eyes</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pull request does three jobs</a:t>
            </a:r>
          </a:p>
        </p:txBody>
      </p:sp>
      <p:sp>
        <p:nvSpPr>
          <p:cNvPr id="19" name="Oval 1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pull request was a request to integrate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a:t>
            </a:r>
          </a:p>
        </p:txBody>
      </p:sp>
      <p:sp>
        <p:nvSpPr>
          <p:cNvPr id="8" name="Rectangle 7"/>
          <p:cNvSpPr/>
          <p:nvPr/>
        </p:nvSpPr>
        <p:spPr>
          <a:xfrm>
            <a:off x="548640" y="2286000"/>
            <a:ext cx="11094415" cy="18288"/>
          </a:xfrm>
          <a:prstGeom prst="rect">
            <a:avLst/>
          </a:prstGeom>
          <a:solidFill>
            <a:srgbClr val="354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Who lives with the change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Why people wanted another person</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Google's reason was different from the start: review exists so that other developers can </a:t>
            </a:r>
            <a:r>
              <a:rPr b="1" sz="1690" i="0">
                <a:solidFill>
                  <a:srgbClr val="E6ECF7"/>
                </a:solidFill>
                <a:latin typeface="Arial"/>
              </a:rPr>
              <a:t>understand</a:t>
            </a:r>
            <a:r>
              <a:rPr b="0" sz="1690" i="0">
                <a:solidFill>
                  <a:srgbClr val="E6ECF7"/>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regulator's pair of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6</a:t>
            </a:r>
          </a:p>
        </p:txBody>
      </p:sp>
      <p:sp>
        <p:nvSpPr>
          <p:cNvPr id="8" name="Rectangle 7"/>
          <p:cNvSpPr/>
          <p:nvPr/>
        </p:nvSpPr>
        <p:spPr>
          <a:xfrm>
            <a:off x="548640" y="2097963"/>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pull request does three jobs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Writing became cheap</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Familiarity replaced reading</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numbers stopped adding up</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Four ways out</a:t>
            </a:r>
          </a:p>
        </p:txBody>
      </p:sp>
      <p:sp>
        <p:nvSpPr>
          <p:cNvPr id="19" name="Rectangle 18"/>
          <p:cNvSpPr/>
          <p:nvPr/>
        </p:nvSpPr>
        <p:spPr>
          <a:xfrm>
            <a:off x="2697480" y="5455411"/>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approval became a setting</a:t>
            </a:r>
          </a:p>
        </p:txBody>
      </p:sp>
      <p:sp>
        <p:nvSpPr>
          <p:cNvPr id="21" name="Oval 20"/>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Writing became cheap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Familiarity replaced reading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30,1% →</a:t>
            </a:r>
          </a:p>
          <a:p>
            <a:pPr algn="l">
              <a:lnSpc>
                <a:spcPct val="110000"/>
              </a:lnSpc>
              <a:spcAft>
                <a:spcPts val="0"/>
              </a:spcAft>
            </a:pPr>
            <a:r>
              <a:rPr b="1" sz="3120" i="0">
                <a:solidFill>
                  <a:srgbClr val="29D3E0"/>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Three failures that look like one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Approved, when nobody read it.</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numbers stopped adding up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Nobody can review everything properly anymore. Most teams have already stopped reviewing some changes. </a:t>
            </a:r>
            <a:r>
              <a:rPr b="1" sz="1690" i="0">
                <a:solidFill>
                  <a:srgbClr val="E6ECF7"/>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Four ways out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approval became a setting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it would cost</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answer: a centralized AI reviewer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Because nobody asked them to.</a:t>
            </a:r>
          </a:p>
        </p:txBody>
      </p:sp>
      <p:sp>
        <p:nvSpPr>
          <p:cNvPr id="20" name="Rectangle 19"/>
          <p:cNvSpPr/>
          <p:nvPr/>
        </p:nvSpPr>
        <p:spPr>
          <a:xfrm>
            <a:off x="548640" y="3842194"/>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it would cost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$43.000 to</a:t>
            </a:r>
          </a:p>
          <a:p>
            <a:pPr algn="l">
              <a:lnSpc>
                <a:spcPct val="110000"/>
              </a:lnSpc>
              <a:spcAft>
                <a:spcPts val="0"/>
              </a:spcAft>
            </a:pPr>
            <a:r>
              <a:rPr b="1" sz="3120" i="0">
                <a:solidFill>
                  <a:srgbClr val="29D3E0"/>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Centralize the machinery, keep the decision local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Atlassian replaced 20 CI/CD servers with one platform and cut lead time from 2 days to 90 minutes. Cloudflare runs one reviewer with per-team config and a logged break-glass. </a:t>
            </a:r>
            <a:r>
              <a:rPr b="1" sz="1690" i="0">
                <a:solidFill>
                  <a:srgbClr val="E6ECF7"/>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author's half of four eyes</a:t>
            </a:r>
          </a:p>
        </p:txBody>
      </p:sp>
      <p:sp>
        <p:nvSpPr>
          <p:cNvPr id="13" name="Oval 12"/>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would try before building a review service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1.  </a:t>
            </a:r>
            <a:r>
              <a:rPr b="1" sz="1625" i="0">
                <a:solidFill>
                  <a:srgbClr val="E6ECF7"/>
                </a:solidFill>
                <a:latin typeface="Arial"/>
              </a:rPr>
              <a:t>Turn on what already exists.</a:t>
            </a:r>
            <a:r>
              <a:rPr b="0" sz="1625" i="0">
                <a:solidFill>
                  <a:srgbClr val="E6ECF7"/>
                </a:solidFill>
                <a:latin typeface="Arial"/>
              </a:rPr>
              <a:t> Required reviews, status checks, secret and dependency scanning. I have not checked what is on today.</a:t>
            </a:r>
          </a:p>
          <a:p>
            <a:pPr>
              <a:lnSpc>
                <a:spcPct val="115000"/>
              </a:lnSpc>
              <a:spcAft>
                <a:spcPts val="400"/>
              </a:spcAft>
            </a:pPr>
            <a:r>
              <a:rPr sz="1625" b="1">
                <a:solidFill>
                  <a:srgbClr val="E8A33D"/>
                </a:solidFill>
                <a:latin typeface="Arial"/>
              </a:rPr>
              <a:t>2.  </a:t>
            </a:r>
            <a:r>
              <a:rPr b="1" sz="1625" i="0">
                <a:solidFill>
                  <a:srgbClr val="E6ECF7"/>
                </a:solidFill>
                <a:latin typeface="Arial"/>
              </a:rPr>
              <a:t>Tier repositories by what they touch.</a:t>
            </a:r>
            <a:r>
              <a:rPr b="0" sz="1625" i="0">
                <a:solidFill>
                  <a:srgbClr val="E6ECF7"/>
                </a:solidFill>
                <a:latin typeface="Arial"/>
              </a:rPr>
              <a:t> More from the ones that move money, less from the internal chatbot.</a:t>
            </a:r>
          </a:p>
          <a:p>
            <a:pPr>
              <a:lnSpc>
                <a:spcPct val="115000"/>
              </a:lnSpc>
              <a:spcAft>
                <a:spcPts val="400"/>
              </a:spcAft>
            </a:pPr>
            <a:r>
              <a:rPr sz="1625" b="1">
                <a:solidFill>
                  <a:srgbClr val="E8A33D"/>
                </a:solidFill>
                <a:latin typeface="Arial"/>
              </a:rPr>
              <a:t>3.  </a:t>
            </a:r>
            <a:r>
              <a:rPr b="1" sz="1625" i="0">
                <a:solidFill>
                  <a:srgbClr val="E6ECF7"/>
                </a:solidFill>
                <a:latin typeface="Arial"/>
              </a:rPr>
              <a:t>Centralize the machinery.</a:t>
            </a:r>
            <a:r>
              <a:rPr b="0" sz="1625" i="0">
                <a:solidFill>
                  <a:srgbClr val="E6ECF7"/>
                </a:solidFill>
                <a:latin typeface="Arial"/>
              </a:rPr>
              <a:t> Formatters, linters, scanners, once for the company.</a:t>
            </a:r>
          </a:p>
          <a:p>
            <a:pPr>
              <a:lnSpc>
                <a:spcPct val="115000"/>
              </a:lnSpc>
              <a:spcAft>
                <a:spcPts val="400"/>
              </a:spcAft>
            </a:pPr>
            <a:r>
              <a:rPr sz="1625" b="1">
                <a:solidFill>
                  <a:srgbClr val="E8A33D"/>
                </a:solidFill>
                <a:latin typeface="Arial"/>
              </a:rPr>
              <a:t>4.  </a:t>
            </a:r>
            <a:r>
              <a:rPr b="1" sz="1625" i="0">
                <a:solidFill>
                  <a:srgbClr val="E6ECF7"/>
                </a:solidFill>
                <a:latin typeface="Arial"/>
              </a:rPr>
              <a:t>Pair models across vendors.</a:t>
            </a:r>
            <a:r>
              <a:rPr b="0" sz="1625" i="0">
                <a:solidFill>
                  <a:srgbClr val="E6ECF7"/>
                </a:solidFill>
                <a:latin typeface="Arial"/>
              </a:rPr>
              <a:t> A different model family reviews what the first one wrote.</a:t>
            </a:r>
          </a:p>
          <a:p>
            <a:pPr>
              <a:lnSpc>
                <a:spcPct val="115000"/>
              </a:lnSpc>
              <a:spcAft>
                <a:spcPts val="400"/>
              </a:spcAft>
            </a:pPr>
            <a:r>
              <a:rPr sz="1625" b="1">
                <a:solidFill>
                  <a:srgbClr val="E8A33D"/>
                </a:solidFill>
                <a:latin typeface="Arial"/>
              </a:rPr>
              <a:t>5.  </a:t>
            </a:r>
            <a:r>
              <a:rPr b="1" sz="1625" i="0">
                <a:solidFill>
                  <a:srgbClr val="E6ECF7"/>
                </a:solidFill>
                <a:latin typeface="Arial"/>
              </a:rPr>
              <a:t>The author's half of four eyes.</a:t>
            </a:r>
            <a:r>
              <a:rPr b="0" sz="1625" i="0">
                <a:solidFill>
                  <a:srgbClr val="E6ECF7"/>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author's half of four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E6ECF7"/>
                </a:solidFill>
                <a:latin typeface="Arial"/>
              </a:rPr>
              <a:t>Status:</a:t>
            </a:r>
            <a:r>
              <a:rPr b="0" sz="1690" i="0">
                <a:solidFill>
                  <a:srgbClr val="E6ECF7"/>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05</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do in one repository?</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Chapter 04 was the order for the company. This is the same order in one repository, with the file each step lives in.</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First, decide what this repository touches</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Make the mechanical checks unskippable</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Two decisions that follow from the tier</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Ask the author for what no check can see</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first week</a:t>
            </a:r>
          </a:p>
        </p:txBody>
      </p:sp>
      <p:sp>
        <p:nvSpPr>
          <p:cNvPr id="19" name="Oval 1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23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First, decide what this repository touches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23</a:t>
            </a:r>
          </a:p>
        </p:txBody>
      </p:sp>
      <p:sp>
        <p:nvSpPr>
          <p:cNvPr id="8" name="TextBox 7"/>
          <p:cNvSpPr txBox="1"/>
          <p:nvPr/>
        </p:nvSpPr>
        <p:spPr>
          <a:xfrm>
            <a:off x="548640" y="1780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Chapter 04 tiered repositories and never said who does the tiering. This repository has to answer for itself, because the answer sets how strict everything after it should be.</a:t>
            </a:r>
          </a:p>
        </p:txBody>
      </p:sp>
      <p:sp>
        <p:nvSpPr>
          <p:cNvPr id="9" name="TextBox 8"/>
          <p:cNvSpPr txBox="1"/>
          <p:nvPr/>
        </p:nvSpPr>
        <p:spPr>
          <a:xfrm>
            <a:off x="548640" y="2825100"/>
            <a:ext cx="11094415" cy="1389856"/>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  </a:t>
            </a:r>
            <a:r>
              <a:rPr b="0" sz="1625" i="0">
                <a:solidFill>
                  <a:srgbClr val="E6ECF7"/>
                </a:solidFill>
                <a:latin typeface="Arial"/>
              </a:rPr>
              <a:t>Does it move money, hold customer data, or neither?</a:t>
            </a:r>
          </a:p>
          <a:p>
            <a:pPr>
              <a:lnSpc>
                <a:spcPct val="115000"/>
              </a:lnSpc>
              <a:spcAft>
                <a:spcPts val="400"/>
              </a:spcAft>
            </a:pPr>
            <a:r>
              <a:rPr sz="1625" b="1">
                <a:solidFill>
                  <a:srgbClr val="E8A33D"/>
                </a:solidFill>
                <a:latin typeface="Arial"/>
              </a:rPr>
              <a:t>—  </a:t>
            </a:r>
            <a:r>
              <a:rPr b="0" sz="1625" i="0">
                <a:solidFill>
                  <a:srgbClr val="E6ECF7"/>
                </a:solidFill>
                <a:latin typeface="Arial"/>
              </a:rPr>
              <a:t>Write the answer in the README, under a short "Review rules" heading</a:t>
            </a:r>
          </a:p>
          <a:p>
            <a:pPr>
              <a:lnSpc>
                <a:spcPct val="115000"/>
              </a:lnSpc>
              <a:spcAft>
                <a:spcPts val="400"/>
              </a:spcAft>
            </a:pPr>
            <a:r>
              <a:rPr sz="1625" b="1">
                <a:solidFill>
                  <a:srgbClr val="E8A33D"/>
                </a:solidFill>
                <a:latin typeface="Arial"/>
              </a:rPr>
              <a:t>—  </a:t>
            </a:r>
            <a:r>
              <a:rPr b="0" sz="1625" i="0">
                <a:solidFill>
                  <a:srgbClr val="E6ECF7"/>
                </a:solidFill>
                <a:latin typeface="Arial"/>
              </a:rPr>
              <a:t>Say what follows: how many reviewers, whether a machine may approve, whether a security review is mandatory</a:t>
            </a:r>
          </a:p>
          <a:p>
            <a:pPr>
              <a:lnSpc>
                <a:spcPct val="115000"/>
              </a:lnSpc>
              <a:spcAft>
                <a:spcPts val="400"/>
              </a:spcAft>
            </a:pPr>
            <a:r>
              <a:rPr sz="1625" b="1">
                <a:solidFill>
                  <a:srgbClr val="E8A33D"/>
                </a:solidFill>
                <a:latin typeface="Arial"/>
              </a:rPr>
              <a:t>—  </a:t>
            </a:r>
            <a:r>
              <a:rPr b="0" sz="1625" i="0">
                <a:solidFill>
                  <a:srgbClr val="E6ECF7"/>
                </a:solidFill>
                <a:latin typeface="Arial"/>
              </a:rPr>
              <a:t>Revisit it when the repository starts touching something new</a:t>
            </a:r>
          </a:p>
        </p:txBody>
      </p:sp>
      <p:sp>
        <p:nvSpPr>
          <p:cNvPr id="10" name="Rectangle 9"/>
          <p:cNvSpPr/>
          <p:nvPr/>
        </p:nvSpPr>
        <p:spPr>
          <a:xfrm>
            <a:off x="548640" y="4699588"/>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79102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One sentence in the README that a new joiner can find is more than most repositories have today.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24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Make the mechanical checks unskippable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24</a:t>
            </a:r>
          </a:p>
        </p:txBody>
      </p:sp>
      <p:sp>
        <p:nvSpPr>
          <p:cNvPr id="8" name="Rounded Rectangle 7"/>
          <p:cNvSpPr/>
          <p:nvPr/>
        </p:nvSpPr>
        <p:spPr>
          <a:xfrm>
            <a:off x="548640"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Run the checks</a:t>
            </a:r>
          </a:p>
        </p:txBody>
      </p:sp>
      <p:sp>
        <p:nvSpPr>
          <p:cNvPr id="11" name="TextBox 10"/>
          <p:cNvSpPr txBox="1"/>
          <p:nvPr/>
        </p:nvSpPr>
        <p:spPr>
          <a:xfrm>
            <a:off x="749808"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 lint, test and static analysis in a workflow file. Dependency and secret scanning switched on.</a:t>
            </a:r>
          </a:p>
        </p:txBody>
      </p:sp>
      <p:sp>
        <p:nvSpPr>
          <p:cNvPr id="12" name="Rounded Rectangle 11"/>
          <p:cNvSpPr/>
          <p:nvPr/>
        </p:nvSpPr>
        <p:spPr>
          <a:xfrm>
            <a:off x="4307738"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Require the checks</a:t>
            </a:r>
          </a:p>
        </p:txBody>
      </p:sp>
      <p:sp>
        <p:nvSpPr>
          <p:cNvPr id="15" name="TextBox 14"/>
          <p:cNvSpPr txBox="1"/>
          <p:nvPr/>
        </p:nvSpPr>
        <p:spPr>
          <a:xfrm>
            <a:off x="4508906"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Require each check by name. Require a pull request. Stop direct pushes to the default branch.</a:t>
            </a:r>
          </a:p>
        </p:txBody>
      </p:sp>
      <p:sp>
        <p:nvSpPr>
          <p:cNvPr id="16" name="Rounded Rectangle 15"/>
          <p:cNvSpPr/>
          <p:nvPr/>
        </p:nvSpPr>
        <p:spPr>
          <a:xfrm>
            <a:off x="8066836"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Keep approvals current</a:t>
            </a:r>
          </a:p>
        </p:txBody>
      </p:sp>
      <p:sp>
        <p:nvSpPr>
          <p:cNvPr id="19" name="TextBox 18"/>
          <p:cNvSpPr txBox="1"/>
          <p:nvPr/>
        </p:nvSpPr>
        <p:spPr>
          <a:xfrm>
            <a:off x="8268004"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Dismiss stale approvals when new commits land, so the approval refers to the code that actually merges.</a:t>
            </a:r>
          </a:p>
        </p:txBody>
      </p:sp>
      <p:sp>
        <p:nvSpPr>
          <p:cNvPr id="20" name="Rectangle 19"/>
          <p:cNvSpPr/>
          <p:nvPr/>
        </p:nvSpPr>
        <p:spPr>
          <a:xfrm>
            <a:off x="548640" y="4296219"/>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87659"/>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check that runs is a suggestion. A check that blocks a merge is a control.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25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Two decisions that follow from the tier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25</a:t>
            </a:r>
          </a:p>
        </p:txBody>
      </p:sp>
      <p:sp>
        <p:nvSpPr>
          <p:cNvPr id="8" name="Rounded Rectangle 7"/>
          <p:cNvSpPr/>
          <p:nvPr/>
        </p:nvSpPr>
        <p:spPr>
          <a:xfrm>
            <a:off x="548640"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0769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Who reviews the paths that carry risk</a:t>
            </a:r>
          </a:p>
        </p:txBody>
      </p:sp>
      <p:sp>
        <p:nvSpPr>
          <p:cNvPr id="11" name="TextBox 10"/>
          <p:cNvSpPr txBox="1"/>
          <p:nvPr/>
        </p:nvSpPr>
        <p:spPr>
          <a:xfrm>
            <a:off x="749808"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CODEOWNERS file requires a named reviewer for the code that moves money or touches customer data. The rest of the repository stays on the lighter default.</a:t>
            </a:r>
          </a:p>
        </p:txBody>
      </p:sp>
      <p:sp>
        <p:nvSpPr>
          <p:cNvPr id="12" name="Rounded Rectangle 11"/>
          <p:cNvSpPr/>
          <p:nvPr/>
        </p:nvSpPr>
        <p:spPr>
          <a:xfrm>
            <a:off x="6187287"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0769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Whether a machine may approve here</a:t>
            </a:r>
          </a:p>
        </p:txBody>
      </p:sp>
      <p:sp>
        <p:nvSpPr>
          <p:cNvPr id="15" name="TextBox 14"/>
          <p:cNvSpPr txBox="1"/>
          <p:nvPr/>
        </p:nvSpPr>
        <p:spPr>
          <a:xfrm>
            <a:off x="6388455"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Off by default today. A payment repository and an internal dashboard may answer differently. Neither should answer by accident.</a:t>
            </a:r>
          </a:p>
        </p:txBody>
      </p:sp>
      <p:sp>
        <p:nvSpPr>
          <p:cNvPr id="16" name="Rectangle 15"/>
          <p:cNvSpPr/>
          <p:nvPr/>
        </p:nvSpPr>
        <p:spPr>
          <a:xfrm>
            <a:off x="548640" y="4064050"/>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55490"/>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Write it in the README next to the tier, with the reason. The setting has nowhere to hold one, and nothing logs a machine approval.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26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Ask the author for what no check can see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26</a:t>
            </a:r>
          </a:p>
        </p:txBody>
      </p:sp>
      <p:sp>
        <p:nvSpPr>
          <p:cNvPr id="8" name="TextBox 7"/>
          <p:cNvSpPr txBox="1"/>
          <p:nvPr/>
        </p:nvSpPr>
        <p:spPr>
          <a:xfrm>
            <a:off x="548640" y="1946588"/>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One pull request template. The same questions in front of every change.</a:t>
            </a:r>
          </a:p>
        </p:txBody>
      </p:sp>
      <p:sp>
        <p:nvSpPr>
          <p:cNvPr id="9" name="TextBox 8"/>
          <p:cNvSpPr txBox="1"/>
          <p:nvPr/>
        </p:nvSpPr>
        <p:spPr>
          <a:xfrm>
            <a:off x="548640" y="2729644"/>
            <a:ext cx="11094415" cy="1152524"/>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  </a:t>
            </a:r>
            <a:r>
              <a:rPr b="0" sz="1625" i="0">
                <a:solidFill>
                  <a:srgbClr val="E6ECF7"/>
                </a:solidFill>
                <a:latin typeface="Arial"/>
              </a:rPr>
              <a:t>What changed, and why it belongs here</a:t>
            </a:r>
          </a:p>
          <a:p>
            <a:pPr>
              <a:lnSpc>
                <a:spcPct val="115000"/>
              </a:lnSpc>
              <a:spcAft>
                <a:spcPts val="400"/>
              </a:spcAft>
            </a:pPr>
            <a:r>
              <a:rPr sz="1625" b="1">
                <a:solidFill>
                  <a:srgbClr val="E8A33D"/>
                </a:solidFill>
                <a:latin typeface="Arial"/>
              </a:rPr>
              <a:t>—  </a:t>
            </a:r>
            <a:r>
              <a:rPr b="0" sz="1625" i="0">
                <a:solidFill>
                  <a:srgbClr val="E6ECF7"/>
                </a:solidFill>
                <a:latin typeface="Arial"/>
              </a:rPr>
              <a:t>What you want looked at, specifically</a:t>
            </a:r>
          </a:p>
          <a:p>
            <a:pPr>
              <a:lnSpc>
                <a:spcPct val="115000"/>
              </a:lnSpc>
              <a:spcAft>
                <a:spcPts val="400"/>
              </a:spcAft>
            </a:pPr>
            <a:r>
              <a:rPr sz="1625" b="1">
                <a:solidFill>
                  <a:srgbClr val="E8A33D"/>
                </a:solidFill>
                <a:latin typeface="Arial"/>
              </a:rPr>
              <a:t>—  </a:t>
            </a:r>
            <a:r>
              <a:rPr b="0" sz="1625" i="0">
                <a:solidFill>
                  <a:srgbClr val="E6ECF7"/>
                </a:solidFill>
                <a:latin typeface="Arial"/>
              </a:rPr>
              <a:t>How to undo it</a:t>
            </a:r>
          </a:p>
          <a:p>
            <a:pPr>
              <a:lnSpc>
                <a:spcPct val="115000"/>
              </a:lnSpc>
              <a:spcAft>
                <a:spcPts val="400"/>
              </a:spcAft>
            </a:pPr>
            <a:r>
              <a:rPr sz="1625" b="1">
                <a:solidFill>
                  <a:srgbClr val="E8A33D"/>
                </a:solidFill>
                <a:latin typeface="Arial"/>
              </a:rPr>
              <a:t>—  </a:t>
            </a:r>
            <a:r>
              <a:rPr b="0" sz="1625" i="0">
                <a:solidFill>
                  <a:srgbClr val="E6ECF7"/>
                </a:solidFill>
                <a:latin typeface="Arial"/>
              </a:rPr>
              <a:t>Which parts an agent wrote</a:t>
            </a:r>
          </a:p>
        </p:txBody>
      </p:sp>
      <p:sp>
        <p:nvSpPr>
          <p:cNvPr id="10" name="Rectangle 9"/>
          <p:cNvSpPr/>
          <p:nvPr/>
        </p:nvSpPr>
        <p:spPr>
          <a:xfrm>
            <a:off x="548640" y="4366801"/>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458241"/>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Across 80.000 pull requests, descriptions rarely changed the review. The exception was one that explains the code and asks for a specific kind of feedback. So ask for both.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27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first week</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27</a:t>
            </a:r>
          </a:p>
        </p:txBody>
      </p:sp>
      <p:graphicFrame>
        <p:nvGraphicFramePr>
          <p:cNvPr id="8" name="Table 7"/>
          <p:cNvGraphicFramePr>
            <a:graphicFrameLocks noGrp="1"/>
          </p:cNvGraphicFramePr>
          <p:nvPr/>
        </p:nvGraphicFramePr>
        <p:xfrm>
          <a:off x="548640" y="1371600"/>
          <a:ext cx="11094414" cy="3941064"/>
        </p:xfrm>
        <a:graphic>
          <a:graphicData uri="http://schemas.openxmlformats.org/drawingml/2006/table">
            <a:tbl>
              <a:tblPr firstRow="0" bandRow="0">
                <a:tableStyleId>{5C22544A-7EE6-4342-B048-85BDC9FD1C3A}</a:tableStyleId>
              </a:tblPr>
              <a:tblGrid>
                <a:gridCol w="1877516"/>
                <a:gridCol w="5547207"/>
                <a:gridCol w="3669691"/>
              </a:tblGrid>
              <a:tr h="347472">
                <a:tc>
                  <a:txBody>
                    <a:bodyPr wrap="square"/>
                    <a:lstStyle/>
                    <a:p>
                      <a:pPr>
                        <a:lnSpc>
                          <a:spcPct val="110000"/>
                        </a:lnSpc>
                      </a:pPr>
                      <a:r>
                        <a:rPr b="1" sz="1260" i="0">
                          <a:solidFill>
                            <a:srgbClr val="E6ECF7"/>
                          </a:solidFill>
                          <a:latin typeface="Arial"/>
                        </a:rPr>
                        <a:t>When</a:t>
                      </a:r>
                    </a:p>
                  </a:txBody>
                  <a:tcPr marL="73152" marR="73152" marT="45720" marB="45720" anchor="t">
                    <a:solidFill>
                      <a:srgbClr val="1C2740"/>
                    </a:solidFill>
                  </a:tcPr>
                </a:tc>
                <a:tc>
                  <a:txBody>
                    <a:bodyPr wrap="square"/>
                    <a:lstStyle/>
                    <a:p>
                      <a:pPr>
                        <a:lnSpc>
                          <a:spcPct val="110000"/>
                        </a:lnSpc>
                      </a:pPr>
                      <a:r>
                        <a:rPr b="1" sz="1260" i="0">
                          <a:solidFill>
                            <a:srgbClr val="E6ECF7"/>
                          </a:solidFill>
                          <a:latin typeface="Arial"/>
                        </a:rPr>
                        <a:t>Do</a:t>
                      </a:r>
                    </a:p>
                  </a:txBody>
                  <a:tcPr marL="73152" marR="73152" marT="45720" marB="45720" anchor="t">
                    <a:solidFill>
                      <a:srgbClr val="1C2740"/>
                    </a:solidFill>
                  </a:tcPr>
                </a:tc>
                <a:tc>
                  <a:txBody>
                    <a:bodyPr wrap="square"/>
                    <a:lstStyle/>
                    <a:p>
                      <a:pPr>
                        <a:lnSpc>
                          <a:spcPct val="110000"/>
                        </a:lnSpc>
                      </a:pPr>
                      <a:r>
                        <a:rPr b="1" sz="1260" i="0">
                          <a:solidFill>
                            <a:srgbClr val="E6ECF7"/>
                          </a:solidFill>
                          <a:latin typeface="Arial"/>
                        </a:rPr>
                        <a:t>Where it lives</a:t>
                      </a:r>
                    </a:p>
                  </a:txBody>
                  <a:tcPr marL="73152" marR="73152" marT="45720" marB="45720" anchor="t">
                    <a:solidFill>
                      <a:srgbClr val="1C2740"/>
                    </a:solidFill>
                  </a:tcPr>
                </a:tc>
              </a:tr>
              <a:tr h="548640">
                <a:tc>
                  <a:txBody>
                    <a:bodyPr wrap="square"/>
                    <a:lstStyle/>
                    <a:p>
                      <a:pPr>
                        <a:lnSpc>
                          <a:spcPct val="110000"/>
                        </a:lnSpc>
                      </a:pPr>
                      <a:r>
                        <a:rPr b="1" sz="1260" i="0">
                          <a:solidFill>
                            <a:srgbClr val="E6ECF7"/>
                          </a:solidFill>
                          <a:latin typeface="Arial"/>
                        </a:rPr>
                        <a:t>Day 1</a:t>
                      </a:r>
                    </a:p>
                  </a:txBody>
                  <a:tcPr marL="73152" marR="73152" marT="45720" marB="45720" anchor="t">
                    <a:solidFill>
                      <a:srgbClr val="151D2E"/>
                    </a:solidFill>
                  </a:tcPr>
                </a:tc>
                <a:tc>
                  <a:txBody>
                    <a:bodyPr wrap="square"/>
                    <a:lstStyle/>
                    <a:p>
                      <a:pPr>
                        <a:lnSpc>
                          <a:spcPct val="110000"/>
                        </a:lnSpc>
                      </a:pPr>
                      <a:r>
                        <a:rPr b="0" sz="1260" i="0">
                          <a:solidFill>
                            <a:srgbClr val="E6ECF7"/>
                          </a:solidFill>
                          <a:latin typeface="Arial"/>
                        </a:rPr>
                        <a:t>Write down what this repository touches, and what follows from it</a:t>
                      </a:r>
                    </a:p>
                  </a:txBody>
                  <a:tcPr marL="73152" marR="73152" marT="45720" marB="45720" anchor="t">
                    <a:solidFill>
                      <a:srgbClr val="151D2E"/>
                    </a:solidFill>
                  </a:tcPr>
                </a:tc>
                <a:tc>
                  <a:txBody>
                    <a:bodyPr wrap="square"/>
                    <a:lstStyle/>
                    <a:p>
                      <a:pPr>
                        <a:lnSpc>
                          <a:spcPct val="110000"/>
                        </a:lnSpc>
                      </a:pPr>
                      <a:r>
                        <a:rPr b="0" sz="1260" i="0">
                          <a:solidFill>
                            <a:srgbClr val="E6ECF7"/>
                          </a:solidFill>
                          <a:latin typeface="Arial"/>
                        </a:rPr>
                        <a:t>README, under "Review rules"</a:t>
                      </a:r>
                    </a:p>
                  </a:txBody>
                  <a:tcPr marL="73152" marR="73152" marT="45720" marB="45720" anchor="t">
                    <a:solidFill>
                      <a:srgbClr val="151D2E"/>
                    </a:solidFill>
                  </a:tcPr>
                </a:tc>
              </a:tr>
              <a:tr h="356616">
                <a:tc>
                  <a:txBody>
                    <a:bodyPr wrap="square"/>
                    <a:lstStyle/>
                    <a:p>
                      <a:pPr>
                        <a:lnSpc>
                          <a:spcPct val="110000"/>
                        </a:lnSpc>
                      </a:pPr>
                      <a:r>
                        <a:rPr b="1" sz="1260" i="0">
                          <a:solidFill>
                            <a:srgbClr val="E6ECF7"/>
                          </a:solidFill>
                          <a:latin typeface="Arial"/>
                        </a:rPr>
                        <a:t>Day 1</a:t>
                      </a:r>
                    </a:p>
                  </a:txBody>
                  <a:tcPr marL="73152" marR="73152" marT="45720" marB="45720" anchor="t">
                    <a:solidFill>
                      <a:srgbClr val="121A2A"/>
                    </a:solidFill>
                  </a:tcPr>
                </a:tc>
                <a:tc>
                  <a:txBody>
                    <a:bodyPr wrap="square"/>
                    <a:lstStyle/>
                    <a:p>
                      <a:pPr>
                        <a:lnSpc>
                          <a:spcPct val="110000"/>
                        </a:lnSpc>
                      </a:pPr>
                      <a:r>
                        <a:rPr b="0" sz="1260" i="0">
                          <a:solidFill>
                            <a:srgbClr val="E6ECF7"/>
                          </a:solidFill>
                          <a:latin typeface="Arial"/>
                        </a:rPr>
                        <a:t>Format, lint, test, static analysis on every change</a:t>
                      </a:r>
                    </a:p>
                  </a:txBody>
                  <a:tcPr marL="73152" marR="73152" marT="45720" marB="45720" anchor="t">
                    <a:solidFill>
                      <a:srgbClr val="121A2A"/>
                    </a:solidFill>
                  </a:tcPr>
                </a:tc>
                <a:tc>
                  <a:txBody>
                    <a:bodyPr wrap="square"/>
                    <a:lstStyle/>
                    <a:p>
                      <a:pPr>
                        <a:lnSpc>
                          <a:spcPct val="110000"/>
                        </a:lnSpc>
                      </a:pPr>
                      <a:r>
                        <a:rPr b="0" sz="1260" i="0">
                          <a:solidFill>
                            <a:srgbClr val="E6ECF7"/>
                          </a:solidFill>
                          <a:latin typeface="Arial"/>
                        </a:rPr>
                        <a:t>.github/workflows/</a:t>
                      </a:r>
                    </a:p>
                  </a:txBody>
                  <a:tcPr marL="73152" marR="73152" marT="45720" marB="45720" anchor="t">
                    <a:solidFill>
                      <a:srgbClr val="121A2A"/>
                    </a:solidFill>
                  </a:tcPr>
                </a:tc>
              </a:tr>
              <a:tr h="548640">
                <a:tc>
                  <a:txBody>
                    <a:bodyPr wrap="square"/>
                    <a:lstStyle/>
                    <a:p>
                      <a:pPr>
                        <a:lnSpc>
                          <a:spcPct val="110000"/>
                        </a:lnSpc>
                      </a:pPr>
                      <a:r>
                        <a:rPr b="1" sz="1260" i="0">
                          <a:solidFill>
                            <a:srgbClr val="E6ECF7"/>
                          </a:solidFill>
                          <a:latin typeface="Arial"/>
                        </a:rPr>
                        <a:t>Day 1</a:t>
                      </a:r>
                    </a:p>
                  </a:txBody>
                  <a:tcPr marL="73152" marR="73152" marT="45720" marB="45720" anchor="t">
                    <a:solidFill>
                      <a:srgbClr val="151D2E"/>
                    </a:solidFill>
                  </a:tcPr>
                </a:tc>
                <a:tc>
                  <a:txBody>
                    <a:bodyPr wrap="square"/>
                    <a:lstStyle/>
                    <a:p>
                      <a:pPr>
                        <a:lnSpc>
                          <a:spcPct val="110000"/>
                        </a:lnSpc>
                      </a:pPr>
                      <a:r>
                        <a:rPr b="0" sz="1260" i="0">
                          <a:solidFill>
                            <a:srgbClr val="E6ECF7"/>
                          </a:solidFill>
                          <a:latin typeface="Arial"/>
                        </a:rPr>
                        <a:t>Dependency and secret scanning</a:t>
                      </a:r>
                    </a:p>
                  </a:txBody>
                  <a:tcPr marL="73152" marR="73152" marT="45720" marB="45720" anchor="t">
                    <a:solidFill>
                      <a:srgbClr val="151D2E"/>
                    </a:solidFill>
                  </a:tcPr>
                </a:tc>
                <a:tc>
                  <a:txBody>
                    <a:bodyPr wrap="square"/>
                    <a:lstStyle/>
                    <a:p>
                      <a:pPr>
                        <a:lnSpc>
                          <a:spcPct val="110000"/>
                        </a:lnSpc>
                      </a:pPr>
                      <a:r>
                        <a:rPr b="0" sz="1260" i="0">
                          <a:solidFill>
                            <a:srgbClr val="E6ECF7"/>
                          </a:solidFill>
                          <a:latin typeface="Arial"/>
                        </a:rPr>
                        <a:t>.github/dependabot.yml, repository settings</a:t>
                      </a:r>
                    </a:p>
                  </a:txBody>
                  <a:tcPr marL="73152" marR="73152" marT="45720" marB="45720" anchor="t">
                    <a:solidFill>
                      <a:srgbClr val="151D2E"/>
                    </a:solidFill>
                  </a:tcPr>
                </a:tc>
              </a:tr>
              <a:tr h="356616">
                <a:tc>
                  <a:txBody>
                    <a:bodyPr wrap="square"/>
                    <a:lstStyle/>
                    <a:p>
                      <a:pPr>
                        <a:lnSpc>
                          <a:spcPct val="110000"/>
                        </a:lnSpc>
                      </a:pPr>
                      <a:r>
                        <a:rPr b="1" sz="1260" i="0">
                          <a:solidFill>
                            <a:srgbClr val="E6ECF7"/>
                          </a:solidFill>
                          <a:latin typeface="Arial"/>
                        </a:rPr>
                        <a:t>Day 2</a:t>
                      </a:r>
                    </a:p>
                  </a:txBody>
                  <a:tcPr marL="73152" marR="73152" marT="45720" marB="45720" anchor="t">
                    <a:solidFill>
                      <a:srgbClr val="121A2A"/>
                    </a:solidFill>
                  </a:tcPr>
                </a:tc>
                <a:tc>
                  <a:txBody>
                    <a:bodyPr wrap="square"/>
                    <a:lstStyle/>
                    <a:p>
                      <a:pPr>
                        <a:lnSpc>
                          <a:spcPct val="110000"/>
                        </a:lnSpc>
                      </a:pPr>
                      <a:r>
                        <a:rPr b="0" sz="1260" i="0">
                          <a:solidFill>
                            <a:srgbClr val="E6ECF7"/>
                          </a:solidFill>
                          <a:latin typeface="Arial"/>
                        </a:rPr>
                        <a:t>Require those checks, require a pull request, stop direct pushes</a:t>
                      </a:r>
                    </a:p>
                  </a:txBody>
                  <a:tcPr marL="73152" marR="73152" marT="45720" marB="45720" anchor="t">
                    <a:solidFill>
                      <a:srgbClr val="121A2A"/>
                    </a:solidFill>
                  </a:tcPr>
                </a:tc>
                <a:tc>
                  <a:txBody>
                    <a:bodyPr wrap="square"/>
                    <a:lstStyle/>
                    <a:p>
                      <a:pPr>
                        <a:lnSpc>
                          <a:spcPct val="110000"/>
                        </a:lnSpc>
                      </a:pPr>
                      <a:r>
                        <a:rPr b="0" sz="1260" i="0">
                          <a:solidFill>
                            <a:srgbClr val="E6ECF7"/>
                          </a:solidFill>
                          <a:latin typeface="Arial"/>
                        </a:rPr>
                        <a:t>Branch protection, or a ruleset</a:t>
                      </a:r>
                    </a:p>
                  </a:txBody>
                  <a:tcPr marL="73152" marR="73152" marT="45720" marB="45720" anchor="t">
                    <a:solidFill>
                      <a:srgbClr val="121A2A"/>
                    </a:solidFill>
                  </a:tcPr>
                </a:tc>
              </a:tr>
              <a:tr h="356616">
                <a:tc>
                  <a:txBody>
                    <a:bodyPr wrap="square"/>
                    <a:lstStyle/>
                    <a:p>
                      <a:pPr>
                        <a:lnSpc>
                          <a:spcPct val="110000"/>
                        </a:lnSpc>
                      </a:pPr>
                      <a:r>
                        <a:rPr b="1" sz="1260" i="0">
                          <a:solidFill>
                            <a:srgbClr val="E6ECF7"/>
                          </a:solidFill>
                          <a:latin typeface="Arial"/>
                        </a:rPr>
                        <a:t>Day 2</a:t>
                      </a:r>
                    </a:p>
                  </a:txBody>
                  <a:tcPr marL="73152" marR="73152" marT="45720" marB="45720" anchor="t">
                    <a:solidFill>
                      <a:srgbClr val="151D2E"/>
                    </a:solidFill>
                  </a:tcPr>
                </a:tc>
                <a:tc>
                  <a:txBody>
                    <a:bodyPr wrap="square"/>
                    <a:lstStyle/>
                    <a:p>
                      <a:pPr>
                        <a:lnSpc>
                          <a:spcPct val="110000"/>
                        </a:lnSpc>
                      </a:pPr>
                      <a:r>
                        <a:rPr b="0" sz="1260" i="0">
                          <a:solidFill>
                            <a:srgbClr val="E6ECF7"/>
                          </a:solidFill>
                          <a:latin typeface="Arial"/>
                        </a:rPr>
                        <a:t>Dismiss stale approvals when new commits land</a:t>
                      </a:r>
                    </a:p>
                  </a:txBody>
                  <a:tcPr marL="73152" marR="73152" marT="45720" marB="45720" anchor="t">
                    <a:solidFill>
                      <a:srgbClr val="151D2E"/>
                    </a:solidFill>
                  </a:tcPr>
                </a:tc>
                <a:tc>
                  <a:txBody>
                    <a:bodyPr wrap="square"/>
                    <a:lstStyle/>
                    <a:p>
                      <a:pPr>
                        <a:lnSpc>
                          <a:spcPct val="110000"/>
                        </a:lnSpc>
                      </a:pPr>
                      <a:r>
                        <a:rPr b="0" sz="1260" i="0">
                          <a:solidFill>
                            <a:srgbClr val="E6ECF7"/>
                          </a:solidFill>
                          <a:latin typeface="Arial"/>
                        </a:rPr>
                        <a:t>The same place</a:t>
                      </a:r>
                    </a:p>
                  </a:txBody>
                  <a:tcPr marL="73152" marR="73152" marT="45720" marB="45720" anchor="t">
                    <a:solidFill>
                      <a:srgbClr val="151D2E"/>
                    </a:solidFill>
                  </a:tcPr>
                </a:tc>
              </a:tr>
              <a:tr h="356616">
                <a:tc>
                  <a:txBody>
                    <a:bodyPr wrap="square"/>
                    <a:lstStyle/>
                    <a:p>
                      <a:pPr>
                        <a:lnSpc>
                          <a:spcPct val="110000"/>
                        </a:lnSpc>
                      </a:pPr>
                      <a:r>
                        <a:rPr b="1" sz="1260" i="0">
                          <a:solidFill>
                            <a:srgbClr val="E6ECF7"/>
                          </a:solidFill>
                          <a:latin typeface="Arial"/>
                        </a:rPr>
                        <a:t>Day 3</a:t>
                      </a:r>
                    </a:p>
                  </a:txBody>
                  <a:tcPr marL="73152" marR="73152" marT="45720" marB="45720" anchor="t">
                    <a:solidFill>
                      <a:srgbClr val="121A2A"/>
                    </a:solidFill>
                  </a:tcPr>
                </a:tc>
                <a:tc>
                  <a:txBody>
                    <a:bodyPr wrap="square"/>
                    <a:lstStyle/>
                    <a:p>
                      <a:pPr>
                        <a:lnSpc>
                          <a:spcPct val="110000"/>
                        </a:lnSpc>
                      </a:pPr>
                      <a:r>
                        <a:rPr b="0" sz="1260" i="0">
                          <a:solidFill>
                            <a:srgbClr val="E6ECF7"/>
                          </a:solidFill>
                          <a:latin typeface="Arial"/>
                        </a:rPr>
                        <a:t>A named reviewer for the paths that carry risk</a:t>
                      </a:r>
                    </a:p>
                  </a:txBody>
                  <a:tcPr marL="73152" marR="73152" marT="45720" marB="45720" anchor="t">
                    <a:solidFill>
                      <a:srgbClr val="121A2A"/>
                    </a:solidFill>
                  </a:tcPr>
                </a:tc>
                <a:tc>
                  <a:txBody>
                    <a:bodyPr wrap="square"/>
                    <a:lstStyle/>
                    <a:p>
                      <a:pPr>
                        <a:lnSpc>
                          <a:spcPct val="110000"/>
                        </a:lnSpc>
                      </a:pPr>
                      <a:r>
                        <a:rPr b="0" sz="1260" i="0">
                          <a:solidFill>
                            <a:srgbClr val="E6ECF7"/>
                          </a:solidFill>
                          <a:latin typeface="Arial"/>
                        </a:rPr>
                        <a:t>.github/CODEOWNERS</a:t>
                      </a:r>
                    </a:p>
                  </a:txBody>
                  <a:tcPr marL="73152" marR="73152" marT="45720" marB="45720" anchor="t">
                    <a:solidFill>
                      <a:srgbClr val="121A2A"/>
                    </a:solidFill>
                  </a:tcPr>
                </a:tc>
              </a:tr>
              <a:tr h="356616">
                <a:tc>
                  <a:txBody>
                    <a:bodyPr wrap="square"/>
                    <a:lstStyle/>
                    <a:p>
                      <a:pPr>
                        <a:lnSpc>
                          <a:spcPct val="110000"/>
                        </a:lnSpc>
                      </a:pPr>
                      <a:r>
                        <a:rPr b="1" sz="1260" i="0">
                          <a:solidFill>
                            <a:srgbClr val="E6ECF7"/>
                          </a:solidFill>
                          <a:latin typeface="Arial"/>
                        </a:rPr>
                        <a:t>Day 3</a:t>
                      </a:r>
                    </a:p>
                  </a:txBody>
                  <a:tcPr marL="73152" marR="73152" marT="45720" marB="45720" anchor="t">
                    <a:solidFill>
                      <a:srgbClr val="151D2E"/>
                    </a:solidFill>
                  </a:tcPr>
                </a:tc>
                <a:tc>
                  <a:txBody>
                    <a:bodyPr wrap="square"/>
                    <a:lstStyle/>
                    <a:p>
                      <a:pPr>
                        <a:lnSpc>
                          <a:spcPct val="110000"/>
                        </a:lnSpc>
                      </a:pPr>
                      <a:r>
                        <a:rPr b="0" sz="1260" i="0">
                          <a:solidFill>
                            <a:srgbClr val="E6ECF7"/>
                          </a:solidFill>
                          <a:latin typeface="Arial"/>
                        </a:rPr>
                        <a:t>Whether a machine may approve here, and why</a:t>
                      </a:r>
                    </a:p>
                  </a:txBody>
                  <a:tcPr marL="73152" marR="73152" marT="45720" marB="45720" anchor="t">
                    <a:solidFill>
                      <a:srgbClr val="151D2E"/>
                    </a:solidFill>
                  </a:tcPr>
                </a:tc>
                <a:tc>
                  <a:txBody>
                    <a:bodyPr wrap="square"/>
                    <a:lstStyle/>
                    <a:p>
                      <a:pPr>
                        <a:lnSpc>
                          <a:spcPct val="110000"/>
                        </a:lnSpc>
                      </a:pPr>
                      <a:r>
                        <a:rPr b="0" sz="1260" i="0">
                          <a:solidFill>
                            <a:srgbClr val="E6ECF7"/>
                          </a:solidFill>
                          <a:latin typeface="Arial"/>
                        </a:rPr>
                        <a:t>README, under "Review rules"</a:t>
                      </a:r>
                    </a:p>
                  </a:txBody>
                  <a:tcPr marL="73152" marR="73152" marT="45720" marB="45720" anchor="t">
                    <a:solidFill>
                      <a:srgbClr val="151D2E"/>
                    </a:solidFill>
                  </a:tcPr>
                </a:tc>
              </a:tr>
              <a:tr h="356616">
                <a:tc>
                  <a:txBody>
                    <a:bodyPr wrap="square"/>
                    <a:lstStyle/>
                    <a:p>
                      <a:pPr>
                        <a:lnSpc>
                          <a:spcPct val="110000"/>
                        </a:lnSpc>
                      </a:pPr>
                      <a:r>
                        <a:rPr b="1" sz="1260" i="0">
                          <a:solidFill>
                            <a:srgbClr val="E6ECF7"/>
                          </a:solidFill>
                          <a:latin typeface="Arial"/>
                        </a:rPr>
                        <a:t>Day 4</a:t>
                      </a:r>
                    </a:p>
                  </a:txBody>
                  <a:tcPr marL="73152" marR="73152" marT="45720" marB="45720" anchor="t">
                    <a:solidFill>
                      <a:srgbClr val="121A2A"/>
                    </a:solidFill>
                  </a:tcPr>
                </a:tc>
                <a:tc>
                  <a:txBody>
                    <a:bodyPr wrap="square"/>
                    <a:lstStyle/>
                    <a:p>
                      <a:pPr>
                        <a:lnSpc>
                          <a:spcPct val="110000"/>
                        </a:lnSpc>
                      </a:pPr>
                      <a:r>
                        <a:rPr b="0" sz="1260" i="0">
                          <a:solidFill>
                            <a:srgbClr val="E6ECF7"/>
                          </a:solidFill>
                          <a:latin typeface="Arial"/>
                        </a:rPr>
                        <a:t>The template that explains and asks</a:t>
                      </a:r>
                    </a:p>
                  </a:txBody>
                  <a:tcPr marL="73152" marR="73152" marT="45720" marB="45720" anchor="t">
                    <a:solidFill>
                      <a:srgbClr val="121A2A"/>
                    </a:solidFill>
                  </a:tcPr>
                </a:tc>
                <a:tc>
                  <a:txBody>
                    <a:bodyPr wrap="square"/>
                    <a:lstStyle/>
                    <a:p>
                      <a:pPr>
                        <a:lnSpc>
                          <a:spcPct val="110000"/>
                        </a:lnSpc>
                      </a:pPr>
                      <a:r>
                        <a:rPr b="0" sz="1260" i="0">
                          <a:solidFill>
                            <a:srgbClr val="E6ECF7"/>
                          </a:solidFill>
                          <a:latin typeface="Arial"/>
                        </a:rPr>
                        <a:t>.github/pull_request_template.md</a:t>
                      </a:r>
                    </a:p>
                  </a:txBody>
                  <a:tcPr marL="73152" marR="73152" marT="45720" marB="45720" anchor="t">
                    <a:solidFill>
                      <a:srgbClr val="121A2A"/>
                    </a:solidFill>
                  </a:tcPr>
                </a:tc>
              </a:tr>
              <a:tr h="356616">
                <a:tc>
                  <a:txBody>
                    <a:bodyPr wrap="square"/>
                    <a:lstStyle/>
                    <a:p>
                      <a:pPr>
                        <a:lnSpc>
                          <a:spcPct val="110000"/>
                        </a:lnSpc>
                      </a:pPr>
                      <a:r>
                        <a:rPr b="1" sz="1260" i="0">
                          <a:solidFill>
                            <a:srgbClr val="E6ECF7"/>
                          </a:solidFill>
                          <a:latin typeface="Arial"/>
                        </a:rPr>
                        <a:t>Monthly</a:t>
                      </a:r>
                    </a:p>
                  </a:txBody>
                  <a:tcPr marL="73152" marR="73152" marT="45720" marB="45720" anchor="t">
                    <a:solidFill>
                      <a:srgbClr val="151D2E"/>
                    </a:solidFill>
                  </a:tcPr>
                </a:tc>
                <a:tc>
                  <a:txBody>
                    <a:bodyPr wrap="square"/>
                    <a:lstStyle/>
                    <a:p>
                      <a:pPr>
                        <a:lnSpc>
                          <a:spcPct val="110000"/>
                        </a:lnSpc>
                      </a:pPr>
                      <a:r>
                        <a:rPr b="0" sz="1260" i="0">
                          <a:solidFill>
                            <a:srgbClr val="E6ECF7"/>
                          </a:solidFill>
                          <a:latin typeface="Arial"/>
                        </a:rPr>
                        <a:t>Read ten merged pull requests and ask what you are seeing</a:t>
                      </a:r>
                    </a:p>
                  </a:txBody>
                  <a:tcPr marL="73152" marR="73152" marT="45720" marB="45720" anchor="t">
                    <a:solidFill>
                      <a:srgbClr val="151D2E"/>
                    </a:solidFill>
                  </a:tcPr>
                </a:tc>
                <a:tc>
                  <a:txBody>
                    <a:bodyPr wrap="square"/>
                    <a:lstStyle/>
                    <a:p>
                      <a:pPr>
                        <a:lnSpc>
                          <a:spcPct val="110000"/>
                        </a:lnSpc>
                      </a:pPr>
                      <a:r>
                        <a:rPr b="0" sz="1260" i="0">
                          <a:solidFill>
                            <a:srgbClr val="E6ECF7"/>
                          </a:solidFill>
                          <a:latin typeface="Arial"/>
                        </a:rPr>
                        <a:t>A calendar entry, not a tool</a:t>
                      </a:r>
                    </a:p>
                  </a:txBody>
                  <a:tcPr marL="73152" marR="73152" marT="45720" marB="45720" anchor="t">
                    <a:solidFill>
                      <a:srgbClr val="151D2E"/>
                    </a:solidFill>
                  </a:tcPr>
                </a:tc>
              </a:tr>
            </a:tbl>
          </a:graphicData>
        </a:graphic>
      </p:graphicFrame>
      <p:sp>
        <p:nvSpPr>
          <p:cNvPr id="9" name="TextBox 8"/>
          <p:cNvSpPr txBox="1"/>
          <p:nvPr/>
        </p:nvSpPr>
        <p:spPr>
          <a:xfrm>
            <a:off x="548640" y="5520232"/>
            <a:ext cx="11094415" cy="725119"/>
          </a:xfrm>
          <a:prstGeom prst="rect">
            <a:avLst/>
          </a:prstGeom>
          <a:noFill/>
        </p:spPr>
        <p:txBody>
          <a:bodyPr wrap="square" lIns="0" rIns="0" tIns="0" bIns="0" anchor="t">
            <a:spAutoFit/>
          </a:bodyPr>
          <a:lstStyle/>
          <a:p>
            <a:pPr algn="l">
              <a:lnSpc>
                <a:spcPct val="115000"/>
              </a:lnSpc>
              <a:spcAft>
                <a:spcPts val="0"/>
              </a:spcAft>
            </a:pPr>
            <a:r>
              <a:rPr b="0" sz="1560" i="0">
                <a:solidFill>
                  <a:srgbClr val="E6ECF7"/>
                </a:solidFill>
                <a:latin typeface="Arial"/>
              </a:rPr>
              <a:t>Every line but the last is a file or a setting, copied to the next repository in minutes and reverted by deleting a line. The last one is half an hour a month. </a:t>
            </a:r>
            <a:r>
              <a:rPr b="1" sz="1560" i="0">
                <a:solidFill>
                  <a:srgbClr val="E6ECF7"/>
                </a:solidFill>
                <a:latin typeface="Arial"/>
              </a:rPr>
              <a:t>I have not checked which of these are already on in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Rectangle 5"/>
          <p:cNvSpPr/>
          <p:nvPr/>
        </p:nvSpPr>
        <p:spPr>
          <a:xfrm>
            <a:off x="548640" y="2555240"/>
            <a:ext cx="822960" cy="54864"/>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29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moves, and what doesn't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29</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approval stays with a human who is independent of whoever implemented the change. That is the one line that does not move.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30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don't know yet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30</a:t>
            </a:r>
          </a:p>
        </p:txBody>
      </p:sp>
      <p:sp>
        <p:nvSpPr>
          <p:cNvPr id="8" name="Rounded Rectangle 7"/>
          <p:cNvSpPr/>
          <p:nvPr/>
        </p:nvSpPr>
        <p:spPr>
          <a:xfrm>
            <a:off x="548640"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Nobody has used it.</a:t>
            </a:r>
          </a:p>
        </p:txBody>
      </p:sp>
      <p:sp>
        <p:nvSpPr>
          <p:cNvPr id="24" name="Rectangle 23"/>
          <p:cNvSpPr/>
          <p:nvPr/>
        </p:nvSpPr>
        <p:spPr>
          <a:xfrm>
            <a:off x="548640"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regulated company whose auditor accepted a machine's approval.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31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A1 — Who did what about the queue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31</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98A4BC"/>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E6ECF7"/>
                          </a:solidFill>
                          <a:latin typeface="Arial"/>
                        </a:rPr>
                        <a:t>Who</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What they did</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Human approver?</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Regulated?</a:t>
                      </a:r>
                    </a:p>
                  </a:txBody>
                  <a:tcPr marL="73152" marR="73152" marT="45720" marB="45720" anchor="t">
                    <a:solidFill>
                      <a:srgbClr val="1C2740"/>
                    </a:solidFill>
                  </a:tcPr>
                </a:tc>
              </a:tr>
              <a:tr h="318211">
                <a:tc>
                  <a:txBody>
                    <a:bodyPr wrap="square"/>
                    <a:lstStyle/>
                    <a:p>
                      <a:pPr>
                        <a:lnSpc>
                          <a:spcPct val="110000"/>
                        </a:lnSpc>
                      </a:pPr>
                      <a:r>
                        <a:rPr b="1" sz="1008" i="0">
                          <a:solidFill>
                            <a:srgbClr val="E6ECF7"/>
                          </a:solidFill>
                          <a:latin typeface="Arial"/>
                        </a:rPr>
                        <a:t>Meta</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Risk score per change, low-risk merged automatically. 331.000+ to production.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Zalando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Classifier on open. 33% auto-approved as low-risk, author merges.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318211">
                <a:tc>
                  <a:txBody>
                    <a:bodyPr wrap="square"/>
                    <a:lstStyle/>
                    <a:p>
                      <a:pPr>
                        <a:lnSpc>
                          <a:spcPct val="110000"/>
                        </a:lnSpc>
                      </a:pPr>
                      <a:r>
                        <a:rPr b="1" sz="1008" i="0">
                          <a:solidFill>
                            <a:srgbClr val="E6ECF7"/>
                          </a:solidFill>
                          <a:latin typeface="Arial"/>
                        </a:rPr>
                        <a:t>Spotify</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76% more pull requests. Auto-merges what it judges safe. Soundcheck tiers checks per component type.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safe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Shopify</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System writes and explains security fixes, freshness-gated merge queue. Backlog down ~70% in 11 days.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Adyen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4.000+ automated merge requests from a deterministic bot, under five files each. Designated person re-reads approved changes.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r>
              <a:tr h="471830">
                <a:tc>
                  <a:txBody>
                    <a:bodyPr wrap="square"/>
                    <a:lstStyle/>
                    <a:p>
                      <a:pPr>
                        <a:lnSpc>
                          <a:spcPct val="110000"/>
                        </a:lnSpc>
                      </a:pPr>
                      <a:r>
                        <a:rPr b="1" sz="1008" i="0">
                          <a:solidFill>
                            <a:srgbClr val="E6ECF7"/>
                          </a:solidFill>
                          <a:latin typeface="Arial"/>
                        </a:rPr>
                        <a:t>Monzo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"An engineer still reviews and merges, but the bottleneck moves from 'find an engineer with capacity' to 'find a reviewer'."</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Cloudflare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Godot</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Banned AI-generated contributions. "All PRs must be reviewed and approved by a human before merging."</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Rust (five teams)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Circuit breaker: AI over half of merges in six weeks, AI changes stop for ten days.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curl</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Ended its bug bounty in January 2026. About 20% of security submissions were slop.</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GitHub</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Per-contributor limit on open pull requests. Copilot approval can count toward required approvals since 1 Sep 2026.</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Setting</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32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A2 — The regulatory detail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32</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E8A33D"/>
                </a:solidFill>
                <a:latin typeface="Arial"/>
              </a:rPr>
              <a:t>—  </a:t>
            </a:r>
            <a:r>
              <a:rPr b="1" sz="1250" i="0">
                <a:solidFill>
                  <a:srgbClr val="E6ECF7"/>
                </a:solidFill>
                <a:latin typeface="Arial"/>
              </a:rPr>
              <a:t>Two persons direct the business.</a:t>
            </a:r>
            <a:r>
              <a:rPr b="0" sz="1250" i="0">
                <a:solidFill>
                  <a:srgbClr val="E6ECF7"/>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E8A33D"/>
                </a:solidFill>
                <a:latin typeface="Arial"/>
              </a:rPr>
              <a:t>—  </a:t>
            </a:r>
            <a:r>
              <a:rPr b="1" sz="1250" i="0">
                <a:solidFill>
                  <a:srgbClr val="E6ECF7"/>
                </a:solidFill>
                <a:latin typeface="Arial"/>
              </a:rPr>
              <a:t>Dual control on a sensitive action.</a:t>
            </a:r>
            <a:r>
              <a:rPr b="0" sz="1250" i="0">
                <a:solidFill>
                  <a:srgbClr val="E6ECF7"/>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before July 2025.</a:t>
            </a:r>
            <a:r>
              <a:rPr b="0" sz="1250" i="0">
                <a:solidFill>
                  <a:srgbClr val="E6ECF7"/>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since July 2025.</a:t>
            </a:r>
            <a:r>
              <a:rPr b="0" sz="1250" i="0">
                <a:solidFill>
                  <a:srgbClr val="E6ECF7"/>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E8A33D"/>
                </a:solidFill>
                <a:latin typeface="Arial"/>
              </a:rPr>
              <a:t>—  </a:t>
            </a:r>
            <a:r>
              <a:rPr b="1" sz="1250" i="0">
                <a:solidFill>
                  <a:srgbClr val="E6ECF7"/>
                </a:solidFill>
                <a:latin typeface="Arial"/>
              </a:rPr>
              <a:t>Not defined:</a:t>
            </a:r>
            <a:r>
              <a:rPr b="0" sz="1250" i="0">
                <a:solidFill>
                  <a:srgbClr val="E6ECF7"/>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33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A3 — How far to trust each number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33</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98A4BC"/>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E6ECF7"/>
                          </a:solidFill>
                          <a:latin typeface="Arial"/>
                        </a:rPr>
                        <a:t>Number</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Where it comes from</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How far it carries</a:t>
                      </a:r>
                    </a:p>
                  </a:txBody>
                  <a:tcPr marL="73152" marR="73152" marT="45720" marB="45720" anchor="t">
                    <a:solidFill>
                      <a:srgbClr val="1C2740"/>
                    </a:solidFill>
                  </a:tcPr>
                </a:tc>
              </a:tr>
              <a:tr h="420623">
                <a:tc>
                  <a:txBody>
                    <a:bodyPr wrap="square"/>
                    <a:lstStyle/>
                    <a:p>
                      <a:pPr>
                        <a:lnSpc>
                          <a:spcPct val="110000"/>
                        </a:lnSpc>
                      </a:pPr>
                      <a:r>
                        <a:rPr b="1" sz="839" i="0">
                          <a:solidFill>
                            <a:srgbClr val="E6ECF7"/>
                          </a:solidFill>
                          <a:latin typeface="Arial"/>
                        </a:rPr>
                        <a:t>30,1% → 36,8% approval, comments −22%</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400 reviewers, 11.429 reviews, seven months, three controls. KDD 2026 workshop paper.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Measures repetition and load, not team boundaries.</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96% distrust, 48% always verify</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Sonar survey, about 1.150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200 lines an hour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Kemerer &amp; Paulk, 2009.</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One study. The 2-hour arithmetic is mine and rests on it.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h and 6,4 h a week reviewing</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 telemetry; open-source survey of 287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The open-source figure is 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62% vs 53,7%; 60% vs 50,5%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Greptile, two sets of 500 pull requests, July 2026.</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Vendor research selling the feature. Directional only.</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of 33 vulnerabilities passed review</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Preprint, March 2026, 33 CVEs across 20 projects.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Not peer-reviewed. The mechanism carries even if the number moves.</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Fewer unreviewed PRs, fewer security bugs</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3.126 projects, nearly 400.000 pull requests, PROMISE 2017.</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Association, open source only. Effect called small but significant.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2,6× more likely worst performers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Google's DORA (DevOps Research and Assessment), 2019.</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Correlation across survey respondents.</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&gt;90% of riskiest changes approved</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UK FCA multi-firm review, 23 firms, over a million changes, 2021.</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Major changes are selected into board review for being risky.</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Close time 6 h → 8 h after turning a reviewer on</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 4.335 pull requests, ICSE 2025 industry track.</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Atlassian 75% / 96% / $4 million</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Atlassian engineering blog, August 2025.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First-party. A 2026 review finds no proof platforms cause such gains.</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60 to 70% of platform initiatives fail</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Conference reporting in The New Stack, October 2025.</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Industry reporting, not a study. About platforms in general, not review.</a:t>
                      </a:r>
                    </a:p>
                  </a:txBody>
                  <a:tcPr marL="73152" marR="73152" marT="45720" marB="45720" anchor="t">
                    <a:solidFill>
                      <a:srgbClr val="121A2A"/>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34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A4 — Names and terms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34</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E6ECF7"/>
                          </a:solidFill>
                          <a:latin typeface="Arial"/>
                        </a:rPr>
                        <a:t>Term</a:t>
                      </a:r>
                    </a:p>
                  </a:txBody>
                  <a:tcPr marL="73152" marR="73152" marT="45720" marB="45720" anchor="t">
                    <a:solidFill>
                      <a:srgbClr val="1C2740"/>
                    </a:solidFill>
                  </a:tcPr>
                </a:tc>
                <a:tc>
                  <a:txBody>
                    <a:bodyPr wrap="square"/>
                    <a:lstStyle/>
                    <a:p>
                      <a:pPr>
                        <a:lnSpc>
                          <a:spcPct val="110000"/>
                        </a:lnSpc>
                      </a:pPr>
                      <a:r>
                        <a:rPr b="1" sz="1050" i="0">
                          <a:solidFill>
                            <a:srgbClr val="E6ECF7"/>
                          </a:solidFill>
                          <a:latin typeface="Arial"/>
                        </a:rPr>
                        <a:t>Meaning in this deck</a:t>
                      </a:r>
                    </a:p>
                  </a:txBody>
                  <a:tcPr marL="73152" marR="73152" marT="45720" marB="45720" anchor="t">
                    <a:solidFill>
                      <a:srgbClr val="1C2740"/>
                    </a:solidFill>
                  </a:tcPr>
                </a:tc>
              </a:tr>
              <a:tr h="484632">
                <a:tc>
                  <a:txBody>
                    <a:bodyPr wrap="square"/>
                    <a:lstStyle/>
                    <a:p>
                      <a:pPr>
                        <a:lnSpc>
                          <a:spcPct val="110000"/>
                        </a:lnSpc>
                      </a:pPr>
                      <a:r>
                        <a:rPr b="1" sz="1050" i="0">
                          <a:solidFill>
                            <a:srgbClr val="E6ECF7"/>
                          </a:solidFill>
                          <a:latin typeface="Arial"/>
                        </a:rPr>
                        <a:t>Four eyes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DORA (EU)</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Digital Operational Resilience Act, EU 2022/2554. Applies to payment institutions since July 2025.</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DORA (Google)</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DevOps Research and Assessment. Google Cloud's research programme on software delivery. Coined "the verification tax" in 2026.</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RTS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Regulatory Technical Standard. The detailed rules under DORA (EU). 2024/1774 art. 17 is the change-management one.</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Required approvals, code owners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GitHub branch-protection rules from 2016 and 2017. One more person has to say yes before a merge.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Break-glass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A logged override that lets a team bypass a check in an emergency. Cloudflare's reviewer has one; GitHub's org-wide rulesets do not.</a:t>
                      </a:r>
                    </a:p>
                  </a:txBody>
                  <a:tcPr marL="73152" marR="73152" marT="45720" marB="45720" anchor="t">
                    <a:solidFill>
                      <a:srgbClr val="121A2A"/>
                    </a:solidFill>
                  </a:tcPr>
                </a:tc>
              </a:tr>
              <a:tr h="324612">
                <a:tc>
                  <a:txBody>
                    <a:bodyPr wrap="square"/>
                    <a:lstStyle/>
                    <a:p>
                      <a:pPr>
                        <a:lnSpc>
                          <a:spcPct val="110000"/>
                        </a:lnSpc>
                      </a:pPr>
                      <a:r>
                        <a:rPr b="1" sz="1050" i="0">
                          <a:solidFill>
                            <a:srgbClr val="E6ECF7"/>
                          </a:solidFill>
                          <a:latin typeface="Arial"/>
                        </a:rPr>
                        <a:t>Tricorder</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Google's static-analysis platform. Runs on every change before a human reviewer sees it.</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Soundcheck</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Spotify's platform for running different tiers of checks per kind of component.</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Self-review</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The author's half of four eyes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My name for a check that asks the author to explain the change in their own words before opening a pull request. A design, not yet a result.</a:t>
                      </a:r>
                    </a:p>
                  </a:txBody>
                  <a:tcPr marL="73152" marR="73152" marT="45720" marB="45720" anchor="t">
                    <a:solidFill>
                      <a:srgbClr val="121A2A"/>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