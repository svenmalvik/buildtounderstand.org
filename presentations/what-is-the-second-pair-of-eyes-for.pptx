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3 and 4 quietly assume the reviewer can read what they are given. This is the step that makes that true. Kemerer and Paulk measured in 2009 what happens to a reviewer who speeds up: up to 200 lines an hour they found most of the defects, faster than that about half. One in four AI-written pull requests now runs past 400 lines, which is two hours of one person's attention for a single change. Adyen, the one regulated payment company in this deck with a published account, keeps its automated changes under five files on average. Make the CI check a warning everywhere and a failure on the repositories the tier marked as carrying risk. Two honest limits: a size threshold is not a quality bar, and no number makes a change worth reading. And the draft-until-green rule is mine rather than a finding.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a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Keep the change small enough to be read</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Where each step lives</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First, decide what this repository touches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TextBox 7"/>
          <p:cNvSpPr txBox="1"/>
          <p:nvPr/>
        </p:nvSpPr>
        <p:spPr>
          <a:xfrm>
            <a:off x="548640" y="1692912"/>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Chapter 04 tiered repositories and never said who does the tiering. Every step after this one is stricter or lighter depending on the answer. Without one, this repository gets the same treatment as every other, whatever it holds.</a:t>
            </a:r>
          </a:p>
        </p:txBody>
      </p:sp>
      <p:sp>
        <p:nvSpPr>
          <p:cNvPr id="9" name="TextBox 8"/>
          <p:cNvSpPr txBox="1"/>
          <p:nvPr/>
        </p:nvSpPr>
        <p:spPr>
          <a:xfrm>
            <a:off x="548640" y="2999665"/>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Does it move money, hold customer data, or neither?</a:t>
            </a:r>
          </a:p>
          <a:p>
            <a:pPr>
              <a:lnSpc>
                <a:spcPct val="115000"/>
              </a:lnSpc>
              <a:spcAft>
                <a:spcPts val="400"/>
              </a:spcAft>
            </a:pPr>
            <a:r>
              <a:rPr sz="1625" b="1">
                <a:solidFill>
                  <a:srgbClr val="E8A33D"/>
                </a:solidFill>
                <a:latin typeface="Arial"/>
              </a:rPr>
              <a:t>—  </a:t>
            </a:r>
            <a:r>
              <a:rPr b="0" sz="1625" i="0">
                <a:solidFill>
                  <a:srgbClr val="E6ECF7"/>
                </a:solidFill>
                <a:latin typeface="Arial"/>
              </a:rPr>
              <a:t>Write the answer in the README, under a short "Review rules" heading</a:t>
            </a:r>
          </a:p>
          <a:p>
            <a:pPr>
              <a:lnSpc>
                <a:spcPct val="115000"/>
              </a:lnSpc>
              <a:spcAft>
                <a:spcPts val="400"/>
              </a:spcAft>
            </a:pPr>
            <a:r>
              <a:rPr sz="1625" b="1">
                <a:solidFill>
                  <a:srgbClr val="E8A33D"/>
                </a:solidFill>
                <a:latin typeface="Arial"/>
              </a:rPr>
              <a:t>—  </a:t>
            </a:r>
            <a:r>
              <a:rPr b="0" sz="1625" i="0">
                <a:solidFill>
                  <a:srgbClr val="E6ECF7"/>
                </a:solidFill>
                <a:latin typeface="Arial"/>
              </a:rPr>
              <a:t>Say what follows: how many reviewers, whether a machine may approve, whether a security review is mandatory</a:t>
            </a:r>
          </a:p>
          <a:p>
            <a:pPr>
              <a:lnSpc>
                <a:spcPct val="115000"/>
              </a:lnSpc>
              <a:spcAft>
                <a:spcPts val="400"/>
              </a:spcAft>
            </a:pPr>
            <a:r>
              <a:rPr sz="1625" b="1">
                <a:solidFill>
                  <a:srgbClr val="E8A33D"/>
                </a:solidFill>
                <a:latin typeface="Arial"/>
              </a:rPr>
              <a:t>—  </a:t>
            </a:r>
            <a:r>
              <a:rPr b="0" sz="1625" i="0">
                <a:solidFill>
                  <a:srgbClr val="E6ECF7"/>
                </a:solidFill>
                <a:latin typeface="Arial"/>
              </a:rPr>
              <a:t>Revisit it when the repository starts touching something new</a:t>
            </a:r>
          </a:p>
        </p:txBody>
      </p:sp>
      <p:sp>
        <p:nvSpPr>
          <p:cNvPr id="10" name="Rectangle 9"/>
          <p:cNvSpPr/>
          <p:nvPr/>
        </p:nvSpPr>
        <p:spPr>
          <a:xfrm>
            <a:off x="548640" y="487415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6559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It is also the risk assessment the rules ask for: a policy "based on a risk assessment approach", with nothing said about it having to be elaborate.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that follow from the tier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Keep the change small enough to be read</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sp>
        <p:nvSpPr>
          <p:cNvPr id="8" name="TextBox 7"/>
          <p:cNvSpPr txBox="1"/>
          <p:nvPr/>
        </p:nvSpPr>
        <p:spPr>
          <a:xfrm>
            <a:off x="548640" y="1716430"/>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reviewer named a moment ago has to be able to do the job. A change nobody can read in one sitting gets approved anyway.</a:t>
            </a:r>
          </a:p>
        </p:txBody>
      </p:sp>
      <p:sp>
        <p:nvSpPr>
          <p:cNvPr id="9" name="Rounded Rectangle 8"/>
          <p:cNvSpPr/>
          <p:nvPr/>
        </p:nvSpPr>
        <p:spPr>
          <a:xfrm>
            <a:off x="548640" y="2761335"/>
            <a:ext cx="3576218" cy="158115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1" name="TextBox 10"/>
          <p:cNvSpPr txBox="1"/>
          <p:nvPr/>
        </p:nvSpPr>
        <p:spPr>
          <a:xfrm>
            <a:off x="731520"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found about half the defects</a:t>
            </a:r>
          </a:p>
        </p:txBody>
      </p:sp>
      <p:sp>
        <p:nvSpPr>
          <p:cNvPr id="12" name="Rounded Rectangle 11"/>
          <p:cNvSpPr/>
          <p:nvPr/>
        </p:nvSpPr>
        <p:spPr>
          <a:xfrm>
            <a:off x="4307738" y="2761335"/>
            <a:ext cx="3576218" cy="158115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0618"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4" name="TextBox 13"/>
          <p:cNvSpPr txBox="1"/>
          <p:nvPr/>
        </p:nvSpPr>
        <p:spPr>
          <a:xfrm>
            <a:off x="4490618"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runs past 400 lines</a:t>
            </a:r>
          </a:p>
        </p:txBody>
      </p:sp>
      <p:sp>
        <p:nvSpPr>
          <p:cNvPr id="15" name="Rounded Rectangle 14"/>
          <p:cNvSpPr/>
          <p:nvPr/>
        </p:nvSpPr>
        <p:spPr>
          <a:xfrm>
            <a:off x="8066836" y="2761335"/>
            <a:ext cx="3576218" cy="158115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9716" y="2889351"/>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&lt; 5 files</a:t>
            </a:r>
          </a:p>
        </p:txBody>
      </p:sp>
      <p:sp>
        <p:nvSpPr>
          <p:cNvPr id="17" name="TextBox 16"/>
          <p:cNvSpPr txBox="1"/>
          <p:nvPr/>
        </p:nvSpPr>
        <p:spPr>
          <a:xfrm>
            <a:off x="8249716" y="3517239"/>
            <a:ext cx="3210458"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Adyen's automated changes, which is what makes them "fast to review, easy to approve"</a:t>
            </a:r>
          </a:p>
        </p:txBody>
      </p:sp>
      <p:sp>
        <p:nvSpPr>
          <p:cNvPr id="18" name="Rectangle 17"/>
          <p:cNvSpPr/>
          <p:nvPr/>
        </p:nvSpPr>
        <p:spPr>
          <a:xfrm>
            <a:off x="548640" y="4827117"/>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4918557"/>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Agree a size the repository does not go past without saying why, check it in CI, and keep the pull request in draft until the checks are green.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27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28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Where each step lives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graphicFrame>
        <p:nvGraphicFramePr>
          <p:cNvPr id="8" name="Table 7"/>
          <p:cNvGraphicFramePr>
            <a:graphicFrameLocks noGrp="1"/>
          </p:cNvGraphicFramePr>
          <p:nvPr/>
        </p:nvGraphicFramePr>
        <p:xfrm>
          <a:off x="548640" y="1371600"/>
          <a:ext cx="11094413" cy="3744468"/>
        </p:xfrm>
        <a:graphic>
          <a:graphicData uri="http://schemas.openxmlformats.org/drawingml/2006/table">
            <a:tbl>
              <a:tblPr firstRow="0" bandRow="0">
                <a:tableStyleId>{5C22544A-7EE6-4342-B048-85BDC9FD1C3A}</a:tableStyleId>
              </a:tblPr>
              <a:tblGrid>
                <a:gridCol w="1497405"/>
                <a:gridCol w="6057686"/>
                <a:gridCol w="3539322"/>
              </a:tblGrid>
              <a:tr h="347472">
                <a:tc>
                  <a:txBody>
                    <a:bodyPr wrap="square"/>
                    <a:lstStyle/>
                    <a:p>
                      <a:pPr>
                        <a:lnSpc>
                          <a:spcPct val="110000"/>
                        </a:lnSpc>
                      </a:pPr>
                      <a:r>
                        <a:rPr b="1" sz="1365" i="0">
                          <a:solidFill>
                            <a:srgbClr val="E6ECF7"/>
                          </a:solidFill>
                          <a:latin typeface="Arial"/>
                        </a:rPr>
                        <a:t>Step</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Where it lives</a:t>
                      </a:r>
                    </a:p>
                  </a:txBody>
                  <a:tcPr marL="73152" marR="73152" marT="45720" marB="45720" anchor="t">
                    <a:solidFill>
                      <a:srgbClr val="1C2740"/>
                    </a:solidFill>
                  </a:tcPr>
                </a:tc>
              </a:tr>
              <a:tr h="372618">
                <a:tc>
                  <a:txBody>
                    <a:bodyPr wrap="square"/>
                    <a:lstStyle/>
                    <a:p>
                      <a:pPr>
                        <a:lnSpc>
                          <a:spcPct val="110000"/>
                        </a:lnSpc>
                      </a:pPr>
                      <a:r>
                        <a:rPr b="1" sz="1365" i="0">
                          <a:solidFill>
                            <a:srgbClr val="E6ECF7"/>
                          </a:solidFill>
                          <a:latin typeface="Arial"/>
                        </a:rPr>
                        <a:t>01</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Write down what this repository touches, and what follows from it</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README, under "Review rules"</a:t>
                      </a:r>
                    </a:p>
                  </a:txBody>
                  <a:tcPr marL="73152" marR="73152" marT="45720" marB="45720" anchor="t">
                    <a:solidFill>
                      <a:srgbClr val="151D2E"/>
                    </a:solidFill>
                  </a:tcPr>
                </a:tc>
              </a:tr>
              <a:tr h="580644">
                <a:tc>
                  <a:txBody>
                    <a:bodyPr wrap="square"/>
                    <a:lstStyle/>
                    <a:p>
                      <a:pPr>
                        <a:lnSpc>
                          <a:spcPct val="110000"/>
                        </a:lnSpc>
                      </a:pPr>
                      <a:r>
                        <a:rPr b="1" sz="1365" i="0">
                          <a:solidFill>
                            <a:srgbClr val="E6ECF7"/>
                          </a:solidFill>
                          <a:latin typeface="Arial"/>
                        </a:rPr>
                        <a:t>02</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Format, lint, test, static analysis, dependency and secret scanning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.github/workflows/, .github/dependabot.yml, settings</a:t>
                      </a:r>
                    </a:p>
                  </a:txBody>
                  <a:tcPr marL="73152" marR="73152" marT="45720" marB="45720" anchor="t">
                    <a:solidFill>
                      <a:srgbClr val="121A2A"/>
                    </a:solidFill>
                  </a:tcPr>
                </a:tc>
              </a:tr>
              <a:tr h="580644">
                <a:tc>
                  <a:txBody>
                    <a:bodyPr wrap="square"/>
                    <a:lstStyle/>
                    <a:p>
                      <a:pPr>
                        <a:lnSpc>
                          <a:spcPct val="110000"/>
                        </a:lnSpc>
                      </a:pPr>
                      <a:r>
                        <a:rPr b="1" sz="1365" i="0">
                          <a:solidFill>
                            <a:srgbClr val="E6ECF7"/>
                          </a:solidFill>
                          <a:latin typeface="Arial"/>
                        </a:rPr>
                        <a:t>03</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Require those checks, require a pull request, stop direct pushes, dismiss stale approvals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Branch protection, or a ruleset</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04</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named reviewer for the paths that carry risk</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.github/CODEOWNERS</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05</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Whether a machine may approve here, and why</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README, under "Review rules"</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06</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size the repository does not go past without saying why</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CI check, plus draft until green</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07</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The template that explains and asks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.github/pull_request_template.md</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08</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Read ten merged pull requests and ask what you are seeing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calendar entry, not a tool</a:t>
                      </a:r>
                    </a:p>
                  </a:txBody>
                  <a:tcPr marL="73152" marR="73152" marT="45720" marB="45720" anchor="t">
                    <a:solidFill>
                      <a:srgbClr val="121A2A"/>
                    </a:solidFill>
                  </a:tcPr>
                </a:tc>
              </a:tr>
            </a:tbl>
          </a:graphicData>
        </a:graphic>
      </p:graphicFrame>
      <p:sp>
        <p:nvSpPr>
          <p:cNvPr id="9" name="TextBox 8"/>
          <p:cNvSpPr txBox="1"/>
          <p:nvPr/>
        </p:nvSpPr>
        <p:spPr>
          <a:xfrm>
            <a:off x="548640" y="5459806"/>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Every step but the last is a file or a setting, copied to the next repository in minutes and reverted by deleting a line. The last one is half an hour a month. </a:t>
            </a:r>
            <a:r>
              <a:rPr b="1" sz="1690" i="0">
                <a:solidFill>
                  <a:srgbClr val="E6ECF7"/>
                </a:solidFill>
                <a:latin typeface="Arial"/>
              </a:rPr>
              <a:t>I have not checked which of these are already on in 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34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34</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35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35</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