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snapToObjects="1">
      <p:cViewPr varScale="1">
        <p:scale>
          <a:sx n="156" d="100"/>
          <a:sy n="156" d="100"/>
        </p:scale>
        <p:origin x="216" y="2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960120"/>
            <a:ext cx="10881360" cy="1371600"/>
          </a:xfrm>
          <a:prstGeom prst="rect">
            <a:avLst/>
          </a:prstGeom>
          <a:noFill/>
        </p:spPr>
        <p:txBody>
          <a:bodyPr wrap="square" lIns="0" tIns="0" rIns="0" bIns="0">
            <a:spAutoFit/>
          </a:bodyPr>
          <a:lstStyle/>
          <a:p>
            <a:pPr>
              <a:lnSpc>
                <a:spcPct val="106000"/>
              </a:lnSpc>
            </a:pPr>
            <a:r>
              <a:rPr sz="4000" b="1" i="0">
                <a:solidFill>
                  <a:srgbClr val="E6ECF7"/>
                </a:solidFill>
                <a:latin typeface="Georgia"/>
              </a:rPr>
              <a:t>What Is the Smallest (AI) Platform</a:t>
            </a:r>
          </a:p>
          <a:p>
            <a:pPr>
              <a:lnSpc>
                <a:spcPct val="106000"/>
              </a:lnSpc>
            </a:pPr>
            <a:r>
              <a:rPr sz="4000" b="1" i="0">
                <a:solidFill>
                  <a:srgbClr val="29D3E0"/>
                </a:solidFill>
                <a:latin typeface="Georgia"/>
              </a:rPr>
              <a:t>That Could Possibly Work?</a:t>
            </a:r>
          </a:p>
        </p:txBody>
      </p:sp>
      <p:sp>
        <p:nvSpPr>
          <p:cNvPr id="3" name="TextBox 2"/>
          <p:cNvSpPr txBox="1"/>
          <p:nvPr/>
        </p:nvSpPr>
        <p:spPr>
          <a:xfrm>
            <a:off x="566928" y="2505456"/>
            <a:ext cx="11055096" cy="548640"/>
          </a:xfrm>
          <a:prstGeom prst="rect">
            <a:avLst/>
          </a:prstGeom>
          <a:noFill/>
        </p:spPr>
        <p:txBody>
          <a:bodyPr wrap="square" lIns="0" tIns="0" rIns="0" bIns="0">
            <a:spAutoFit/>
          </a:bodyPr>
          <a:lstStyle/>
          <a:p>
            <a:pPr>
              <a:lnSpc>
                <a:spcPct val="116000"/>
              </a:lnSpc>
              <a:spcAft>
                <a:spcPts val="700"/>
              </a:spcAft>
            </a:pPr>
            <a:r>
              <a:rPr sz="1400" b="0" i="0">
                <a:solidFill>
                  <a:srgbClr val="E6ECF7"/>
                </a:solidFill>
                <a:latin typeface="Arial"/>
              </a:rPr>
              <a:t>The most common AI request I see is access to an LLM. Giving an engineer an API key takes minutes and solves exactly one problem. What the key does </a:t>
            </a:r>
            <a:r>
              <a:rPr sz="1400" b="1" i="0">
                <a:solidFill>
                  <a:srgbClr val="E6ECF7"/>
                </a:solidFill>
                <a:latin typeface="Arial"/>
              </a:rPr>
              <a:t>not</a:t>
            </a:r>
            <a:r>
              <a:rPr sz="1400" b="0" i="0">
                <a:solidFill>
                  <a:srgbClr val="E6ECF7"/>
                </a:solidFill>
                <a:latin typeface="Arial"/>
              </a:rPr>
              <a:t> do:</a:t>
            </a:r>
          </a:p>
        </p:txBody>
      </p:sp>
      <p:sp>
        <p:nvSpPr>
          <p:cNvPr id="4" name="Rounded Rectangle 3"/>
          <p:cNvSpPr/>
          <p:nvPr/>
        </p:nvSpPr>
        <p:spPr>
          <a:xfrm>
            <a:off x="566928" y="3182112"/>
            <a:ext cx="2634157" cy="106070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566928" y="3273552"/>
            <a:ext cx="38100" cy="877824"/>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3310128"/>
            <a:ext cx="2195245" cy="841248"/>
          </a:xfrm>
          <a:prstGeom prst="rect">
            <a:avLst/>
          </a:prstGeom>
          <a:noFill/>
        </p:spPr>
        <p:txBody>
          <a:bodyPr wrap="square" lIns="0" tIns="0" rIns="0" bIns="0">
            <a:spAutoFit/>
          </a:bodyPr>
          <a:lstStyle/>
          <a:p>
            <a:pPr>
              <a:lnSpc>
                <a:spcPct val="116000"/>
              </a:lnSpc>
              <a:spcAft>
                <a:spcPts val="300"/>
              </a:spcAft>
            </a:pPr>
            <a:r>
              <a:rPr sz="1250" b="0" i="0">
                <a:solidFill>
                  <a:srgbClr val="E6ECF7"/>
                </a:solidFill>
                <a:latin typeface="Arial"/>
              </a:rPr>
              <a:t>show finance which team created which cost</a:t>
            </a:r>
          </a:p>
        </p:txBody>
      </p:sp>
      <p:sp>
        <p:nvSpPr>
          <p:cNvPr id="7" name="Rounded Rectangle 6"/>
          <p:cNvSpPr/>
          <p:nvPr/>
        </p:nvSpPr>
        <p:spPr>
          <a:xfrm>
            <a:off x="3374821" y="3182112"/>
            <a:ext cx="2634157" cy="106070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3374821" y="3273552"/>
            <a:ext cx="38100" cy="877824"/>
          </a:xfrm>
          <a:prstGeom prst="rect">
            <a:avLst/>
          </a:prstGeom>
          <a:solidFill>
            <a:srgbClr val="8B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12565" y="3310128"/>
            <a:ext cx="2195245" cy="841248"/>
          </a:xfrm>
          <a:prstGeom prst="rect">
            <a:avLst/>
          </a:prstGeom>
          <a:noFill/>
        </p:spPr>
        <p:txBody>
          <a:bodyPr wrap="square" lIns="0" tIns="0" rIns="0" bIns="0">
            <a:spAutoFit/>
          </a:bodyPr>
          <a:lstStyle/>
          <a:p>
            <a:pPr>
              <a:lnSpc>
                <a:spcPct val="116000"/>
              </a:lnSpc>
              <a:spcAft>
                <a:spcPts val="300"/>
              </a:spcAft>
            </a:pPr>
            <a:r>
              <a:rPr sz="1250" b="0" i="0">
                <a:solidFill>
                  <a:srgbClr val="E6ECF7"/>
                </a:solidFill>
                <a:latin typeface="Arial"/>
              </a:rPr>
              <a:t>help compliance understand where the data goes</a:t>
            </a:r>
          </a:p>
        </p:txBody>
      </p:sp>
      <p:sp>
        <p:nvSpPr>
          <p:cNvPr id="10" name="Rounded Rectangle 9"/>
          <p:cNvSpPr/>
          <p:nvPr/>
        </p:nvSpPr>
        <p:spPr>
          <a:xfrm>
            <a:off x="6182714" y="3182112"/>
            <a:ext cx="2634157" cy="106070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6182714" y="3273552"/>
            <a:ext cx="38100" cy="87782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0458" y="3310128"/>
            <a:ext cx="2195245" cy="841248"/>
          </a:xfrm>
          <a:prstGeom prst="rect">
            <a:avLst/>
          </a:prstGeom>
          <a:noFill/>
        </p:spPr>
        <p:txBody>
          <a:bodyPr wrap="square" lIns="0" tIns="0" rIns="0" bIns="0">
            <a:spAutoFit/>
          </a:bodyPr>
          <a:lstStyle/>
          <a:p>
            <a:pPr>
              <a:lnSpc>
                <a:spcPct val="116000"/>
              </a:lnSpc>
              <a:spcAft>
                <a:spcPts val="300"/>
              </a:spcAft>
            </a:pPr>
            <a:r>
              <a:rPr sz="1250" b="0" i="0">
                <a:solidFill>
                  <a:srgbClr val="E6ECF7"/>
                </a:solidFill>
                <a:latin typeface="Arial"/>
              </a:rPr>
              <a:t>give incident response a system it can observe</a:t>
            </a:r>
          </a:p>
        </p:txBody>
      </p:sp>
      <p:sp>
        <p:nvSpPr>
          <p:cNvPr id="13" name="Rounded Rectangle 12"/>
          <p:cNvSpPr/>
          <p:nvPr/>
        </p:nvSpPr>
        <p:spPr>
          <a:xfrm>
            <a:off x="8990607" y="3182112"/>
            <a:ext cx="2634157" cy="106070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990607" y="3273552"/>
            <a:ext cx="38100" cy="877824"/>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28351" y="3310128"/>
            <a:ext cx="2195245" cy="841248"/>
          </a:xfrm>
          <a:prstGeom prst="rect">
            <a:avLst/>
          </a:prstGeom>
          <a:noFill/>
        </p:spPr>
        <p:txBody>
          <a:bodyPr wrap="square" lIns="0" tIns="0" rIns="0" bIns="0">
            <a:spAutoFit/>
          </a:bodyPr>
          <a:lstStyle/>
          <a:p>
            <a:pPr>
              <a:lnSpc>
                <a:spcPct val="116000"/>
              </a:lnSpc>
              <a:spcAft>
                <a:spcPts val="300"/>
              </a:spcAft>
            </a:pPr>
            <a:r>
              <a:rPr sz="1250" b="0" i="0">
                <a:solidFill>
                  <a:srgbClr val="E6ECF7"/>
                </a:solidFill>
                <a:latin typeface="Arial"/>
              </a:rPr>
              <a:t>tell anyone whether the agent still works</a:t>
            </a:r>
          </a:p>
        </p:txBody>
      </p:sp>
      <p:sp>
        <p:nvSpPr>
          <p:cNvPr id="16" name="TextBox 15"/>
          <p:cNvSpPr txBox="1"/>
          <p:nvPr/>
        </p:nvSpPr>
        <p:spPr>
          <a:xfrm>
            <a:off x="566928" y="4389120"/>
            <a:ext cx="11055096" cy="1920240"/>
          </a:xfrm>
          <a:prstGeom prst="rect">
            <a:avLst/>
          </a:prstGeom>
          <a:noFill/>
        </p:spPr>
        <p:txBody>
          <a:bodyPr wrap="square" lIns="0" tIns="0" rIns="0" bIns="0">
            <a:spAutoFit/>
          </a:bodyPr>
          <a:lstStyle/>
          <a:p>
            <a:pPr>
              <a:lnSpc>
                <a:spcPct val="116000"/>
              </a:lnSpc>
              <a:spcAft>
                <a:spcPts val="600"/>
              </a:spcAft>
            </a:pPr>
            <a:r>
              <a:rPr sz="1350" b="0" i="0">
                <a:solidFill>
                  <a:srgbClr val="E6ECF7"/>
                </a:solidFill>
                <a:latin typeface="Arial"/>
              </a:rPr>
              <a:t>That work arrives later — sometimes weeks after the part that felt like the job. It lands on us, and it lands again with the next team.</a:t>
            </a:r>
          </a:p>
          <a:p>
            <a:pPr>
              <a:lnSpc>
                <a:spcPct val="116000"/>
              </a:lnSpc>
              <a:spcBef>
                <a:spcPts val="900"/>
              </a:spcBef>
              <a:spcAft>
                <a:spcPts val="600"/>
              </a:spcAft>
            </a:pPr>
            <a:r>
              <a:rPr sz="1400" b="1" i="0">
                <a:solidFill>
                  <a:srgbClr val="29D3E0"/>
                </a:solidFill>
                <a:latin typeface="Arial"/>
              </a:rPr>
              <a:t>Two questions for today</a:t>
            </a:r>
          </a:p>
          <a:p>
            <a:pPr>
              <a:lnSpc>
                <a:spcPct val="116000"/>
              </a:lnSpc>
              <a:spcAft>
                <a:spcPts val="600"/>
              </a:spcAft>
            </a:pPr>
            <a:r>
              <a:rPr sz="1350">
                <a:solidFill>
                  <a:srgbClr val="29D3E0"/>
                </a:solidFill>
                <a:latin typeface="Arial"/>
              </a:rPr>
              <a:t>▸  </a:t>
            </a:r>
            <a:r>
              <a:rPr sz="1350" b="0" i="0">
                <a:solidFill>
                  <a:srgbClr val="E6ECF7"/>
                </a:solidFill>
                <a:latin typeface="Arial"/>
              </a:rPr>
              <a:t>Does that repeated work justify a platform used by several teams?</a:t>
            </a:r>
          </a:p>
          <a:p>
            <a:pPr>
              <a:lnSpc>
                <a:spcPct val="116000"/>
              </a:lnSpc>
              <a:spcAft>
                <a:spcPts val="600"/>
              </a:spcAft>
            </a:pPr>
            <a:r>
              <a:rPr sz="1350">
                <a:solidFill>
                  <a:srgbClr val="29D3E0"/>
                </a:solidFill>
                <a:latin typeface="Arial"/>
              </a:rPr>
              <a:t>▸  </a:t>
            </a:r>
            <a:r>
              <a:rPr sz="1350" b="0" i="0">
                <a:solidFill>
                  <a:srgbClr val="E6ECF7"/>
                </a:solidFill>
                <a:latin typeface="Arial"/>
              </a:rPr>
              <a:t>If it does, what is the smallest platform that could possibly work?</a:t>
            </a:r>
          </a:p>
          <a:p>
            <a:pPr>
              <a:lnSpc>
                <a:spcPct val="116000"/>
              </a:lnSpc>
              <a:spcAft>
                <a:spcPts val="600"/>
              </a:spcAft>
            </a:pPr>
            <a:r>
              <a:rPr sz="1350" b="0" i="0">
                <a:solidFill>
                  <a:srgbClr val="E6ECF7"/>
                </a:solidFill>
                <a:latin typeface="Arial"/>
              </a:rPr>
              <a:t>This is an introduction to how far I got. I am looking for reactions and disagreement, not a decision.</a:t>
            </a:r>
          </a:p>
          <a:p>
            <a:pPr>
              <a:lnSpc>
                <a:spcPct val="116000"/>
              </a:lnSpc>
              <a:spcAft>
                <a:spcPts val="600"/>
              </a:spcAft>
            </a:pPr>
            <a:r>
              <a:rPr sz="1200" b="0" i="1">
                <a:solidFill>
                  <a:srgbClr val="98A4BC"/>
                </a:solidFill>
                <a:latin typeface="Arial"/>
              </a:rPr>
              <a:t>Agent, throughout: software built with LLMs, skills, and integrations with internal or external tools.</a:t>
            </a:r>
          </a:p>
        </p:txBody>
      </p:sp>
      <p:sp>
        <p:nvSpPr>
          <p:cNvPr id="17" name="TextBox 16"/>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An introduction · looking for input, not a decision</a:t>
            </a:r>
          </a:p>
        </p:txBody>
      </p:sp>
      <p:sp>
        <p:nvSpPr>
          <p:cNvPr id="18" name="TextBox 17"/>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2 · WHEN IT BECOMES A PLATFORM PROBLEM</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No single request is a platform problem</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89888"/>
            <a:ext cx="11055096" cy="1645920"/>
          </a:xfrm>
          <a:prstGeom prst="rect">
            <a:avLst/>
          </a:prstGeom>
          <a:noFill/>
        </p:spPr>
        <p:txBody>
          <a:bodyPr wrap="square" lIns="0" tIns="0" rIns="0" bIns="0">
            <a:spAutoFit/>
          </a:bodyPr>
          <a:lstStyle/>
          <a:p>
            <a:pPr>
              <a:lnSpc>
                <a:spcPct val="116000"/>
              </a:lnSpc>
              <a:spcAft>
                <a:spcPts val="700"/>
              </a:spcAft>
            </a:pPr>
            <a:r>
              <a:rPr sz="1500" b="0" i="0">
                <a:solidFill>
                  <a:srgbClr val="E6ECF7"/>
                </a:solidFill>
                <a:latin typeface="Arial"/>
              </a:rPr>
              <a:t>A collection of experiments does not become a platform problem just because the experiments use AI.</a:t>
            </a:r>
          </a:p>
          <a:p>
            <a:pPr>
              <a:lnSpc>
                <a:spcPct val="116000"/>
              </a:lnSpc>
              <a:spcAft>
                <a:spcPts val="700"/>
              </a:spcAft>
            </a:pPr>
            <a:r>
              <a:rPr sz="1350" b="0" i="0">
                <a:solidFill>
                  <a:srgbClr val="E6ECF7"/>
                </a:solidFill>
                <a:latin typeface="Arial"/>
              </a:rPr>
              <a:t>It becomes a platform problem when several teams repeatedly need the </a:t>
            </a:r>
            <a:r>
              <a:rPr sz="1350" b="1" i="0">
                <a:solidFill>
                  <a:srgbClr val="E6ECF7"/>
                </a:solidFill>
                <a:latin typeface="Arial"/>
              </a:rPr>
              <a:t>same</a:t>
            </a:r>
            <a:r>
              <a:rPr sz="1350" b="0" i="0">
                <a:solidFill>
                  <a:srgbClr val="E6ECF7"/>
                </a:solidFill>
                <a:latin typeface="Arial"/>
              </a:rPr>
              <a:t> access controls, cost attribution, evaluation, observability, or audit evidence — and solving each case separately creates more work, inconsistent controls, or unnecessary risk.</a:t>
            </a:r>
          </a:p>
          <a:p>
            <a:pPr>
              <a:lnSpc>
                <a:spcPct val="116000"/>
              </a:lnSpc>
              <a:spcBef>
                <a:spcPts val="900"/>
              </a:spcBef>
              <a:spcAft>
                <a:spcPts val="700"/>
              </a:spcAft>
            </a:pPr>
            <a:r>
              <a:rPr sz="1400" b="1" i="0">
                <a:solidFill>
                  <a:srgbClr val="29D3E0"/>
                </a:solidFill>
                <a:latin typeface="Arial"/>
              </a:rPr>
              <a:t>The test is not how much AI activity we have</a:t>
            </a:r>
          </a:p>
        </p:txBody>
      </p:sp>
      <p:sp>
        <p:nvSpPr>
          <p:cNvPr id="6" name="Rounded Rectangle 5"/>
          <p:cNvSpPr/>
          <p:nvPr/>
        </p:nvSpPr>
        <p:spPr>
          <a:xfrm>
            <a:off x="566928" y="3054096"/>
            <a:ext cx="3570122" cy="96926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66928" y="3145536"/>
            <a:ext cx="38100" cy="786384"/>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3182112"/>
            <a:ext cx="3131210" cy="749808"/>
          </a:xfrm>
          <a:prstGeom prst="rect">
            <a:avLst/>
          </a:prstGeom>
          <a:noFill/>
        </p:spPr>
        <p:txBody>
          <a:bodyPr wrap="square" lIns="0" tIns="0" rIns="0" bIns="0">
            <a:spAutoFit/>
          </a:bodyPr>
          <a:lstStyle/>
          <a:p>
            <a:pPr>
              <a:lnSpc>
                <a:spcPct val="116000"/>
              </a:lnSpc>
              <a:spcAft>
                <a:spcPts val="300"/>
              </a:spcAft>
            </a:pPr>
            <a:r>
              <a:rPr sz="1300" b="0" i="0">
                <a:solidFill>
                  <a:srgbClr val="E6ECF7"/>
                </a:solidFill>
                <a:latin typeface="Arial"/>
              </a:rPr>
              <a:t>Does the same problem keep appearing?</a:t>
            </a:r>
          </a:p>
        </p:txBody>
      </p:sp>
      <p:sp>
        <p:nvSpPr>
          <p:cNvPr id="9" name="Rounded Rectangle 8"/>
          <p:cNvSpPr/>
          <p:nvPr/>
        </p:nvSpPr>
        <p:spPr>
          <a:xfrm>
            <a:off x="4310786" y="3054096"/>
            <a:ext cx="3570122" cy="96926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4310786" y="3145536"/>
            <a:ext cx="38100" cy="78638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48530" y="3182112"/>
            <a:ext cx="3131210" cy="749808"/>
          </a:xfrm>
          <a:prstGeom prst="rect">
            <a:avLst/>
          </a:prstGeom>
          <a:noFill/>
        </p:spPr>
        <p:txBody>
          <a:bodyPr wrap="square" lIns="0" tIns="0" rIns="0" bIns="0">
            <a:spAutoFit/>
          </a:bodyPr>
          <a:lstStyle/>
          <a:p>
            <a:pPr>
              <a:lnSpc>
                <a:spcPct val="116000"/>
              </a:lnSpc>
              <a:spcAft>
                <a:spcPts val="300"/>
              </a:spcAft>
            </a:pPr>
            <a:r>
              <a:rPr sz="1300" b="0" i="0">
                <a:solidFill>
                  <a:srgbClr val="E6ECF7"/>
                </a:solidFill>
                <a:latin typeface="Arial"/>
              </a:rPr>
              <a:t>What happens if we ignore it?</a:t>
            </a:r>
          </a:p>
        </p:txBody>
      </p:sp>
      <p:sp>
        <p:nvSpPr>
          <p:cNvPr id="12" name="Rounded Rectangle 11"/>
          <p:cNvSpPr/>
          <p:nvPr/>
        </p:nvSpPr>
        <p:spPr>
          <a:xfrm>
            <a:off x="8054644" y="3054096"/>
            <a:ext cx="3570122" cy="96926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054644" y="3145536"/>
            <a:ext cx="38100" cy="786384"/>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2388" y="3182112"/>
            <a:ext cx="3131210" cy="749808"/>
          </a:xfrm>
          <a:prstGeom prst="rect">
            <a:avLst/>
          </a:prstGeom>
          <a:noFill/>
        </p:spPr>
        <p:txBody>
          <a:bodyPr wrap="square" lIns="0" tIns="0" rIns="0" bIns="0">
            <a:spAutoFit/>
          </a:bodyPr>
          <a:lstStyle/>
          <a:p>
            <a:pPr>
              <a:lnSpc>
                <a:spcPct val="116000"/>
              </a:lnSpc>
              <a:spcAft>
                <a:spcPts val="300"/>
              </a:spcAft>
            </a:pPr>
            <a:r>
              <a:rPr sz="1300" b="0" i="0">
                <a:solidFill>
                  <a:srgbClr val="E6ECF7"/>
                </a:solidFill>
                <a:latin typeface="Arial"/>
              </a:rPr>
              <a:t>Would solving it once for several teams remove more work than it creates?</a:t>
            </a:r>
          </a:p>
        </p:txBody>
      </p:sp>
      <p:sp>
        <p:nvSpPr>
          <p:cNvPr id="15" name="Rectangle 14"/>
          <p:cNvSpPr/>
          <p:nvPr/>
        </p:nvSpPr>
        <p:spPr>
          <a:xfrm>
            <a:off x="566928" y="4590288"/>
            <a:ext cx="38100" cy="82296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 y="4590288"/>
            <a:ext cx="10853928" cy="822960"/>
          </a:xfrm>
          <a:prstGeom prst="rect">
            <a:avLst/>
          </a:prstGeom>
          <a:noFill/>
        </p:spPr>
        <p:txBody>
          <a:bodyPr wrap="square" lIns="0" tIns="0" rIns="0" bIns="0" anchor="ctr">
            <a:spAutoFit/>
          </a:bodyPr>
          <a:lstStyle/>
          <a:p>
            <a:pPr>
              <a:lnSpc>
                <a:spcPct val="120000"/>
              </a:lnSpc>
            </a:pPr>
            <a:r>
              <a:rPr sz="1450" b="0" i="1">
                <a:solidFill>
                  <a:srgbClr val="E6ECF7"/>
                </a:solidFill>
                <a:latin typeface="Georgia"/>
              </a:rPr>
              <a:t>Even when the answer is yes, the answer may be to extend a platform we already own. A dedicated AI platform is justified only when our existing systems cannot solve the repeated problem without every team rebuilding the same AI-specific parts.</a:t>
            </a:r>
          </a:p>
        </p:txBody>
      </p:sp>
      <p:sp>
        <p:nvSpPr>
          <p:cNvPr id="17" name="TextBox 16"/>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when it becomes a platform problem</a:t>
            </a:r>
          </a:p>
        </p:txBody>
      </p:sp>
      <p:sp>
        <p:nvSpPr>
          <p:cNvPr id="18" name="TextBox 17"/>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3 · THE EVIDENCE</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What is actually repeating for us</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389888"/>
            <a:ext cx="5431536" cy="261518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66928" y="1481328"/>
            <a:ext cx="38100" cy="243230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72768"/>
            <a:ext cx="4956048" cy="2377440"/>
          </a:xfrm>
          <a:prstGeom prst="rect">
            <a:avLst/>
          </a:prstGeom>
          <a:noFill/>
        </p:spPr>
        <p:txBody>
          <a:bodyPr wrap="square" lIns="0" tIns="0" rIns="0" bIns="0">
            <a:spAutoFit/>
          </a:bodyPr>
          <a:lstStyle/>
          <a:p>
            <a:pPr>
              <a:lnSpc>
                <a:spcPct val="116000"/>
              </a:lnSpc>
              <a:spcBef>
                <a:spcPts val="900"/>
              </a:spcBef>
              <a:spcAft>
                <a:spcPts val="600"/>
              </a:spcAft>
            </a:pPr>
            <a:r>
              <a:rPr sz="1300" b="1" i="0">
                <a:solidFill>
                  <a:srgbClr val="29D3E0"/>
                </a:solidFill>
                <a:latin typeface="Arial"/>
              </a:rPr>
              <a:t>Deployment support repeats</a:t>
            </a:r>
          </a:p>
          <a:p>
            <a:pPr>
              <a:lnSpc>
                <a:spcPct val="116000"/>
              </a:lnSpc>
              <a:spcAft>
                <a:spcPts val="600"/>
              </a:spcAft>
            </a:pPr>
            <a:r>
              <a:rPr sz="1250" b="0" i="0">
                <a:solidFill>
                  <a:srgbClr val="E6ECF7"/>
                </a:solidFill>
                <a:latin typeface="Arial"/>
              </a:rPr>
              <a:t>Analysts and product managers build something with a coding agent — often a dashboard. It works on their machine. Making it available to others means the company runtime and the service contract in the developer portal, which still requires engineering experience.</a:t>
            </a:r>
          </a:p>
          <a:p>
            <a:pPr>
              <a:lnSpc>
                <a:spcPct val="116000"/>
              </a:lnSpc>
              <a:spcAft>
                <a:spcPts val="600"/>
              </a:spcAft>
            </a:pPr>
            <a:r>
              <a:rPr sz="1250" b="0" i="0">
                <a:solidFill>
                  <a:srgbClr val="E6ECF7"/>
                </a:solidFill>
                <a:latin typeface="Arial"/>
              </a:rPr>
              <a:t>So we help. Manually. Again.</a:t>
            </a:r>
          </a:p>
          <a:p>
            <a:pPr>
              <a:lnSpc>
                <a:spcPct val="116000"/>
              </a:lnSpc>
              <a:spcAft>
                <a:spcPts val="600"/>
              </a:spcAft>
            </a:pPr>
            <a:r>
              <a:rPr sz="1100" b="0" i="1">
                <a:solidFill>
                  <a:srgbClr val="98A4BC"/>
                </a:solidFill>
                <a:latin typeface="Arial"/>
              </a:rPr>
              <a:t>Signal: the same setup and translation work returns with every new builder.</a:t>
            </a:r>
          </a:p>
        </p:txBody>
      </p:sp>
      <p:sp>
        <p:nvSpPr>
          <p:cNvPr id="8" name="Rounded Rectangle 7"/>
          <p:cNvSpPr/>
          <p:nvPr/>
        </p:nvSpPr>
        <p:spPr>
          <a:xfrm>
            <a:off x="6190488" y="1389888"/>
            <a:ext cx="5431536" cy="261518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6190488" y="1481328"/>
            <a:ext cx="38100" cy="2432304"/>
          </a:xfrm>
          <a:prstGeom prst="rect">
            <a:avLst/>
          </a:prstGeom>
          <a:solidFill>
            <a:srgbClr val="8B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572768"/>
            <a:ext cx="4956048" cy="2377440"/>
          </a:xfrm>
          <a:prstGeom prst="rect">
            <a:avLst/>
          </a:prstGeom>
          <a:noFill/>
        </p:spPr>
        <p:txBody>
          <a:bodyPr wrap="square" lIns="0" tIns="0" rIns="0" bIns="0">
            <a:spAutoFit/>
          </a:bodyPr>
          <a:lstStyle/>
          <a:p>
            <a:pPr>
              <a:lnSpc>
                <a:spcPct val="116000"/>
              </a:lnSpc>
              <a:spcBef>
                <a:spcPts val="900"/>
              </a:spcBef>
              <a:spcAft>
                <a:spcPts val="600"/>
              </a:spcAft>
            </a:pPr>
            <a:r>
              <a:rPr sz="1300" b="1" i="0">
                <a:solidFill>
                  <a:srgbClr val="29D3E0"/>
                </a:solidFill>
                <a:latin typeface="Arial"/>
              </a:rPr>
              <a:t>Access without controls repeats</a:t>
            </a:r>
          </a:p>
          <a:p>
            <a:pPr>
              <a:lnSpc>
                <a:spcPct val="116000"/>
              </a:lnSpc>
              <a:spcAft>
                <a:spcPts val="600"/>
              </a:spcAft>
            </a:pPr>
            <a:r>
              <a:rPr sz="1250" b="0" i="0">
                <a:solidFill>
                  <a:srgbClr val="E6ECF7"/>
                </a:solidFill>
                <a:latin typeface="Arial"/>
              </a:rPr>
              <a:t>Engineers build AI-powered Slack apps and ask for an LLM key. The request itself is cheap. The key answers none of the operational questions from slide 1.</a:t>
            </a:r>
          </a:p>
          <a:p>
            <a:pPr>
              <a:lnSpc>
                <a:spcPct val="116000"/>
              </a:lnSpc>
              <a:spcAft>
                <a:spcPts val="600"/>
              </a:spcAft>
            </a:pPr>
            <a:r>
              <a:rPr sz="1100" b="0" i="1">
                <a:solidFill>
                  <a:srgbClr val="98A4BC"/>
                </a:solidFill>
                <a:latin typeface="Arial"/>
              </a:rPr>
              <a:t>Signal: easy access creates the same unanswered questions every time.</a:t>
            </a:r>
          </a:p>
        </p:txBody>
      </p:sp>
      <p:sp>
        <p:nvSpPr>
          <p:cNvPr id="11" name="TextBox 10"/>
          <p:cNvSpPr txBox="1"/>
          <p:nvPr/>
        </p:nvSpPr>
        <p:spPr>
          <a:xfrm>
            <a:off x="566928" y="4224528"/>
            <a:ext cx="11055096" cy="1097280"/>
          </a:xfrm>
          <a:prstGeom prst="rect">
            <a:avLst/>
          </a:prstGeom>
          <a:noFill/>
        </p:spPr>
        <p:txBody>
          <a:bodyPr wrap="square" lIns="0" tIns="0" rIns="0" bIns="0">
            <a:spAutoFit/>
          </a:bodyPr>
          <a:lstStyle/>
          <a:p>
            <a:pPr>
              <a:lnSpc>
                <a:spcPct val="116000"/>
              </a:lnSpc>
              <a:spcBef>
                <a:spcPts val="900"/>
              </a:spcBef>
              <a:spcAft>
                <a:spcPts val="700"/>
              </a:spcAft>
            </a:pPr>
            <a:r>
              <a:rPr sz="1350" b="1" i="0">
                <a:solidFill>
                  <a:srgbClr val="29D3E0"/>
                </a:solidFill>
                <a:latin typeface="Arial"/>
              </a:rPr>
              <a:t>Where we already stand</a:t>
            </a:r>
          </a:p>
          <a:p>
            <a:pPr>
              <a:lnSpc>
                <a:spcPct val="116000"/>
              </a:lnSpc>
              <a:spcAft>
                <a:spcPts val="700"/>
              </a:spcAft>
            </a:pPr>
            <a:r>
              <a:rPr sz="1300" b="0" i="0">
                <a:solidFill>
                  <a:srgbClr val="E6ECF7"/>
                </a:solidFill>
                <a:latin typeface="Arial"/>
              </a:rPr>
              <a:t>The AI Playground removes part of the first pattern: a person names an agent in the developer portal and receives a repository with a working agent deployed to test, plus a starter prompt for a coding agent. What it removes is the repeated setup, the allowed technologies, and the practices we want people to inherit as skills.</a:t>
            </a:r>
          </a:p>
        </p:txBody>
      </p:sp>
      <p:sp>
        <p:nvSpPr>
          <p:cNvPr id="12" name="Rectangle 11"/>
          <p:cNvSpPr/>
          <p:nvPr/>
        </p:nvSpPr>
        <p:spPr>
          <a:xfrm>
            <a:off x="566928" y="5468112"/>
            <a:ext cx="38100" cy="73152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5468112"/>
            <a:ext cx="10853928" cy="731520"/>
          </a:xfrm>
          <a:prstGeom prst="rect">
            <a:avLst/>
          </a:prstGeom>
          <a:noFill/>
        </p:spPr>
        <p:txBody>
          <a:bodyPr wrap="square" lIns="0" tIns="0" rIns="0" bIns="0" anchor="ctr">
            <a:spAutoFit/>
          </a:bodyPr>
          <a:lstStyle/>
          <a:p>
            <a:pPr>
              <a:lnSpc>
                <a:spcPct val="120000"/>
              </a:lnSpc>
            </a:pPr>
            <a:r>
              <a:rPr sz="1400" b="0" i="1">
                <a:solidFill>
                  <a:srgbClr val="E6ECF7"/>
                </a:solidFill>
                <a:latin typeface="Georgia"/>
              </a:rPr>
              <a:t>Pattern one was real, and a template was the right size of answer for it. Pattern two is still open — and it is the one producing the questions from finance, compliance, and incident response.</a:t>
            </a:r>
          </a:p>
        </p:txBody>
      </p:sp>
      <p:sp>
        <p:nvSpPr>
          <p:cNvPr id="14" name="TextBox 13"/>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the evidence</a:t>
            </a:r>
          </a:p>
        </p:txBody>
      </p:sp>
      <p:sp>
        <p:nvSpPr>
          <p:cNvPr id="15" name="TextBox 14"/>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4 · THE DISCIPLINE</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Build less than you think you need</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389888"/>
            <a:ext cx="38100" cy="74980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389888"/>
            <a:ext cx="10853928" cy="749808"/>
          </a:xfrm>
          <a:prstGeom prst="rect">
            <a:avLst/>
          </a:prstGeom>
          <a:noFill/>
        </p:spPr>
        <p:txBody>
          <a:bodyPr wrap="square" lIns="0" tIns="0" rIns="0" bIns="0" anchor="ctr">
            <a:spAutoFit/>
          </a:bodyPr>
          <a:lstStyle/>
          <a:p>
            <a:pPr>
              <a:lnSpc>
                <a:spcPct val="120000"/>
              </a:lnSpc>
            </a:pPr>
            <a:r>
              <a:rPr sz="1500" b="0" i="1">
                <a:solidFill>
                  <a:srgbClr val="E6ECF7"/>
                </a:solidFill>
                <a:latin typeface="Georgia"/>
              </a:rPr>
              <a:t>The order matters. Documentation → convention → template, library, or CLI → managed service. Build the service only when the simpler interventions cannot remove the repeated work.</a:t>
            </a:r>
          </a:p>
        </p:txBody>
      </p:sp>
      <p:sp>
        <p:nvSpPr>
          <p:cNvPr id="7" name="Rounded Rectangle 6"/>
          <p:cNvSpPr/>
          <p:nvPr/>
        </p:nvSpPr>
        <p:spPr>
          <a:xfrm>
            <a:off x="566928" y="2377440"/>
            <a:ext cx="2615184" cy="676656"/>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66928" y="2468880"/>
            <a:ext cx="38100" cy="493776"/>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505456"/>
            <a:ext cx="2212848" cy="457200"/>
          </a:xfrm>
          <a:prstGeom prst="rect">
            <a:avLst/>
          </a:prstGeom>
          <a:noFill/>
        </p:spPr>
        <p:txBody>
          <a:bodyPr wrap="square" lIns="0" tIns="0" rIns="0" bIns="0">
            <a:spAutoFit/>
          </a:bodyPr>
          <a:lstStyle/>
          <a:p>
            <a:r>
              <a:rPr sz="1250" b="1" i="0">
                <a:solidFill>
                  <a:srgbClr val="E6ECF7"/>
                </a:solidFill>
                <a:latin typeface="Arial"/>
              </a:rPr>
              <a:t>Documentation</a:t>
            </a:r>
          </a:p>
        </p:txBody>
      </p:sp>
      <p:sp>
        <p:nvSpPr>
          <p:cNvPr id="10" name="TextBox 9"/>
          <p:cNvSpPr txBox="1"/>
          <p:nvPr/>
        </p:nvSpPr>
        <p:spPr>
          <a:xfrm>
            <a:off x="3200400" y="2542032"/>
            <a:ext cx="182880" cy="274320"/>
          </a:xfrm>
          <a:prstGeom prst="rect">
            <a:avLst/>
          </a:prstGeom>
          <a:noFill/>
        </p:spPr>
        <p:txBody>
          <a:bodyPr wrap="square" lIns="0" tIns="0" rIns="0" bIns="0">
            <a:spAutoFit/>
          </a:bodyPr>
          <a:lstStyle/>
          <a:p>
            <a:r>
              <a:rPr sz="1300" b="0" i="0">
                <a:solidFill>
                  <a:srgbClr val="6B7891"/>
                </a:solidFill>
                <a:latin typeface="Arial"/>
              </a:rPr>
              <a:t>→</a:t>
            </a:r>
          </a:p>
        </p:txBody>
      </p:sp>
      <p:sp>
        <p:nvSpPr>
          <p:cNvPr id="11" name="Rounded Rectangle 10"/>
          <p:cNvSpPr/>
          <p:nvPr/>
        </p:nvSpPr>
        <p:spPr>
          <a:xfrm>
            <a:off x="3374136" y="2377440"/>
            <a:ext cx="2615184" cy="676656"/>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374136" y="2468880"/>
            <a:ext cx="38100" cy="49377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2505456"/>
            <a:ext cx="2212848" cy="457200"/>
          </a:xfrm>
          <a:prstGeom prst="rect">
            <a:avLst/>
          </a:prstGeom>
          <a:noFill/>
        </p:spPr>
        <p:txBody>
          <a:bodyPr wrap="square" lIns="0" tIns="0" rIns="0" bIns="0">
            <a:spAutoFit/>
          </a:bodyPr>
          <a:lstStyle/>
          <a:p>
            <a:r>
              <a:rPr sz="1250" b="1" i="0">
                <a:solidFill>
                  <a:srgbClr val="E6ECF7"/>
                </a:solidFill>
                <a:latin typeface="Arial"/>
              </a:rPr>
              <a:t>Convention</a:t>
            </a:r>
          </a:p>
        </p:txBody>
      </p:sp>
      <p:sp>
        <p:nvSpPr>
          <p:cNvPr id="14" name="TextBox 13"/>
          <p:cNvSpPr txBox="1"/>
          <p:nvPr/>
        </p:nvSpPr>
        <p:spPr>
          <a:xfrm>
            <a:off x="6007608" y="2542032"/>
            <a:ext cx="182880" cy="274320"/>
          </a:xfrm>
          <a:prstGeom prst="rect">
            <a:avLst/>
          </a:prstGeom>
          <a:noFill/>
        </p:spPr>
        <p:txBody>
          <a:bodyPr wrap="square" lIns="0" tIns="0" rIns="0" bIns="0">
            <a:spAutoFit/>
          </a:bodyPr>
          <a:lstStyle/>
          <a:p>
            <a:r>
              <a:rPr sz="1300" b="0" i="0">
                <a:solidFill>
                  <a:srgbClr val="6B7891"/>
                </a:solidFill>
                <a:latin typeface="Arial"/>
              </a:rPr>
              <a:t>→</a:t>
            </a:r>
          </a:p>
        </p:txBody>
      </p:sp>
      <p:sp>
        <p:nvSpPr>
          <p:cNvPr id="15" name="Rounded Rectangle 14"/>
          <p:cNvSpPr/>
          <p:nvPr/>
        </p:nvSpPr>
        <p:spPr>
          <a:xfrm>
            <a:off x="6181344" y="2377440"/>
            <a:ext cx="2615184" cy="676656"/>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181344" y="2468880"/>
            <a:ext cx="38100" cy="4937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505456"/>
            <a:ext cx="2212848" cy="457200"/>
          </a:xfrm>
          <a:prstGeom prst="rect">
            <a:avLst/>
          </a:prstGeom>
          <a:noFill/>
        </p:spPr>
        <p:txBody>
          <a:bodyPr wrap="square" lIns="0" tIns="0" rIns="0" bIns="0">
            <a:spAutoFit/>
          </a:bodyPr>
          <a:lstStyle/>
          <a:p>
            <a:r>
              <a:rPr sz="1250" b="1" i="0">
                <a:solidFill>
                  <a:srgbClr val="E6ECF7"/>
                </a:solidFill>
                <a:latin typeface="Arial"/>
              </a:rPr>
              <a:t>Template · library · CLI</a:t>
            </a:r>
          </a:p>
        </p:txBody>
      </p:sp>
      <p:sp>
        <p:nvSpPr>
          <p:cNvPr id="18" name="TextBox 17"/>
          <p:cNvSpPr txBox="1"/>
          <p:nvPr/>
        </p:nvSpPr>
        <p:spPr>
          <a:xfrm>
            <a:off x="8814816" y="2542032"/>
            <a:ext cx="182880" cy="274320"/>
          </a:xfrm>
          <a:prstGeom prst="rect">
            <a:avLst/>
          </a:prstGeom>
          <a:noFill/>
        </p:spPr>
        <p:txBody>
          <a:bodyPr wrap="square" lIns="0" tIns="0" rIns="0" bIns="0">
            <a:spAutoFit/>
          </a:bodyPr>
          <a:lstStyle/>
          <a:p>
            <a:r>
              <a:rPr sz="1300" b="0" i="0">
                <a:solidFill>
                  <a:srgbClr val="6B7891"/>
                </a:solidFill>
                <a:latin typeface="Arial"/>
              </a:rPr>
              <a:t>→</a:t>
            </a:r>
          </a:p>
        </p:txBody>
      </p:sp>
      <p:sp>
        <p:nvSpPr>
          <p:cNvPr id="19" name="Rounded Rectangle 18"/>
          <p:cNvSpPr/>
          <p:nvPr/>
        </p:nvSpPr>
        <p:spPr>
          <a:xfrm>
            <a:off x="8988552" y="2377440"/>
            <a:ext cx="2615184" cy="676656"/>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988552" y="2468880"/>
            <a:ext cx="38100" cy="493776"/>
          </a:xfrm>
          <a:prstGeom prst="rect">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26296" y="2505456"/>
            <a:ext cx="2212848" cy="457200"/>
          </a:xfrm>
          <a:prstGeom prst="rect">
            <a:avLst/>
          </a:prstGeom>
          <a:noFill/>
        </p:spPr>
        <p:txBody>
          <a:bodyPr wrap="square" lIns="0" tIns="0" rIns="0" bIns="0">
            <a:spAutoFit/>
          </a:bodyPr>
          <a:lstStyle/>
          <a:p>
            <a:r>
              <a:rPr sz="1250" b="1" i="0">
                <a:solidFill>
                  <a:srgbClr val="E6ECF7"/>
                </a:solidFill>
                <a:latin typeface="Arial"/>
              </a:rPr>
              <a:t>Managed service</a:t>
            </a:r>
          </a:p>
        </p:txBody>
      </p:sp>
      <p:sp>
        <p:nvSpPr>
          <p:cNvPr id="22" name="TextBox 21"/>
          <p:cNvSpPr txBox="1"/>
          <p:nvPr/>
        </p:nvSpPr>
        <p:spPr>
          <a:xfrm>
            <a:off x="9226296" y="3090672"/>
            <a:ext cx="2615184" cy="274320"/>
          </a:xfrm>
          <a:prstGeom prst="rect">
            <a:avLst/>
          </a:prstGeom>
          <a:noFill/>
        </p:spPr>
        <p:txBody>
          <a:bodyPr wrap="square" lIns="0" tIns="0" rIns="0" bIns="0">
            <a:spAutoFit/>
          </a:bodyPr>
          <a:lstStyle/>
          <a:p>
            <a:r>
              <a:rPr sz="1000" b="0" i="1">
                <a:solidFill>
                  <a:srgbClr val="E06C6C"/>
                </a:solidFill>
                <a:latin typeface="Arial"/>
              </a:rPr>
              <a:t>expensive · last resort</a:t>
            </a:r>
          </a:p>
        </p:txBody>
      </p:sp>
      <p:sp>
        <p:nvSpPr>
          <p:cNvPr id="23" name="TextBox 22"/>
          <p:cNvSpPr txBox="1"/>
          <p:nvPr/>
        </p:nvSpPr>
        <p:spPr>
          <a:xfrm>
            <a:off x="566928" y="3419856"/>
            <a:ext cx="11055096" cy="914400"/>
          </a:xfrm>
          <a:prstGeom prst="rect">
            <a:avLst/>
          </a:prstGeom>
          <a:noFill/>
        </p:spPr>
        <p:txBody>
          <a:bodyPr wrap="square" lIns="0" tIns="0" rIns="0" bIns="0">
            <a:spAutoFit/>
          </a:bodyPr>
          <a:lstStyle/>
          <a:p>
            <a:pPr>
              <a:lnSpc>
                <a:spcPct val="116000"/>
              </a:lnSpc>
              <a:spcAft>
                <a:spcPts val="700"/>
              </a:spcAft>
            </a:pPr>
            <a:r>
              <a:rPr sz="1300" b="0" i="0">
                <a:solidFill>
                  <a:srgbClr val="E6ECF7"/>
                </a:solidFill>
                <a:latin typeface="Arial"/>
              </a:rPr>
              <a:t>Teams also repeat work because they are still learning. Centralizing too early turns experiments into a service nobody needs. Before building a shared service, ask whether the repeated work can be </a:t>
            </a:r>
            <a:r>
              <a:rPr sz="1300" b="1" i="0">
                <a:solidFill>
                  <a:srgbClr val="E6ECF7"/>
                </a:solidFill>
                <a:latin typeface="Arial"/>
              </a:rPr>
              <a:t>removed</a:t>
            </a:r>
            <a:r>
              <a:rPr sz="1300" b="0" i="0">
                <a:solidFill>
                  <a:srgbClr val="E6ECF7"/>
                </a:solidFill>
                <a:latin typeface="Arial"/>
              </a:rPr>
              <a:t> rather than served — the apparent platform problem may be unclear ownership, missing training, or a workflow that should not exist.</a:t>
            </a:r>
          </a:p>
        </p:txBody>
      </p:sp>
      <p:sp>
        <p:nvSpPr>
          <p:cNvPr id="24" name="Rounded Rectangle 23"/>
          <p:cNvSpPr/>
          <p:nvPr/>
        </p:nvSpPr>
        <p:spPr>
          <a:xfrm>
            <a:off x="566928" y="4169663"/>
            <a:ext cx="11055096" cy="157276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66928" y="4261103"/>
            <a:ext cx="38100" cy="1389888"/>
          </a:xfrm>
          <a:prstGeom prst="rect">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4261104"/>
            <a:ext cx="10515600" cy="1371600"/>
          </a:xfrm>
          <a:prstGeom prst="rect">
            <a:avLst/>
          </a:prstGeom>
          <a:noFill/>
        </p:spPr>
        <p:txBody>
          <a:bodyPr wrap="square" lIns="0" tIns="0" rIns="0" bIns="0">
            <a:spAutoFit/>
          </a:bodyPr>
          <a:lstStyle/>
          <a:p>
            <a:pPr>
              <a:lnSpc>
                <a:spcPct val="116000"/>
              </a:lnSpc>
              <a:spcBef>
                <a:spcPts val="900"/>
              </a:spcBef>
              <a:spcAft>
                <a:spcPts val="400"/>
              </a:spcAft>
            </a:pPr>
            <a:r>
              <a:rPr sz="1250" b="1" i="0">
                <a:solidFill>
                  <a:srgbClr val="29D3E0"/>
                </a:solidFill>
                <a:latin typeface="Arial"/>
              </a:rPr>
              <a:t>I have paid for getting this wrong — though not with a platform</a:t>
            </a:r>
          </a:p>
          <a:p>
            <a:pPr>
              <a:lnSpc>
                <a:spcPct val="116000"/>
              </a:lnSpc>
              <a:spcAft>
                <a:spcPts val="400"/>
              </a:spcAft>
            </a:pPr>
            <a:r>
              <a:rPr sz="1200" b="0" i="0">
                <a:solidFill>
                  <a:srgbClr val="E6ECF7"/>
                </a:solidFill>
                <a:latin typeface="Arial"/>
              </a:rPr>
              <a:t>Manifold was an AI coding IDE for individual developers. I spent six months of evenings on it, convinced someone needed it. Nobody did. The software was not the problem. The problem was that I treated my own conviction as evidence that the demand existed.</a:t>
            </a:r>
          </a:p>
          <a:p>
            <a:pPr>
              <a:lnSpc>
                <a:spcPct val="116000"/>
              </a:lnSpc>
              <a:spcAft>
                <a:spcPts val="400"/>
              </a:spcAft>
            </a:pPr>
            <a:r>
              <a:rPr sz="1200" b="0" i="0">
                <a:solidFill>
                  <a:srgbClr val="E6ECF7"/>
                </a:solidFill>
                <a:latin typeface="Arial"/>
              </a:rPr>
              <a:t>An internal platform fails the same way, but more quietly. A team that stops using a platform rarely says so — it routes around the platform and keeps working. We keep the mandate and lose the users, so the mandate stops being evidence that anyone needs the thing.</a:t>
            </a:r>
          </a:p>
        </p:txBody>
      </p:sp>
      <p:sp>
        <p:nvSpPr>
          <p:cNvPr id="27" name="Rectangle 26"/>
          <p:cNvSpPr/>
          <p:nvPr/>
        </p:nvSpPr>
        <p:spPr>
          <a:xfrm>
            <a:off x="566928" y="5852160"/>
            <a:ext cx="38100" cy="457200"/>
          </a:xfrm>
          <a:prstGeom prst="rect">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 y="5852160"/>
            <a:ext cx="10853928" cy="457200"/>
          </a:xfrm>
          <a:prstGeom prst="rect">
            <a:avLst/>
          </a:prstGeom>
          <a:noFill/>
        </p:spPr>
        <p:txBody>
          <a:bodyPr wrap="square" lIns="0" tIns="0" rIns="0" bIns="0" anchor="ctr">
            <a:spAutoFit/>
          </a:bodyPr>
          <a:lstStyle/>
          <a:p>
            <a:pPr>
              <a:lnSpc>
                <a:spcPct val="120000"/>
              </a:lnSpc>
            </a:pPr>
            <a:r>
              <a:rPr sz="1250" b="0" i="1">
                <a:solidFill>
                  <a:srgbClr val="E6ECF7"/>
                </a:solidFill>
                <a:latin typeface="Georgia"/>
              </a:rPr>
              <a:t>That is why I no longer trust the sentence "teams need this" when I am the one saying it. Everything after this slide argues for building less than I think is necessary.</a:t>
            </a:r>
          </a:p>
        </p:txBody>
      </p:sp>
      <p:sp>
        <p:nvSpPr>
          <p:cNvPr id="29" name="TextBox 28"/>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the discipline</a:t>
            </a:r>
          </a:p>
        </p:txBody>
      </p:sp>
      <p:sp>
        <p:nvSpPr>
          <p:cNvPr id="30" name="TextBox 29"/>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5 · THE FULL PICTURE</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What a complete AI platform looks like</a:t>
            </a:r>
          </a:p>
        </p:txBody>
      </p:sp>
      <p:sp>
        <p:nvSpPr>
          <p:cNvPr id="4" name="TextBox 3"/>
          <p:cNvSpPr txBox="1"/>
          <p:nvPr/>
        </p:nvSpPr>
        <p:spPr>
          <a:xfrm>
            <a:off x="566928" y="1060704"/>
            <a:ext cx="11055096" cy="292608"/>
          </a:xfrm>
          <a:prstGeom prst="rect">
            <a:avLst/>
          </a:prstGeom>
          <a:noFill/>
        </p:spPr>
        <p:txBody>
          <a:bodyPr wrap="square" lIns="0" tIns="0" rIns="0" bIns="0">
            <a:spAutoFit/>
          </a:bodyPr>
          <a:lstStyle/>
          <a:p>
            <a:r>
              <a:rPr sz="1250" b="0" i="0">
                <a:solidFill>
                  <a:srgbClr val="98A4BC"/>
                </a:solidFill>
                <a:latin typeface="Arial"/>
              </a:rPr>
              <a:t>The picture most of us have in mind when someone says "AI platform" — Build · Run · Govern · Trust</a:t>
            </a:r>
          </a:p>
        </p:txBody>
      </p:sp>
      <p:pic>
        <p:nvPicPr>
          <p:cNvPr id="5" name="Picture 4" descr="AI platform reference architecture. Nine layers from experience down to infrastructure, between a column of users and applications on the left and a trust layer on the right."/>
          <p:cNvPicPr>
            <a:picLocks noChangeAspect="1"/>
          </p:cNvPicPr>
          <p:nvPr/>
        </p:nvPicPr>
        <p:blipFill>
          <a:blip r:embed="rId2"/>
          <a:stretch>
            <a:fillRect/>
          </a:stretch>
        </p:blipFill>
        <p:spPr>
          <a:xfrm>
            <a:off x="566928" y="1444752"/>
            <a:ext cx="7955279" cy="4477685"/>
          </a:xfrm>
          <a:prstGeom prst="rect">
            <a:avLst/>
          </a:prstGeom>
        </p:spPr>
      </p:pic>
      <p:sp>
        <p:nvSpPr>
          <p:cNvPr id="6" name="Rounded Rectangle 5"/>
          <p:cNvSpPr/>
          <p:nvPr/>
        </p:nvSpPr>
        <p:spPr>
          <a:xfrm>
            <a:off x="8796527" y="1444752"/>
            <a:ext cx="2825496" cy="4477685"/>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8796527" y="1536192"/>
            <a:ext cx="38100" cy="4294805"/>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34271" y="1591056"/>
            <a:ext cx="2350008" cy="4203365"/>
          </a:xfrm>
          <a:prstGeom prst="rect">
            <a:avLst/>
          </a:prstGeom>
          <a:noFill/>
        </p:spPr>
        <p:txBody>
          <a:bodyPr wrap="square" lIns="0" tIns="0" rIns="0" bIns="0">
            <a:spAutoFit/>
          </a:bodyPr>
          <a:lstStyle/>
          <a:p>
            <a:pPr>
              <a:lnSpc>
                <a:spcPct val="116000"/>
              </a:lnSpc>
              <a:spcBef>
                <a:spcPts val="900"/>
              </a:spcBef>
              <a:spcAft>
                <a:spcPts val="500"/>
              </a:spcAft>
            </a:pPr>
            <a:r>
              <a:rPr sz="1100" b="1" i="0">
                <a:solidFill>
                  <a:srgbClr val="29D3E0"/>
                </a:solidFill>
                <a:latin typeface="Arial"/>
              </a:rPr>
              <a:t>Nothing here is wrong</a:t>
            </a:r>
          </a:p>
          <a:p>
            <a:pPr>
              <a:lnSpc>
                <a:spcPct val="116000"/>
              </a:lnSpc>
              <a:spcAft>
                <a:spcPts val="500"/>
              </a:spcAft>
            </a:pPr>
            <a:r>
              <a:rPr sz="1050" b="0" i="0">
                <a:solidFill>
                  <a:srgbClr val="E6ECF7"/>
                </a:solidFill>
                <a:latin typeface="Arial"/>
              </a:rPr>
              <a:t>Every box is a real capability that someone has to provide. That is what makes it dangerous as a plan: about forty capabilities, and it reads as a roadmap.</a:t>
            </a:r>
          </a:p>
          <a:p>
            <a:pPr>
              <a:lnSpc>
                <a:spcPct val="116000"/>
              </a:lnSpc>
              <a:spcBef>
                <a:spcPts val="900"/>
              </a:spcBef>
              <a:spcAft>
                <a:spcPts val="500"/>
              </a:spcAft>
            </a:pPr>
            <a:r>
              <a:rPr sz="1100" b="1" i="0">
                <a:solidFill>
                  <a:srgbClr val="29D3E0"/>
                </a:solidFill>
                <a:latin typeface="Arial"/>
              </a:rPr>
              <a:t>So the question is not which layers exist</a:t>
            </a:r>
          </a:p>
          <a:p>
            <a:pPr>
              <a:lnSpc>
                <a:spcPct val="116000"/>
              </a:lnSpc>
              <a:spcAft>
                <a:spcPts val="500"/>
              </a:spcAft>
            </a:pPr>
            <a:r>
              <a:rPr sz="1050">
                <a:solidFill>
                  <a:srgbClr val="29D3E0"/>
                </a:solidFill>
                <a:latin typeface="Arial"/>
              </a:rPr>
              <a:t>▸  </a:t>
            </a:r>
            <a:r>
              <a:rPr sz="1050" b="0" i="0">
                <a:solidFill>
                  <a:srgbClr val="E6ECF7"/>
                </a:solidFill>
                <a:latin typeface="Arial"/>
              </a:rPr>
              <a:t>Which do we already have, under a different name?</a:t>
            </a:r>
          </a:p>
          <a:p>
            <a:pPr>
              <a:lnSpc>
                <a:spcPct val="116000"/>
              </a:lnSpc>
              <a:spcAft>
                <a:spcPts val="500"/>
              </a:spcAft>
            </a:pPr>
            <a:r>
              <a:rPr sz="1050">
                <a:solidFill>
                  <a:srgbClr val="29D3E0"/>
                </a:solidFill>
                <a:latin typeface="Arial"/>
              </a:rPr>
              <a:t>▸  </a:t>
            </a:r>
            <a:r>
              <a:rPr sz="1050" b="0" i="0">
                <a:solidFill>
                  <a:srgbClr val="E6ECF7"/>
                </a:solidFill>
                <a:latin typeface="Arial"/>
              </a:rPr>
              <a:t>Which belong to the team building the agent?</a:t>
            </a:r>
          </a:p>
          <a:p>
            <a:pPr>
              <a:lnSpc>
                <a:spcPct val="116000"/>
              </a:lnSpc>
              <a:spcAft>
                <a:spcPts val="500"/>
              </a:spcAft>
            </a:pPr>
            <a:r>
              <a:rPr sz="1050">
                <a:solidFill>
                  <a:srgbClr val="29D3E0"/>
                </a:solidFill>
                <a:latin typeface="Arial"/>
              </a:rPr>
              <a:t>▸  </a:t>
            </a:r>
            <a:r>
              <a:rPr sz="1050" b="0" i="0">
                <a:solidFill>
                  <a:srgbClr val="E6ECF7"/>
                </a:solidFill>
                <a:latin typeface="Arial"/>
              </a:rPr>
              <a:t>Which are not needed yet?</a:t>
            </a:r>
          </a:p>
          <a:p>
            <a:pPr>
              <a:lnSpc>
                <a:spcPct val="116000"/>
              </a:lnSpc>
              <a:spcAft>
                <a:spcPts val="500"/>
              </a:spcAft>
            </a:pPr>
            <a:r>
              <a:rPr sz="1050">
                <a:solidFill>
                  <a:srgbClr val="29D3E0"/>
                </a:solidFill>
                <a:latin typeface="Arial"/>
              </a:rPr>
              <a:t>▸  </a:t>
            </a:r>
            <a:r>
              <a:rPr sz="1050" b="0" i="0">
                <a:solidFill>
                  <a:srgbClr val="E6ECF7"/>
                </a:solidFill>
                <a:latin typeface="Arial"/>
              </a:rPr>
              <a:t>What is the cheapest thing that makes the trust column answerable </a:t>
            </a:r>
            <a:r>
              <a:rPr sz="1050" b="1" i="0">
                <a:solidFill>
                  <a:srgbClr val="E6ECF7"/>
                </a:solidFill>
                <a:latin typeface="Arial"/>
              </a:rPr>
              <a:t>per agent</a:t>
            </a:r>
            <a:r>
              <a:rPr sz="1050" b="0" i="0">
                <a:solidFill>
                  <a:srgbClr val="E6ECF7"/>
                </a:solidFill>
                <a:latin typeface="Arial"/>
              </a:rPr>
              <a:t>?</a:t>
            </a:r>
          </a:p>
        </p:txBody>
      </p:sp>
      <p:sp>
        <p:nvSpPr>
          <p:cNvPr id="9" name="TextBox 8"/>
          <p:cNvSpPr txBox="1"/>
          <p:nvPr/>
        </p:nvSpPr>
        <p:spPr>
          <a:xfrm>
            <a:off x="566928" y="5995589"/>
            <a:ext cx="11055096" cy="274320"/>
          </a:xfrm>
          <a:prstGeom prst="rect">
            <a:avLst/>
          </a:prstGeom>
          <a:noFill/>
        </p:spPr>
        <p:txBody>
          <a:bodyPr wrap="square" lIns="0" tIns="0" rIns="0" bIns="0">
            <a:spAutoFit/>
          </a:bodyPr>
          <a:lstStyle/>
          <a:p>
            <a:r>
              <a:rPr sz="1050" b="0" i="1">
                <a:solidFill>
                  <a:srgbClr val="98A4BC"/>
                </a:solidFill>
                <a:latin typeface="Arial"/>
              </a:rPr>
              <a:t>Nine layers, from experience down to infrastructure — with the trust layer running down the right side.</a:t>
            </a:r>
          </a:p>
        </p:txBody>
      </p:sp>
      <p:sp>
        <p:nvSpPr>
          <p:cNvPr id="10" name="TextBox 9"/>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the full picture</a:t>
            </a:r>
          </a:p>
        </p:txBody>
      </p:sp>
      <p:sp>
        <p:nvSpPr>
          <p:cNvPr id="11" name="TextBox 10"/>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6 · THE MEASURE</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What "smallest" has to mean</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89888"/>
            <a:ext cx="11055096" cy="548640"/>
          </a:xfrm>
          <a:prstGeom prst="rect">
            <a:avLst/>
          </a:prstGeom>
          <a:noFill/>
        </p:spPr>
        <p:txBody>
          <a:bodyPr wrap="square" lIns="0" tIns="0" rIns="0" bIns="0">
            <a:spAutoFit/>
          </a:bodyPr>
          <a:lstStyle/>
          <a:p>
            <a:pPr>
              <a:lnSpc>
                <a:spcPct val="116000"/>
              </a:lnSpc>
              <a:spcAft>
                <a:spcPts val="700"/>
              </a:spcAft>
            </a:pPr>
            <a:r>
              <a:rPr sz="1350" b="0" i="0">
                <a:solidFill>
                  <a:srgbClr val="E6ECF7"/>
                </a:solidFill>
                <a:latin typeface="Arial"/>
              </a:rPr>
              <a:t>Counting features, services, or lines of configuration makes a config file look smaller than a gateway. Convenient, but not the measure that matters.</a:t>
            </a:r>
          </a:p>
        </p:txBody>
      </p:sp>
      <p:sp>
        <p:nvSpPr>
          <p:cNvPr id="6" name="Rectangle 5"/>
          <p:cNvSpPr/>
          <p:nvPr/>
        </p:nvSpPr>
        <p:spPr>
          <a:xfrm>
            <a:off x="566928" y="2066543"/>
            <a:ext cx="38100" cy="91440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66543"/>
            <a:ext cx="10853928" cy="914400"/>
          </a:xfrm>
          <a:prstGeom prst="rect">
            <a:avLst/>
          </a:prstGeom>
          <a:noFill/>
        </p:spPr>
        <p:txBody>
          <a:bodyPr wrap="square" lIns="0" tIns="0" rIns="0" bIns="0" anchor="ctr">
            <a:spAutoFit/>
          </a:bodyPr>
          <a:lstStyle/>
          <a:p>
            <a:pPr>
              <a:lnSpc>
                <a:spcPct val="120000"/>
              </a:lnSpc>
            </a:pPr>
            <a:r>
              <a:rPr sz="1600" b="0" i="1">
                <a:solidFill>
                  <a:srgbClr val="E6ECF7"/>
                </a:solidFill>
                <a:latin typeface="Georgia"/>
              </a:rPr>
              <a:t>The smallest useful AI platform is the system that creates the least total work, lets a defined group complete one valuable workflow, meets the minimum required controls, and remains cheaper to change or remove than the repeated work it removes.</a:t>
            </a:r>
          </a:p>
        </p:txBody>
      </p:sp>
      <p:sp>
        <p:nvSpPr>
          <p:cNvPr id="8" name="Rounded Rectangle 7"/>
          <p:cNvSpPr/>
          <p:nvPr/>
        </p:nvSpPr>
        <p:spPr>
          <a:xfrm>
            <a:off x="566928" y="3474720"/>
            <a:ext cx="2634157" cy="1188720"/>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66928" y="3566160"/>
            <a:ext cx="38100" cy="1005840"/>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3602736"/>
            <a:ext cx="2195245" cy="969264"/>
          </a:xfrm>
          <a:prstGeom prst="rect">
            <a:avLst/>
          </a:prstGeom>
          <a:noFill/>
        </p:spPr>
        <p:txBody>
          <a:bodyPr wrap="square" lIns="0" tIns="0" rIns="0" bIns="0">
            <a:spAutoFit/>
          </a:bodyPr>
          <a:lstStyle/>
          <a:p>
            <a:pPr>
              <a:lnSpc>
                <a:spcPct val="116000"/>
              </a:lnSpc>
              <a:spcBef>
                <a:spcPts val="900"/>
              </a:spcBef>
              <a:spcAft>
                <a:spcPts val="300"/>
              </a:spcAft>
            </a:pPr>
            <a:r>
              <a:rPr sz="1300" b="1" i="0">
                <a:solidFill>
                  <a:srgbClr val="29D3E0"/>
                </a:solidFill>
                <a:latin typeface="Arial"/>
              </a:rPr>
              <a:t>Outcome</a:t>
            </a:r>
          </a:p>
          <a:p>
            <a:pPr>
              <a:lnSpc>
                <a:spcPct val="116000"/>
              </a:lnSpc>
              <a:spcAft>
                <a:spcPts val="300"/>
              </a:spcAft>
            </a:pPr>
            <a:r>
              <a:rPr sz="1250" b="0" i="0">
                <a:solidFill>
                  <a:srgbClr val="E6ECF7"/>
                </a:solidFill>
                <a:latin typeface="Arial"/>
              </a:rPr>
              <a:t>Can the intended user finish the job?</a:t>
            </a:r>
          </a:p>
        </p:txBody>
      </p:sp>
      <p:sp>
        <p:nvSpPr>
          <p:cNvPr id="11" name="Rounded Rectangle 10"/>
          <p:cNvSpPr/>
          <p:nvPr/>
        </p:nvSpPr>
        <p:spPr>
          <a:xfrm>
            <a:off x="3374821" y="3474720"/>
            <a:ext cx="2634157" cy="1188720"/>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374821" y="3566160"/>
            <a:ext cx="38100" cy="10058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2565" y="3602736"/>
            <a:ext cx="2195245" cy="969264"/>
          </a:xfrm>
          <a:prstGeom prst="rect">
            <a:avLst/>
          </a:prstGeom>
          <a:noFill/>
        </p:spPr>
        <p:txBody>
          <a:bodyPr wrap="square" lIns="0" tIns="0" rIns="0" bIns="0">
            <a:spAutoFit/>
          </a:bodyPr>
          <a:lstStyle/>
          <a:p>
            <a:pPr>
              <a:lnSpc>
                <a:spcPct val="116000"/>
              </a:lnSpc>
              <a:spcBef>
                <a:spcPts val="900"/>
              </a:spcBef>
              <a:spcAft>
                <a:spcPts val="300"/>
              </a:spcAft>
            </a:pPr>
            <a:r>
              <a:rPr sz="1300" b="1" i="0">
                <a:solidFill>
                  <a:srgbClr val="29D3E0"/>
                </a:solidFill>
                <a:latin typeface="Arial"/>
              </a:rPr>
              <a:t>Risk</a:t>
            </a:r>
          </a:p>
          <a:p>
            <a:pPr>
              <a:lnSpc>
                <a:spcPct val="116000"/>
              </a:lnSpc>
              <a:spcAft>
                <a:spcPts val="300"/>
              </a:spcAft>
            </a:pPr>
            <a:r>
              <a:rPr sz="1250" b="0" i="0">
                <a:solidFill>
                  <a:srgbClr val="E6ECF7"/>
                </a:solidFill>
                <a:latin typeface="Arial"/>
              </a:rPr>
              <a:t>Are the minimum controls there for the possible harm?</a:t>
            </a:r>
          </a:p>
        </p:txBody>
      </p:sp>
      <p:sp>
        <p:nvSpPr>
          <p:cNvPr id="14" name="Rounded Rectangle 13"/>
          <p:cNvSpPr/>
          <p:nvPr/>
        </p:nvSpPr>
        <p:spPr>
          <a:xfrm>
            <a:off x="6182714" y="3474720"/>
            <a:ext cx="2634157" cy="1188720"/>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182714" y="3566160"/>
            <a:ext cx="38100" cy="100584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0458" y="3602736"/>
            <a:ext cx="2195245" cy="969264"/>
          </a:xfrm>
          <a:prstGeom prst="rect">
            <a:avLst/>
          </a:prstGeom>
          <a:noFill/>
        </p:spPr>
        <p:txBody>
          <a:bodyPr wrap="square" lIns="0" tIns="0" rIns="0" bIns="0">
            <a:spAutoFit/>
          </a:bodyPr>
          <a:lstStyle/>
          <a:p>
            <a:pPr>
              <a:lnSpc>
                <a:spcPct val="116000"/>
              </a:lnSpc>
              <a:spcBef>
                <a:spcPts val="900"/>
              </a:spcBef>
              <a:spcAft>
                <a:spcPts val="300"/>
              </a:spcAft>
            </a:pPr>
            <a:r>
              <a:rPr sz="1300" b="1" i="0">
                <a:solidFill>
                  <a:srgbClr val="29D3E0"/>
                </a:solidFill>
                <a:latin typeface="Arial"/>
              </a:rPr>
              <a:t>Total work</a:t>
            </a:r>
          </a:p>
          <a:p>
            <a:pPr>
              <a:lnSpc>
                <a:spcPct val="116000"/>
              </a:lnSpc>
              <a:spcAft>
                <a:spcPts val="300"/>
              </a:spcAft>
            </a:pPr>
            <a:r>
              <a:rPr sz="1250" b="0" i="0">
                <a:solidFill>
                  <a:srgbClr val="E6ECF7"/>
                </a:solidFill>
                <a:latin typeface="Arial"/>
              </a:rPr>
              <a:t>Is central and local work reduced?</a:t>
            </a:r>
          </a:p>
        </p:txBody>
      </p:sp>
      <p:sp>
        <p:nvSpPr>
          <p:cNvPr id="17" name="Rounded Rectangle 16"/>
          <p:cNvSpPr/>
          <p:nvPr/>
        </p:nvSpPr>
        <p:spPr>
          <a:xfrm>
            <a:off x="8990607" y="3474720"/>
            <a:ext cx="2634157" cy="1188720"/>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990607" y="3566160"/>
            <a:ext cx="38100" cy="1005840"/>
          </a:xfrm>
          <a:prstGeom prst="rect">
            <a:avLst/>
          </a:prstGeom>
          <a:solidFill>
            <a:srgbClr val="8B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28351" y="3602736"/>
            <a:ext cx="2195245" cy="969264"/>
          </a:xfrm>
          <a:prstGeom prst="rect">
            <a:avLst/>
          </a:prstGeom>
          <a:noFill/>
        </p:spPr>
        <p:txBody>
          <a:bodyPr wrap="square" lIns="0" tIns="0" rIns="0" bIns="0">
            <a:spAutoFit/>
          </a:bodyPr>
          <a:lstStyle/>
          <a:p>
            <a:pPr>
              <a:lnSpc>
                <a:spcPct val="116000"/>
              </a:lnSpc>
              <a:spcBef>
                <a:spcPts val="900"/>
              </a:spcBef>
              <a:spcAft>
                <a:spcPts val="300"/>
              </a:spcAft>
            </a:pPr>
            <a:r>
              <a:rPr sz="1300" b="1" i="0">
                <a:solidFill>
                  <a:srgbClr val="29D3E0"/>
                </a:solidFill>
                <a:latin typeface="Arial"/>
              </a:rPr>
              <a:t>Change and removal</a:t>
            </a:r>
          </a:p>
          <a:p>
            <a:pPr>
              <a:lnSpc>
                <a:spcPct val="116000"/>
              </a:lnSpc>
              <a:spcAft>
                <a:spcPts val="300"/>
              </a:spcAft>
            </a:pPr>
            <a:r>
              <a:rPr sz="1250" b="0" i="0">
                <a:solidFill>
                  <a:srgbClr val="E6ECF7"/>
                </a:solidFill>
                <a:latin typeface="Arial"/>
              </a:rPr>
              <a:t>Can it be retired at an acceptable cost?</a:t>
            </a:r>
          </a:p>
        </p:txBody>
      </p:sp>
      <p:sp>
        <p:nvSpPr>
          <p:cNvPr id="20" name="TextBox 19"/>
          <p:cNvSpPr txBox="1"/>
          <p:nvPr/>
        </p:nvSpPr>
        <p:spPr>
          <a:xfrm>
            <a:off x="566928" y="4974336"/>
            <a:ext cx="11055096" cy="457200"/>
          </a:xfrm>
          <a:prstGeom prst="rect">
            <a:avLst/>
          </a:prstGeom>
          <a:noFill/>
        </p:spPr>
        <p:txBody>
          <a:bodyPr wrap="square" lIns="0" tIns="0" rIns="0" bIns="0">
            <a:spAutoFit/>
          </a:bodyPr>
          <a:lstStyle/>
          <a:p>
            <a:pPr>
              <a:lnSpc>
                <a:spcPct val="116000"/>
              </a:lnSpc>
              <a:spcAft>
                <a:spcPts val="700"/>
              </a:spcAft>
            </a:pPr>
            <a:r>
              <a:rPr sz="1550" b="0" i="0">
                <a:solidFill>
                  <a:srgbClr val="E6ECF7"/>
                </a:solidFill>
                <a:latin typeface="Arial"/>
              </a:rPr>
              <a:t>"Smallest" is the simplest thing that passes all four — for one particular workflow.</a:t>
            </a:r>
          </a:p>
        </p:txBody>
      </p:sp>
      <p:sp>
        <p:nvSpPr>
          <p:cNvPr id="21" name="TextBox 20"/>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the measure</a:t>
            </a:r>
          </a:p>
        </p:txBody>
      </p:sp>
      <p:sp>
        <p:nvSpPr>
          <p:cNvPr id="22" name="TextBox 21"/>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7 · THE PROPOSAL</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A versioned agent contract</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89888"/>
            <a:ext cx="11055096" cy="1005840"/>
          </a:xfrm>
          <a:prstGeom prst="rect">
            <a:avLst/>
          </a:prstGeom>
          <a:noFill/>
        </p:spPr>
        <p:txBody>
          <a:bodyPr wrap="square" lIns="0" tIns="0" rIns="0" bIns="0">
            <a:spAutoFit/>
          </a:bodyPr>
          <a:lstStyle/>
          <a:p>
            <a:pPr>
              <a:lnSpc>
                <a:spcPct val="116000"/>
              </a:lnSpc>
              <a:spcAft>
                <a:spcPts val="700"/>
              </a:spcAft>
            </a:pPr>
            <a:r>
              <a:rPr sz="1300" b="0" i="0">
                <a:solidFill>
                  <a:srgbClr val="E6ECF7"/>
                </a:solidFill>
                <a:latin typeface="Arial"/>
              </a:rPr>
              <a:t>The smallest platform I can justify is a narrow service built around a </a:t>
            </a:r>
            <a:r>
              <a:rPr sz="1300" b="1" i="0">
                <a:solidFill>
                  <a:srgbClr val="E6ECF7"/>
                </a:solidFill>
                <a:latin typeface="Arial"/>
              </a:rPr>
              <a:t>versioned agent contract</a:t>
            </a:r>
            <a:r>
              <a:rPr sz="1300" b="0" i="0">
                <a:solidFill>
                  <a:srgbClr val="E6ECF7"/>
                </a:solidFill>
                <a:latin typeface="Arial"/>
              </a:rPr>
              <a:t>: a configuration file stored with the code that describes the agent and the systems it uses. The contract alone is not the platform. The contract </a:t>
            </a:r>
            <a:r>
              <a:rPr sz="1300" b="1" i="0">
                <a:solidFill>
                  <a:srgbClr val="E6ECF7"/>
                </a:solidFill>
                <a:latin typeface="Arial"/>
              </a:rPr>
              <a:t>and</a:t>
            </a:r>
            <a:r>
              <a:rPr sz="1300" b="0" i="0">
                <a:solidFill>
                  <a:srgbClr val="E6ECF7"/>
                </a:solidFill>
                <a:latin typeface="Arial"/>
              </a:rPr>
              <a:t> the service are: CI validation, connections to the systems that own operational facts, and a view in the developer portal.</a:t>
            </a:r>
          </a:p>
          <a:p>
            <a:pPr>
              <a:lnSpc>
                <a:spcPct val="116000"/>
              </a:lnSpc>
              <a:spcAft>
                <a:spcPts val="700"/>
              </a:spcAft>
            </a:pPr>
            <a:r>
              <a:rPr sz="1150" b="0" i="1">
                <a:solidFill>
                  <a:srgbClr val="98A4BC"/>
                </a:solidFill>
                <a:latin typeface="Arial"/>
              </a:rPr>
              <a:t>Scope for version 0.1: one simple, internal, read-only agent. Not a general contract for every kind of agent.</a:t>
            </a:r>
          </a:p>
        </p:txBody>
      </p:sp>
      <p:sp>
        <p:nvSpPr>
          <p:cNvPr id="6" name="TextBox 5"/>
          <p:cNvSpPr txBox="1"/>
          <p:nvPr/>
        </p:nvSpPr>
        <p:spPr>
          <a:xfrm>
            <a:off x="566928" y="2432304"/>
            <a:ext cx="5029200" cy="274320"/>
          </a:xfrm>
          <a:prstGeom prst="rect">
            <a:avLst/>
          </a:prstGeom>
          <a:noFill/>
        </p:spPr>
        <p:txBody>
          <a:bodyPr wrap="square" lIns="0" tIns="0" rIns="0" bIns="0">
            <a:spAutoFit/>
          </a:bodyPr>
          <a:lstStyle/>
          <a:p>
            <a:r>
              <a:rPr sz="1050" b="0" i="1">
                <a:solidFill>
                  <a:srgbClr val="29D3E0"/>
                </a:solidFill>
                <a:latin typeface="Arial"/>
              </a:rPr>
              <a:t>Prototype 0.1 · agent.yaml</a:t>
            </a:r>
          </a:p>
        </p:txBody>
      </p:sp>
      <p:sp>
        <p:nvSpPr>
          <p:cNvPr id="7" name="TextBox 6"/>
          <p:cNvSpPr txBox="1"/>
          <p:nvPr/>
        </p:nvSpPr>
        <p:spPr>
          <a:xfrm>
            <a:off x="5989320" y="2432304"/>
            <a:ext cx="5029200" cy="274320"/>
          </a:xfrm>
          <a:prstGeom prst="rect">
            <a:avLst/>
          </a:prstGeom>
          <a:noFill/>
        </p:spPr>
        <p:txBody>
          <a:bodyPr wrap="square" lIns="0" tIns="0" rIns="0" bIns="0">
            <a:spAutoFit/>
          </a:bodyPr>
          <a:lstStyle/>
          <a:p>
            <a:r>
              <a:rPr sz="1050" b="0" i="1">
                <a:solidFill>
                  <a:srgbClr val="29D3E0"/>
                </a:solidFill>
                <a:latin typeface="Arial"/>
              </a:rPr>
              <a:t>How it works</a:t>
            </a:r>
          </a:p>
        </p:txBody>
      </p:sp>
      <p:sp>
        <p:nvSpPr>
          <p:cNvPr id="8" name="Rounded Rectangle 7"/>
          <p:cNvSpPr/>
          <p:nvPr/>
        </p:nvSpPr>
        <p:spPr>
          <a:xfrm>
            <a:off x="566928" y="2706624"/>
            <a:ext cx="5074920" cy="3035808"/>
          </a:xfrm>
          <a:prstGeom prst="roundRect">
            <a:avLst>
              <a:gd name="adj" fmla="val 4000"/>
            </a:avLst>
          </a:prstGeom>
          <a:solidFill>
            <a:srgbClr val="0A101C"/>
          </a:solidFill>
          <a:ln w="9525">
            <a:solidFill>
              <a:srgbClr val="2438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66928" y="2798064"/>
            <a:ext cx="38100" cy="285292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852928"/>
            <a:ext cx="4690872" cy="2779776"/>
          </a:xfrm>
          <a:prstGeom prst="rect">
            <a:avLst/>
          </a:prstGeom>
          <a:noFill/>
        </p:spPr>
        <p:txBody>
          <a:bodyPr wrap="square" lIns="0" tIns="0" rIns="0" bIns="0">
            <a:spAutoFit/>
          </a:bodyPr>
          <a:lstStyle/>
          <a:p>
            <a:pPr>
              <a:lnSpc>
                <a:spcPct val="114000"/>
              </a:lnSpc>
              <a:spcAft>
                <a:spcPts val="0"/>
              </a:spcAft>
            </a:pPr>
            <a:r>
              <a:rPr sz="1100">
                <a:solidFill>
                  <a:srgbClr val="E8A33D"/>
                </a:solidFill>
                <a:latin typeface="Consolas"/>
              </a:rPr>
              <a:t>agent:</a:t>
            </a:r>
          </a:p>
          <a:p>
            <a:pPr>
              <a:lnSpc>
                <a:spcPct val="114000"/>
              </a:lnSpc>
              <a:spcAft>
                <a:spcPts val="0"/>
              </a:spcAft>
            </a:pPr>
            <a:r>
              <a:rPr sz="1100">
                <a:solidFill>
                  <a:srgbClr val="29D3E0"/>
                </a:solidFill>
                <a:latin typeface="Consolas"/>
              </a:rPr>
              <a:t>  name:</a:t>
            </a:r>
            <a:r>
              <a:rPr sz="1100">
                <a:solidFill>
                  <a:srgbClr val="E6ECF7"/>
                </a:solidFill>
                <a:latin typeface="Consolas"/>
              </a:rPr>
              <a:t> settlement-explainer</a:t>
            </a:r>
          </a:p>
          <a:p>
            <a:pPr>
              <a:lnSpc>
                <a:spcPct val="114000"/>
              </a:lnSpc>
              <a:spcAft>
                <a:spcPts val="0"/>
              </a:spcAft>
            </a:pPr>
            <a:r>
              <a:rPr sz="1100">
                <a:solidFill>
                  <a:srgbClr val="29D3E0"/>
                </a:solidFill>
                <a:latin typeface="Consolas"/>
              </a:rPr>
              <a:t>  owner:</a:t>
            </a:r>
            <a:r>
              <a:rPr sz="1100">
                <a:solidFill>
                  <a:srgbClr val="E6ECF7"/>
                </a:solidFill>
                <a:latin typeface="Consolas"/>
              </a:rPr>
              <a:t> payments</a:t>
            </a:r>
          </a:p>
          <a:p>
            <a:pPr>
              <a:lnSpc>
                <a:spcPct val="114000"/>
              </a:lnSpc>
              <a:spcAft>
                <a:spcPts val="0"/>
              </a:spcAft>
            </a:pPr>
            <a:r>
              <a:rPr sz="1100">
                <a:solidFill>
                  <a:srgbClr val="29D3E0"/>
                </a:solidFill>
                <a:latin typeface="Consolas"/>
              </a:rPr>
              <a:t>  purpose:</a:t>
            </a:r>
            <a:r>
              <a:rPr sz="1100">
                <a:solidFill>
                  <a:srgbClr val="E6ECF7"/>
                </a:solidFill>
                <a:latin typeface="Consolas"/>
              </a:rPr>
              <a:t> explain settlement deviations</a:t>
            </a:r>
          </a:p>
          <a:p>
            <a:pPr>
              <a:lnSpc>
                <a:spcPct val="114000"/>
              </a:lnSpc>
              <a:spcAft>
                <a:spcPts val="0"/>
              </a:spcAft>
            </a:pPr>
            <a:r>
              <a:rPr sz="1100">
                <a:solidFill>
                  <a:srgbClr val="29D3E0"/>
                </a:solidFill>
                <a:latin typeface="Consolas"/>
              </a:rPr>
              <a:t>  lifecycle:</a:t>
            </a:r>
            <a:r>
              <a:rPr sz="1100">
                <a:solidFill>
                  <a:srgbClr val="E6ECF7"/>
                </a:solidFill>
                <a:latin typeface="Consolas"/>
              </a:rPr>
              <a:t> experimental</a:t>
            </a:r>
          </a:p>
          <a:p>
            <a:pPr>
              <a:lnSpc>
                <a:spcPct val="114000"/>
              </a:lnSpc>
              <a:spcAft>
                <a:spcPts val="0"/>
              </a:spcAft>
            </a:pPr>
            <a:r>
              <a:rPr sz="1100">
                <a:solidFill>
                  <a:srgbClr val="29D3E0"/>
                </a:solidFill>
                <a:latin typeface="Consolas"/>
              </a:rPr>
              <a:t>  risk:</a:t>
            </a:r>
            <a:r>
              <a:rPr sz="1100">
                <a:solidFill>
                  <a:srgbClr val="E6ECF7"/>
                </a:solidFill>
                <a:latin typeface="Consolas"/>
              </a:rPr>
              <a:t> internal-read-only</a:t>
            </a:r>
          </a:p>
          <a:p>
            <a:pPr>
              <a:lnSpc>
                <a:spcPct val="114000"/>
              </a:lnSpc>
              <a:spcAft>
                <a:spcPts val="0"/>
              </a:spcAft>
            </a:pPr>
            <a:r>
              <a:rPr sz="1100">
                <a:solidFill>
                  <a:srgbClr val="29D3E0"/>
                </a:solidFill>
                <a:latin typeface="Consolas"/>
              </a:rPr>
              <a:t>  allowed_data:</a:t>
            </a:r>
            <a:r>
              <a:rPr sz="1100">
                <a:solidFill>
                  <a:srgbClr val="E6ECF7"/>
                </a:solidFill>
                <a:latin typeface="Consolas"/>
              </a:rPr>
              <a:t> internal</a:t>
            </a:r>
          </a:p>
          <a:p>
            <a:pPr>
              <a:lnSpc>
                <a:spcPct val="114000"/>
              </a:lnSpc>
              <a:spcAft>
                <a:spcPts val="0"/>
              </a:spcAft>
            </a:pPr>
            <a:r>
              <a:rPr sz="1100">
                <a:solidFill>
                  <a:srgbClr val="29D3E0"/>
                </a:solidFill>
                <a:latin typeface="Consolas"/>
              </a:rPr>
              <a:t>  model_access:</a:t>
            </a:r>
            <a:r>
              <a:rPr sz="1100">
                <a:solidFill>
                  <a:srgbClr val="E6ECF7"/>
                </a:solidFill>
                <a:latin typeface="Consolas"/>
              </a:rPr>
              <a:t> approved-eu-provider</a:t>
            </a:r>
          </a:p>
          <a:p>
            <a:pPr>
              <a:lnSpc>
                <a:spcPct val="114000"/>
              </a:lnSpc>
              <a:spcAft>
                <a:spcPts val="0"/>
              </a:spcAft>
            </a:pPr>
            <a:r>
              <a:rPr sz="1100">
                <a:solidFill>
                  <a:srgbClr val="29D3E0"/>
                </a:solidFill>
                <a:latin typeface="Consolas"/>
              </a:rPr>
              <a:t>  runtime:</a:t>
            </a:r>
            <a:r>
              <a:rPr sz="1100">
                <a:solidFill>
                  <a:srgbClr val="E6ECF7"/>
                </a:solidFill>
                <a:latin typeface="Consolas"/>
              </a:rPr>
              <a:t> application-platform</a:t>
            </a:r>
          </a:p>
          <a:p>
            <a:pPr>
              <a:lnSpc>
                <a:spcPct val="114000"/>
              </a:lnSpc>
              <a:spcAft>
                <a:spcPts val="0"/>
              </a:spcAft>
            </a:pPr>
            <a:r>
              <a:rPr sz="1100">
                <a:solidFill>
                  <a:srgbClr val="29D3E0"/>
                </a:solidFill>
                <a:latin typeface="Consolas"/>
              </a:rPr>
              <a:t>  cost_id:</a:t>
            </a:r>
            <a:r>
              <a:rPr sz="1100">
                <a:solidFill>
                  <a:srgbClr val="E6ECF7"/>
                </a:solidFill>
                <a:latin typeface="Consolas"/>
              </a:rPr>
              <a:t> payments-settlement</a:t>
            </a:r>
          </a:p>
          <a:p>
            <a:pPr>
              <a:lnSpc>
                <a:spcPct val="114000"/>
              </a:lnSpc>
              <a:spcAft>
                <a:spcPts val="0"/>
              </a:spcAft>
            </a:pPr>
            <a:r>
              <a:rPr sz="1100">
                <a:solidFill>
                  <a:srgbClr val="29D3E0"/>
                </a:solidFill>
                <a:latin typeface="Consolas"/>
              </a:rPr>
              <a:t>  trace_id:</a:t>
            </a:r>
            <a:r>
              <a:rPr sz="1100">
                <a:solidFill>
                  <a:srgbClr val="E6ECF7"/>
                </a:solidFill>
                <a:latin typeface="Consolas"/>
              </a:rPr>
              <a:t> settlement-explainer</a:t>
            </a:r>
          </a:p>
          <a:p>
            <a:pPr>
              <a:lnSpc>
                <a:spcPct val="114000"/>
              </a:lnSpc>
              <a:spcAft>
                <a:spcPts val="0"/>
              </a:spcAft>
            </a:pPr>
            <a:r>
              <a:rPr sz="1100">
                <a:solidFill>
                  <a:srgbClr val="29D3E0"/>
                </a:solidFill>
                <a:latin typeface="Consolas"/>
              </a:rPr>
              <a:t>  evaluation:</a:t>
            </a:r>
            <a:r>
              <a:rPr sz="1100">
                <a:solidFill>
                  <a:srgbClr val="E6ECF7"/>
                </a:solidFill>
                <a:latin typeface="Consolas"/>
              </a:rPr>
              <a:t> evals/settlement.yaml</a:t>
            </a:r>
          </a:p>
          <a:p>
            <a:pPr>
              <a:lnSpc>
                <a:spcPct val="114000"/>
              </a:lnSpc>
              <a:spcAft>
                <a:spcPts val="0"/>
              </a:spcAft>
            </a:pPr>
            <a:r>
              <a:rPr sz="1100">
                <a:solidFill>
                  <a:srgbClr val="29D3E0"/>
                </a:solidFill>
                <a:latin typeface="Consolas"/>
              </a:rPr>
              <a:t>  incident_contact:</a:t>
            </a:r>
            <a:r>
              <a:rPr sz="1100">
                <a:solidFill>
                  <a:srgbClr val="E6ECF7"/>
                </a:solidFill>
                <a:latin typeface="Consolas"/>
              </a:rPr>
              <a:t> payments-on-call</a:t>
            </a:r>
          </a:p>
          <a:p>
            <a:pPr>
              <a:lnSpc>
                <a:spcPct val="114000"/>
              </a:lnSpc>
              <a:spcAft>
                <a:spcPts val="0"/>
              </a:spcAft>
            </a:pPr>
            <a:r>
              <a:rPr sz="1100">
                <a:solidFill>
                  <a:srgbClr val="29D3E0"/>
                </a:solidFill>
                <a:latin typeface="Consolas"/>
              </a:rPr>
              <a:t>  disable:</a:t>
            </a:r>
            <a:r>
              <a:rPr sz="1100">
                <a:solidFill>
                  <a:srgbClr val="E6ECF7"/>
                </a:solidFill>
                <a:latin typeface="Consolas"/>
              </a:rPr>
              <a:t> runbooks/disable-agent.md</a:t>
            </a:r>
          </a:p>
        </p:txBody>
      </p:sp>
      <p:sp>
        <p:nvSpPr>
          <p:cNvPr id="11" name="Rounded Rectangle 10"/>
          <p:cNvSpPr/>
          <p:nvPr/>
        </p:nvSpPr>
        <p:spPr>
          <a:xfrm>
            <a:off x="5989320" y="2706624"/>
            <a:ext cx="5632704" cy="58978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44768" y="2843784"/>
            <a:ext cx="365760" cy="365760"/>
          </a:xfrm>
          <a:prstGeom prst="rect">
            <a:avLst/>
          </a:prstGeom>
          <a:noFill/>
        </p:spPr>
        <p:txBody>
          <a:bodyPr wrap="square" lIns="0" tIns="0" rIns="0" bIns="0">
            <a:spAutoFit/>
          </a:bodyPr>
          <a:lstStyle/>
          <a:p>
            <a:r>
              <a:rPr sz="1400" b="1" i="0">
                <a:solidFill>
                  <a:srgbClr val="29D3E0"/>
                </a:solidFill>
                <a:latin typeface="Georgia"/>
              </a:rPr>
              <a:t>01</a:t>
            </a:r>
          </a:p>
        </p:txBody>
      </p:sp>
      <p:sp>
        <p:nvSpPr>
          <p:cNvPr id="13" name="TextBox 12"/>
          <p:cNvSpPr txBox="1"/>
          <p:nvPr/>
        </p:nvSpPr>
        <p:spPr>
          <a:xfrm>
            <a:off x="6547104" y="2807208"/>
            <a:ext cx="4956048" cy="457200"/>
          </a:xfrm>
          <a:prstGeom prst="rect">
            <a:avLst/>
          </a:prstGeom>
          <a:noFill/>
        </p:spPr>
        <p:txBody>
          <a:bodyPr wrap="square" lIns="0" tIns="0" rIns="0" bIns="0">
            <a:spAutoFit/>
          </a:bodyPr>
          <a:lstStyle/>
          <a:p>
            <a:pPr>
              <a:lnSpc>
                <a:spcPct val="112000"/>
              </a:lnSpc>
            </a:pPr>
            <a:r>
              <a:rPr sz="1150" b="0" i="0">
                <a:solidFill>
                  <a:srgbClr val="E6ECF7"/>
                </a:solidFill>
                <a:latin typeface="Arial"/>
              </a:rPr>
              <a:t>An engineer creates or changes the agent and its contract in the same repository</a:t>
            </a:r>
          </a:p>
        </p:txBody>
      </p:sp>
      <p:sp>
        <p:nvSpPr>
          <p:cNvPr id="14" name="Rounded Rectangle 13"/>
          <p:cNvSpPr/>
          <p:nvPr/>
        </p:nvSpPr>
        <p:spPr>
          <a:xfrm>
            <a:off x="5989320" y="3342132"/>
            <a:ext cx="5632704" cy="58978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144768" y="3479292"/>
            <a:ext cx="365760" cy="365760"/>
          </a:xfrm>
          <a:prstGeom prst="rect">
            <a:avLst/>
          </a:prstGeom>
          <a:noFill/>
        </p:spPr>
        <p:txBody>
          <a:bodyPr wrap="square" lIns="0" tIns="0" rIns="0" bIns="0">
            <a:spAutoFit/>
          </a:bodyPr>
          <a:lstStyle/>
          <a:p>
            <a:r>
              <a:rPr sz="1400" b="1" i="0">
                <a:solidFill>
                  <a:srgbClr val="29D3E0"/>
                </a:solidFill>
                <a:latin typeface="Georgia"/>
              </a:rPr>
              <a:t>02</a:t>
            </a:r>
          </a:p>
        </p:txBody>
      </p:sp>
      <p:sp>
        <p:nvSpPr>
          <p:cNvPr id="16" name="TextBox 15"/>
          <p:cNvSpPr txBox="1"/>
          <p:nvPr/>
        </p:nvSpPr>
        <p:spPr>
          <a:xfrm>
            <a:off x="6547104" y="3442716"/>
            <a:ext cx="4956048" cy="457200"/>
          </a:xfrm>
          <a:prstGeom prst="rect">
            <a:avLst/>
          </a:prstGeom>
          <a:noFill/>
        </p:spPr>
        <p:txBody>
          <a:bodyPr wrap="square" lIns="0" tIns="0" rIns="0" bIns="0">
            <a:spAutoFit/>
          </a:bodyPr>
          <a:lstStyle/>
          <a:p>
            <a:pPr>
              <a:lnSpc>
                <a:spcPct val="112000"/>
              </a:lnSpc>
            </a:pPr>
            <a:r>
              <a:rPr sz="1150" b="0" i="0">
                <a:solidFill>
                  <a:srgbClr val="E6ECF7"/>
                </a:solidFill>
                <a:latin typeface="Arial"/>
              </a:rPr>
              <a:t>CI validates identity, ownership, risk, data class, operational references, incident contact and disable instructions</a:t>
            </a:r>
          </a:p>
        </p:txBody>
      </p:sp>
      <p:sp>
        <p:nvSpPr>
          <p:cNvPr id="17" name="Rounded Rectangle 16"/>
          <p:cNvSpPr/>
          <p:nvPr/>
        </p:nvSpPr>
        <p:spPr>
          <a:xfrm>
            <a:off x="5989320" y="3977640"/>
            <a:ext cx="5632704" cy="58978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44768" y="4114800"/>
            <a:ext cx="365760" cy="365760"/>
          </a:xfrm>
          <a:prstGeom prst="rect">
            <a:avLst/>
          </a:prstGeom>
          <a:noFill/>
        </p:spPr>
        <p:txBody>
          <a:bodyPr wrap="square" lIns="0" tIns="0" rIns="0" bIns="0">
            <a:spAutoFit/>
          </a:bodyPr>
          <a:lstStyle/>
          <a:p>
            <a:r>
              <a:rPr sz="1400" b="1" i="0">
                <a:solidFill>
                  <a:srgbClr val="29D3E0"/>
                </a:solidFill>
                <a:latin typeface="Georgia"/>
              </a:rPr>
              <a:t>03</a:t>
            </a:r>
          </a:p>
        </p:txBody>
      </p:sp>
      <p:sp>
        <p:nvSpPr>
          <p:cNvPr id="19" name="TextBox 18"/>
          <p:cNvSpPr txBox="1"/>
          <p:nvPr/>
        </p:nvSpPr>
        <p:spPr>
          <a:xfrm>
            <a:off x="6547104" y="4078224"/>
            <a:ext cx="4956048" cy="457200"/>
          </a:xfrm>
          <a:prstGeom prst="rect">
            <a:avLst/>
          </a:prstGeom>
          <a:noFill/>
        </p:spPr>
        <p:txBody>
          <a:bodyPr wrap="square" lIns="0" tIns="0" rIns="0" bIns="0">
            <a:spAutoFit/>
          </a:bodyPr>
          <a:lstStyle/>
          <a:p>
            <a:pPr>
              <a:lnSpc>
                <a:spcPct val="112000"/>
              </a:lnSpc>
            </a:pPr>
            <a:r>
              <a:rPr sz="1150" b="0" i="0">
                <a:solidFill>
                  <a:srgbClr val="E6ECF7"/>
                </a:solidFill>
                <a:latin typeface="Arial"/>
              </a:rPr>
              <a:t>Delivery, evaluation, observability and billing systems continue to produce and own their operational facts</a:t>
            </a:r>
          </a:p>
        </p:txBody>
      </p:sp>
      <p:sp>
        <p:nvSpPr>
          <p:cNvPr id="20" name="Rounded Rectangle 19"/>
          <p:cNvSpPr/>
          <p:nvPr/>
        </p:nvSpPr>
        <p:spPr>
          <a:xfrm>
            <a:off x="5989320" y="4613148"/>
            <a:ext cx="5632704" cy="58978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44768" y="4750308"/>
            <a:ext cx="365760" cy="365760"/>
          </a:xfrm>
          <a:prstGeom prst="rect">
            <a:avLst/>
          </a:prstGeom>
          <a:noFill/>
        </p:spPr>
        <p:txBody>
          <a:bodyPr wrap="square" lIns="0" tIns="0" rIns="0" bIns="0">
            <a:spAutoFit/>
          </a:bodyPr>
          <a:lstStyle/>
          <a:p>
            <a:r>
              <a:rPr sz="1400" b="1" i="0">
                <a:solidFill>
                  <a:srgbClr val="29D3E0"/>
                </a:solidFill>
                <a:latin typeface="Georgia"/>
              </a:rPr>
              <a:t>04</a:t>
            </a:r>
          </a:p>
        </p:txBody>
      </p:sp>
      <p:sp>
        <p:nvSpPr>
          <p:cNvPr id="22" name="TextBox 21"/>
          <p:cNvSpPr txBox="1"/>
          <p:nvPr/>
        </p:nvSpPr>
        <p:spPr>
          <a:xfrm>
            <a:off x="6547104" y="4713732"/>
            <a:ext cx="4956048" cy="457200"/>
          </a:xfrm>
          <a:prstGeom prst="rect">
            <a:avLst/>
          </a:prstGeom>
          <a:noFill/>
        </p:spPr>
        <p:txBody>
          <a:bodyPr wrap="square" lIns="0" tIns="0" rIns="0" bIns="0">
            <a:spAutoFit/>
          </a:bodyPr>
          <a:lstStyle/>
          <a:p>
            <a:pPr>
              <a:lnSpc>
                <a:spcPct val="112000"/>
              </a:lnSpc>
            </a:pPr>
            <a:r>
              <a:rPr sz="1150" b="0" i="0">
                <a:solidFill>
                  <a:srgbClr val="E6ECF7"/>
                </a:solidFill>
                <a:latin typeface="Arial"/>
              </a:rPr>
              <a:t>The developer portal brings declarations, current facts and links to their sources into one view</a:t>
            </a:r>
          </a:p>
        </p:txBody>
      </p:sp>
      <p:sp>
        <p:nvSpPr>
          <p:cNvPr id="23" name="Rounded Rectangle 22"/>
          <p:cNvSpPr/>
          <p:nvPr/>
        </p:nvSpPr>
        <p:spPr>
          <a:xfrm>
            <a:off x="5989320" y="5248656"/>
            <a:ext cx="5632704" cy="58978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144768" y="5385816"/>
            <a:ext cx="365760" cy="365760"/>
          </a:xfrm>
          <a:prstGeom prst="rect">
            <a:avLst/>
          </a:prstGeom>
          <a:noFill/>
        </p:spPr>
        <p:txBody>
          <a:bodyPr wrap="square" lIns="0" tIns="0" rIns="0" bIns="0">
            <a:spAutoFit/>
          </a:bodyPr>
          <a:lstStyle/>
          <a:p>
            <a:r>
              <a:rPr sz="1400" b="1" i="0">
                <a:solidFill>
                  <a:srgbClr val="29D3E0"/>
                </a:solidFill>
                <a:latin typeface="Georgia"/>
              </a:rPr>
              <a:t>05</a:t>
            </a:r>
          </a:p>
        </p:txBody>
      </p:sp>
      <p:sp>
        <p:nvSpPr>
          <p:cNvPr id="25" name="TextBox 24"/>
          <p:cNvSpPr txBox="1"/>
          <p:nvPr/>
        </p:nvSpPr>
        <p:spPr>
          <a:xfrm>
            <a:off x="6547104" y="5349240"/>
            <a:ext cx="4956048" cy="457200"/>
          </a:xfrm>
          <a:prstGeom prst="rect">
            <a:avLst/>
          </a:prstGeom>
          <a:noFill/>
        </p:spPr>
        <p:txBody>
          <a:bodyPr wrap="square" lIns="0" tIns="0" rIns="0" bIns="0">
            <a:spAutoFit/>
          </a:bodyPr>
          <a:lstStyle/>
          <a:p>
            <a:pPr>
              <a:lnSpc>
                <a:spcPct val="112000"/>
              </a:lnSpc>
            </a:pPr>
            <a:r>
              <a:rPr sz="1150" b="0" i="0">
                <a:solidFill>
                  <a:srgbClr val="E6ECF7"/>
                </a:solidFill>
                <a:latin typeface="Arial"/>
              </a:rPr>
              <a:t>The agent keeps running on the existing application runtime</a:t>
            </a:r>
          </a:p>
        </p:txBody>
      </p:sp>
      <p:sp>
        <p:nvSpPr>
          <p:cNvPr id="26" name="TextBox 25"/>
          <p:cNvSpPr txBox="1"/>
          <p:nvPr/>
        </p:nvSpPr>
        <p:spPr>
          <a:xfrm>
            <a:off x="566928" y="5870448"/>
            <a:ext cx="5074920" cy="640080"/>
          </a:xfrm>
          <a:prstGeom prst="rect">
            <a:avLst/>
          </a:prstGeom>
          <a:noFill/>
        </p:spPr>
        <p:txBody>
          <a:bodyPr wrap="square" lIns="0" tIns="0" rIns="0" bIns="0">
            <a:spAutoFit/>
          </a:bodyPr>
          <a:lstStyle/>
          <a:p>
            <a:pPr>
              <a:lnSpc>
                <a:spcPct val="116000"/>
              </a:lnSpc>
              <a:spcAft>
                <a:spcPts val="700"/>
              </a:spcAft>
            </a:pPr>
            <a:r>
              <a:rPr sz="1150" b="0" i="0">
                <a:solidFill>
                  <a:srgbClr val="E6ECF7"/>
                </a:solidFill>
                <a:latin typeface="Arial"/>
              </a:rPr>
              <a:t>Every field exists to make one internal, read-only workflow accountable and observable. If a field cannot be justified for </a:t>
            </a:r>
            <a:r>
              <a:rPr sz="1150" b="1" i="0">
                <a:solidFill>
                  <a:srgbClr val="E6ECF7"/>
                </a:solidFill>
                <a:latin typeface="Arial"/>
              </a:rPr>
              <a:t>this</a:t>
            </a:r>
            <a:r>
              <a:rPr sz="1150" b="0" i="0">
                <a:solidFill>
                  <a:srgbClr val="E6ECF7"/>
                </a:solidFill>
                <a:latin typeface="Arial"/>
              </a:rPr>
              <a:t> workflow, it does not go in yet.</a:t>
            </a:r>
          </a:p>
        </p:txBody>
      </p:sp>
      <p:sp>
        <p:nvSpPr>
          <p:cNvPr id="27" name="Rectangle 26"/>
          <p:cNvSpPr/>
          <p:nvPr/>
        </p:nvSpPr>
        <p:spPr>
          <a:xfrm>
            <a:off x="5989320" y="5870448"/>
            <a:ext cx="38100" cy="402336"/>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90488" y="5870448"/>
            <a:ext cx="5431536" cy="402336"/>
          </a:xfrm>
          <a:prstGeom prst="rect">
            <a:avLst/>
          </a:prstGeom>
          <a:noFill/>
        </p:spPr>
        <p:txBody>
          <a:bodyPr wrap="square" lIns="0" tIns="0" rIns="0" bIns="0" anchor="ctr">
            <a:spAutoFit/>
          </a:bodyPr>
          <a:lstStyle/>
          <a:p>
            <a:pPr>
              <a:lnSpc>
                <a:spcPct val="120000"/>
              </a:lnSpc>
            </a:pPr>
            <a:r>
              <a:rPr sz="1300" b="0" i="1">
                <a:solidFill>
                  <a:srgbClr val="E6ECF7"/>
                </a:solidFill>
                <a:latin typeface="Georgia"/>
              </a:rPr>
              <a:t>No new runtime, no AI gateway, no evaluation service, no new GUI to start.</a:t>
            </a:r>
          </a:p>
        </p:txBody>
      </p:sp>
      <p:sp>
        <p:nvSpPr>
          <p:cNvPr id="29" name="TextBox 28"/>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the proposal</a:t>
            </a:r>
          </a:p>
        </p:txBody>
      </p:sp>
      <p:sp>
        <p:nvSpPr>
          <p:cNvPr id="30" name="TextBox 29"/>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8 · WHERE THE PLATFORM ENDS</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The same picture, marked up</a:t>
            </a:r>
          </a:p>
        </p:txBody>
      </p:sp>
      <p:sp>
        <p:nvSpPr>
          <p:cNvPr id="4" name="TextBox 3"/>
          <p:cNvSpPr txBox="1"/>
          <p:nvPr/>
        </p:nvSpPr>
        <p:spPr>
          <a:xfrm>
            <a:off x="566928" y="1060704"/>
            <a:ext cx="11055096" cy="292608"/>
          </a:xfrm>
          <a:prstGeom prst="rect">
            <a:avLst/>
          </a:prstGeom>
          <a:noFill/>
        </p:spPr>
        <p:txBody>
          <a:bodyPr wrap="square" lIns="0" tIns="0" rIns="0" bIns="0">
            <a:spAutoFit/>
          </a:bodyPr>
          <a:lstStyle/>
          <a:p>
            <a:r>
              <a:rPr sz="1250" b="0" i="0">
                <a:solidFill>
                  <a:srgbClr val="98A4BC"/>
                </a:solidFill>
                <a:latin typeface="Arial"/>
              </a:rPr>
              <a:t>One question per layer: who owns this, and do we need it yet?</a:t>
            </a:r>
          </a:p>
        </p:txBody>
      </p:sp>
      <p:pic>
        <p:nvPicPr>
          <p:cNvPr id="5" name="Picture 4" descr="AI platform reference architecture. Nine layers from experience down to infrastructure, between a column of users and applications on the left and a trust layer on the right. Layers are tinted by ownership status for version 0.1."/>
          <p:cNvPicPr>
            <a:picLocks noChangeAspect="1"/>
          </p:cNvPicPr>
          <p:nvPr/>
        </p:nvPicPr>
        <p:blipFill>
          <a:blip r:embed="rId2"/>
          <a:stretch>
            <a:fillRect/>
          </a:stretch>
        </p:blipFill>
        <p:spPr>
          <a:xfrm>
            <a:off x="566928" y="1444752"/>
            <a:ext cx="8183879" cy="4606354"/>
          </a:xfrm>
          <a:prstGeom prst="rect">
            <a:avLst/>
          </a:prstGeom>
        </p:spPr>
      </p:pic>
      <p:sp>
        <p:nvSpPr>
          <p:cNvPr id="6" name="Rounded Rectangle 5"/>
          <p:cNvSpPr/>
          <p:nvPr/>
        </p:nvSpPr>
        <p:spPr>
          <a:xfrm>
            <a:off x="1665906" y="1883174"/>
            <a:ext cx="5752097" cy="368274"/>
          </a:xfrm>
          <a:prstGeom prst="roundRect">
            <a:avLst>
              <a:gd name="adj" fmla="val 12000"/>
            </a:avLst>
          </a:prstGeom>
          <a:solidFill>
            <a:srgbClr val="03050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665906" y="2274831"/>
            <a:ext cx="5752097" cy="368274"/>
          </a:xfrm>
          <a:prstGeom prst="roundRect">
            <a:avLst>
              <a:gd name="adj" fmla="val 12000"/>
            </a:avLst>
          </a:prstGeom>
          <a:solidFill>
            <a:srgbClr val="03050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665906" y="2672333"/>
            <a:ext cx="5752097" cy="368274"/>
          </a:xfrm>
          <a:prstGeom prst="roundRect">
            <a:avLst>
              <a:gd name="adj" fmla="val 12000"/>
            </a:avLst>
          </a:prstGeom>
          <a:solidFill>
            <a:srgbClr val="03050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65906" y="3467339"/>
            <a:ext cx="5752097" cy="368274"/>
          </a:xfrm>
          <a:prstGeom prst="roundRect">
            <a:avLst>
              <a:gd name="adj" fmla="val 12000"/>
            </a:avLst>
          </a:prstGeom>
          <a:solidFill>
            <a:srgbClr val="03050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665906" y="5051504"/>
            <a:ext cx="5752097" cy="362428"/>
          </a:xfrm>
          <a:prstGeom prst="roundRect">
            <a:avLst>
              <a:gd name="adj" fmla="val 12000"/>
            </a:avLst>
          </a:prstGeom>
          <a:solidFill>
            <a:srgbClr val="03050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665906" y="3069836"/>
            <a:ext cx="5752097" cy="368274"/>
          </a:xfrm>
          <a:prstGeom prst="roundRect">
            <a:avLst>
              <a:gd name="adj" fmla="val 12000"/>
            </a:avLst>
          </a:prstGeom>
          <a:solidFill>
            <a:srgbClr val="E8A33D">
              <a:alpha val="20000"/>
            </a:srgbClr>
          </a:solidFill>
          <a:ln w="222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665906" y="3858996"/>
            <a:ext cx="5752097" cy="368274"/>
          </a:xfrm>
          <a:prstGeom prst="roundRect">
            <a:avLst>
              <a:gd name="adj" fmla="val 12000"/>
            </a:avLst>
          </a:prstGeom>
          <a:solidFill>
            <a:srgbClr val="E8A33D">
              <a:alpha val="20000"/>
            </a:srgbClr>
          </a:solidFill>
          <a:ln w="222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665906" y="4256498"/>
            <a:ext cx="5752097" cy="368274"/>
          </a:xfrm>
          <a:prstGeom prst="roundRect">
            <a:avLst>
              <a:gd name="adj" fmla="val 12000"/>
            </a:avLst>
          </a:prstGeom>
          <a:solidFill>
            <a:srgbClr val="29D3E0">
              <a:alpha val="20000"/>
            </a:srgbClr>
          </a:solidFill>
          <a:ln w="22225">
            <a:solidFill>
              <a:srgbClr val="2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665906" y="4654001"/>
            <a:ext cx="5752097" cy="368274"/>
          </a:xfrm>
          <a:prstGeom prst="roundRect">
            <a:avLst>
              <a:gd name="adj" fmla="val 12000"/>
            </a:avLst>
          </a:prstGeom>
          <a:solidFill>
            <a:srgbClr val="29D3E0">
              <a:alpha val="20000"/>
            </a:srgbClr>
          </a:solidFill>
          <a:ln w="22225">
            <a:solidFill>
              <a:srgbClr val="2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25127" y="1444752"/>
            <a:ext cx="2596896" cy="4606354"/>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9025127" y="1536192"/>
            <a:ext cx="38100" cy="4423474"/>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44583" y="1591056"/>
            <a:ext cx="2194560" cy="274320"/>
          </a:xfrm>
          <a:prstGeom prst="rect">
            <a:avLst/>
          </a:prstGeom>
          <a:noFill/>
        </p:spPr>
        <p:txBody>
          <a:bodyPr wrap="square" lIns="0" tIns="0" rIns="0" bIns="0">
            <a:spAutoFit/>
          </a:bodyPr>
          <a:lstStyle/>
          <a:p>
            <a:r>
              <a:rPr sz="1050" b="1" i="0">
                <a:solidFill>
                  <a:srgbClr val="29D3E0"/>
                </a:solidFill>
                <a:latin typeface="Arial"/>
              </a:rPr>
              <a:t>WHO OWNS IT</a:t>
            </a:r>
          </a:p>
        </p:txBody>
      </p:sp>
      <p:sp>
        <p:nvSpPr>
          <p:cNvPr id="18" name="Rounded Rectangle 17"/>
          <p:cNvSpPr/>
          <p:nvPr/>
        </p:nvSpPr>
        <p:spPr>
          <a:xfrm>
            <a:off x="9244583" y="1984248"/>
            <a:ext cx="155448" cy="155448"/>
          </a:xfrm>
          <a:prstGeom prst="roundRect">
            <a:avLst>
              <a:gd name="adj" fmla="val 25000"/>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91471" y="1956816"/>
            <a:ext cx="2103120" cy="548640"/>
          </a:xfrm>
          <a:prstGeom prst="rect">
            <a:avLst/>
          </a:prstGeom>
          <a:noFill/>
        </p:spPr>
        <p:txBody>
          <a:bodyPr wrap="square" lIns="0" tIns="0" rIns="0" bIns="0">
            <a:spAutoFit/>
          </a:bodyPr>
          <a:lstStyle/>
          <a:p>
            <a:pPr>
              <a:lnSpc>
                <a:spcPct val="110000"/>
              </a:lnSpc>
            </a:pPr>
            <a:r>
              <a:rPr sz="1050" b="0" i="0">
                <a:solidFill>
                  <a:srgbClr val="98A4BC"/>
                </a:solidFill>
                <a:latin typeface="Arial"/>
              </a:rPr>
              <a:t>Contract declares it; existing systems own the facts</a:t>
            </a:r>
          </a:p>
        </p:txBody>
      </p:sp>
      <p:sp>
        <p:nvSpPr>
          <p:cNvPr id="20" name="Rounded Rectangle 19"/>
          <p:cNvSpPr/>
          <p:nvPr/>
        </p:nvSpPr>
        <p:spPr>
          <a:xfrm>
            <a:off x="9244583" y="2679192"/>
            <a:ext cx="155448" cy="155448"/>
          </a:xfrm>
          <a:prstGeom prst="roundRect">
            <a:avLst>
              <a:gd name="adj" fmla="val 2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91471" y="2651760"/>
            <a:ext cx="2103120" cy="548640"/>
          </a:xfrm>
          <a:prstGeom prst="rect">
            <a:avLst/>
          </a:prstGeom>
          <a:noFill/>
        </p:spPr>
        <p:txBody>
          <a:bodyPr wrap="square" lIns="0" tIns="0" rIns="0" bIns="0">
            <a:spAutoFit/>
          </a:bodyPr>
          <a:lstStyle/>
          <a:p>
            <a:pPr>
              <a:lnSpc>
                <a:spcPct val="110000"/>
              </a:lnSpc>
            </a:pPr>
            <a:r>
              <a:rPr sz="1050" b="0" i="0">
                <a:solidFill>
                  <a:srgbClr val="98A4BC"/>
                </a:solidFill>
                <a:latin typeface="Arial"/>
              </a:rPr>
              <a:t>Declared reference; the rest waits for a signal</a:t>
            </a:r>
          </a:p>
        </p:txBody>
      </p:sp>
      <p:sp>
        <p:nvSpPr>
          <p:cNvPr id="22" name="Rounded Rectangle 21"/>
          <p:cNvSpPr/>
          <p:nvPr/>
        </p:nvSpPr>
        <p:spPr>
          <a:xfrm>
            <a:off x="9244583" y="3374136"/>
            <a:ext cx="155448" cy="155448"/>
          </a:xfrm>
          <a:prstGeom prst="roundRect">
            <a:avLst>
              <a:gd name="adj" fmla="val 25000"/>
            </a:avLst>
          </a:prstGeom>
          <a:solidFill>
            <a:srgbClr val="4A5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91471" y="3346704"/>
            <a:ext cx="2103120" cy="548640"/>
          </a:xfrm>
          <a:prstGeom prst="rect">
            <a:avLst/>
          </a:prstGeom>
          <a:noFill/>
        </p:spPr>
        <p:txBody>
          <a:bodyPr wrap="square" lIns="0" tIns="0" rIns="0" bIns="0">
            <a:spAutoFit/>
          </a:bodyPr>
          <a:lstStyle/>
          <a:p>
            <a:pPr>
              <a:lnSpc>
                <a:spcPct val="110000"/>
              </a:lnSpc>
            </a:pPr>
            <a:r>
              <a:rPr sz="1050" b="0" i="0">
                <a:solidFill>
                  <a:srgbClr val="98A4BC"/>
                </a:solidFill>
                <a:latin typeface="Arial"/>
              </a:rPr>
              <a:t>Already have it, the team owns it, or untouched</a:t>
            </a:r>
          </a:p>
        </p:txBody>
      </p:sp>
      <p:sp>
        <p:nvSpPr>
          <p:cNvPr id="24" name="Rectangle 23"/>
          <p:cNvSpPr/>
          <p:nvPr/>
        </p:nvSpPr>
        <p:spPr>
          <a:xfrm>
            <a:off x="9116567" y="3822192"/>
            <a:ext cx="38100" cy="1207008"/>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17735" y="3822192"/>
            <a:ext cx="2194560" cy="1207008"/>
          </a:xfrm>
          <a:prstGeom prst="rect">
            <a:avLst/>
          </a:prstGeom>
          <a:noFill/>
        </p:spPr>
        <p:txBody>
          <a:bodyPr wrap="square" lIns="0" tIns="0" rIns="0" bIns="0" anchor="ctr">
            <a:spAutoFit/>
          </a:bodyPr>
          <a:lstStyle/>
          <a:p>
            <a:pPr>
              <a:lnSpc>
                <a:spcPct val="120000"/>
              </a:lnSpc>
            </a:pPr>
            <a:r>
              <a:rPr sz="1100" b="0" i="1">
                <a:solidFill>
                  <a:srgbClr val="E6ECF7"/>
                </a:solidFill>
                <a:latin typeface="Georgia"/>
              </a:rPr>
              <a:t>That is the whole boundary: one file, CI validation, and a portal view — the cheapest thing on this diagram to walk away from. The other eight layers are already owned, belong to the team, or are waiting.</a:t>
            </a:r>
          </a:p>
        </p:txBody>
      </p:sp>
      <p:sp>
        <p:nvSpPr>
          <p:cNvPr id="26" name="Rectangle 25"/>
          <p:cNvSpPr/>
          <p:nvPr/>
        </p:nvSpPr>
        <p:spPr>
          <a:xfrm>
            <a:off x="9116567" y="5120639"/>
            <a:ext cx="38100" cy="77724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17735" y="5120639"/>
            <a:ext cx="2194560" cy="777240"/>
          </a:xfrm>
          <a:prstGeom prst="rect">
            <a:avLst/>
          </a:prstGeom>
          <a:noFill/>
        </p:spPr>
        <p:txBody>
          <a:bodyPr wrap="square" lIns="0" tIns="0" rIns="0" bIns="0" anchor="ctr">
            <a:spAutoFit/>
          </a:bodyPr>
          <a:lstStyle/>
          <a:p>
            <a:pPr>
              <a:lnSpc>
                <a:spcPct val="120000"/>
              </a:lnSpc>
            </a:pPr>
            <a:r>
              <a:rPr sz="1000" b="0" i="0">
                <a:solidFill>
                  <a:srgbClr val="E6ECF7"/>
                </a:solidFill>
                <a:latin typeface="Arial"/>
              </a:rPr>
              <a:t>Transparency, accountability, verifiability and safety now trace back to a declared field plus the system that owns the fact.</a:t>
            </a:r>
          </a:p>
        </p:txBody>
      </p:sp>
      <p:sp>
        <p:nvSpPr>
          <p:cNvPr id="28" name="TextBox 27"/>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where the platform ends</a:t>
            </a:r>
          </a:p>
        </p:txBody>
      </p:sp>
      <p:sp>
        <p:nvSpPr>
          <p:cNvPr id="29" name="TextBox 28"/>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9 · WHAT IT IS NOT</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The contract connects decisions. It does not enforce them.</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66928" y="1389888"/>
          <a:ext cx="11055095" cy="2139696"/>
        </p:xfrm>
        <a:graphic>
          <a:graphicData uri="http://schemas.openxmlformats.org/drawingml/2006/table">
            <a:tbl>
              <a:tblPr>
                <a:tableStyleId>{5C22544A-7EE6-4342-B048-85BDC9FD1C3A}</a:tableStyleId>
              </a:tblPr>
              <a:tblGrid>
                <a:gridCol w="4200936">
                  <a:extLst>
                    <a:ext uri="{9D8B030D-6E8A-4147-A177-3AD203B41FA5}">
                      <a16:colId xmlns:a16="http://schemas.microsoft.com/office/drawing/2014/main" val="20000"/>
                    </a:ext>
                  </a:extLst>
                </a:gridCol>
                <a:gridCol w="6854159">
                  <a:extLst>
                    <a:ext uri="{9D8B030D-6E8A-4147-A177-3AD203B41FA5}">
                      <a16:colId xmlns:a16="http://schemas.microsoft.com/office/drawing/2014/main" val="20001"/>
                    </a:ext>
                  </a:extLst>
                </a:gridCol>
              </a:tblGrid>
              <a:tr h="310896">
                <a:tc>
                  <a:txBody>
                    <a:bodyPr/>
                    <a:lstStyle/>
                    <a:p>
                      <a:pPr>
                        <a:lnSpc>
                          <a:spcPct val="108000"/>
                        </a:lnSpc>
                      </a:pPr>
                      <a:r>
                        <a:rPr sz="1150" b="1" i="0">
                          <a:solidFill>
                            <a:srgbClr val="29D3E0"/>
                          </a:solidFill>
                          <a:latin typeface="Arial"/>
                        </a:rPr>
                        <a:t>Responsibility</a:t>
                      </a:r>
                    </a:p>
                  </a:txBody>
                  <a:tcPr marL="82296" marR="82296" marT="32004" marB="32004" anchor="ctr">
                    <a:solidFill>
                      <a:srgbClr val="162038"/>
                    </a:solidFill>
                  </a:tcPr>
                </a:tc>
                <a:tc>
                  <a:txBody>
                    <a:bodyPr/>
                    <a:lstStyle/>
                    <a:p>
                      <a:pPr>
                        <a:lnSpc>
                          <a:spcPct val="108000"/>
                        </a:lnSpc>
                      </a:pPr>
                      <a:r>
                        <a:rPr sz="1150" b="1" i="0">
                          <a:solidFill>
                            <a:srgbClr val="29D3E0"/>
                          </a:solidFill>
                          <a:latin typeface="Arial"/>
                        </a:rPr>
                        <a:t>Owner</a:t>
                      </a:r>
                    </a:p>
                  </a:txBody>
                  <a:tcPr marL="82296" marR="82296" marT="32004" marB="32004" anchor="ctr">
                    <a:solidFill>
                      <a:srgbClr val="162038"/>
                    </a:solidFill>
                  </a:tcPr>
                </a:tc>
                <a:extLst>
                  <a:ext uri="{0D108BD9-81ED-4DB2-BD59-A6C34878D82A}">
                    <a16:rowId xmlns:a16="http://schemas.microsoft.com/office/drawing/2014/main" val="10000"/>
                  </a:ext>
                </a:extLst>
              </a:tr>
              <a:tr h="457200">
                <a:tc>
                  <a:txBody>
                    <a:bodyPr/>
                    <a:lstStyle/>
                    <a:p>
                      <a:pPr>
                        <a:lnSpc>
                          <a:spcPct val="108000"/>
                        </a:lnSpc>
                      </a:pPr>
                      <a:r>
                        <a:rPr sz="1200" b="1" i="0">
                          <a:solidFill>
                            <a:srgbClr val="E6ECF7"/>
                          </a:solidFill>
                          <a:latin typeface="Arial"/>
                        </a:rPr>
                        <a:t>Decide which outcome is required</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The person accountable for the harm or obligation</a:t>
                      </a:r>
                    </a:p>
                  </a:txBody>
                  <a:tcPr marL="82296" marR="82296" marT="32004" marB="32004" anchor="ctr">
                    <a:solidFill>
                      <a:srgbClr val="0E1420"/>
                    </a:solidFill>
                  </a:tcPr>
                </a:tc>
                <a:extLst>
                  <a:ext uri="{0D108BD9-81ED-4DB2-BD59-A6C34878D82A}">
                    <a16:rowId xmlns:a16="http://schemas.microsoft.com/office/drawing/2014/main" val="10001"/>
                  </a:ext>
                </a:extLst>
              </a:tr>
              <a:tr h="457200">
                <a:tc>
                  <a:txBody>
                    <a:bodyPr/>
                    <a:lstStyle/>
                    <a:p>
                      <a:pPr>
                        <a:lnSpc>
                          <a:spcPct val="108000"/>
                        </a:lnSpc>
                      </a:pPr>
                      <a:r>
                        <a:rPr sz="1200" b="1" i="0">
                          <a:solidFill>
                            <a:srgbClr val="E6ECF7"/>
                          </a:solidFill>
                          <a:latin typeface="Arial"/>
                        </a:rPr>
                        <a:t>Define representative cases and evidence</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The team that understands the workflow</a:t>
                      </a:r>
                    </a:p>
                  </a:txBody>
                  <a:tcPr marL="82296" marR="82296" marT="32004" marB="32004" anchor="ctr">
                    <a:solidFill>
                      <a:srgbClr val="121A2A"/>
                    </a:solidFill>
                  </a:tcPr>
                </a:tc>
                <a:extLst>
                  <a:ext uri="{0D108BD9-81ED-4DB2-BD59-A6C34878D82A}">
                    <a16:rowId xmlns:a16="http://schemas.microsoft.com/office/drawing/2014/main" val="10002"/>
                  </a:ext>
                </a:extLst>
              </a:tr>
              <a:tr h="457200">
                <a:tc>
                  <a:txBody>
                    <a:bodyPr/>
                    <a:lstStyle/>
                    <a:p>
                      <a:pPr>
                        <a:lnSpc>
                          <a:spcPct val="108000"/>
                        </a:lnSpc>
                      </a:pPr>
                      <a:r>
                        <a:rPr sz="1200" b="1" i="0">
                          <a:solidFill>
                            <a:srgbClr val="E6ECF7"/>
                          </a:solidFill>
                          <a:latin typeface="Arial"/>
                        </a:rPr>
                        <a:t>Encode and validate the rule</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The platform team</a:t>
                      </a:r>
                    </a:p>
                  </a:txBody>
                  <a:tcPr marL="82296" marR="82296" marT="32004" marB="32004" anchor="ctr">
                    <a:solidFill>
                      <a:srgbClr val="0E1420"/>
                    </a:solidFill>
                  </a:tcPr>
                </a:tc>
                <a:extLst>
                  <a:ext uri="{0D108BD9-81ED-4DB2-BD59-A6C34878D82A}">
                    <a16:rowId xmlns:a16="http://schemas.microsoft.com/office/drawing/2014/main" val="10003"/>
                  </a:ext>
                </a:extLst>
              </a:tr>
              <a:tr h="457200">
                <a:tc>
                  <a:txBody>
                    <a:bodyPr/>
                    <a:lstStyle/>
                    <a:p>
                      <a:pPr>
                        <a:lnSpc>
                          <a:spcPct val="108000"/>
                        </a:lnSpc>
                      </a:pPr>
                      <a:r>
                        <a:rPr sz="1200" b="1" i="0">
                          <a:solidFill>
                            <a:srgbClr val="E6ECF7"/>
                          </a:solidFill>
                          <a:latin typeface="Arial"/>
                        </a:rPr>
                        <a:t>Prevent a disallowed action</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A system with the context and authority to stop it</a:t>
                      </a:r>
                    </a:p>
                  </a:txBody>
                  <a:tcPr marL="82296" marR="82296" marT="32004" marB="32004" anchor="ctr">
                    <a:solidFill>
                      <a:srgbClr val="121A2A"/>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66928" y="3639312"/>
            <a:ext cx="11055096" cy="548640"/>
          </a:xfrm>
          <a:prstGeom prst="rect">
            <a:avLst/>
          </a:prstGeom>
          <a:noFill/>
        </p:spPr>
        <p:txBody>
          <a:bodyPr wrap="square" lIns="0" tIns="0" rIns="0" bIns="0">
            <a:spAutoFit/>
          </a:bodyPr>
          <a:lstStyle/>
          <a:p>
            <a:pPr>
              <a:lnSpc>
                <a:spcPct val="116000"/>
              </a:lnSpc>
              <a:spcAft>
                <a:spcPts val="700"/>
              </a:spcAft>
            </a:pPr>
            <a:r>
              <a:rPr sz="1300" b="0" i="0">
                <a:solidFill>
                  <a:srgbClr val="E6ECF7"/>
                </a:solidFill>
                <a:latin typeface="Arial"/>
              </a:rPr>
              <a:t>A gateway can enforce allowed models. A deployment system can require evaluation evidence before release. A downstream service must authorize the business action.</a:t>
            </a:r>
          </a:p>
        </p:txBody>
      </p:sp>
      <p:sp>
        <p:nvSpPr>
          <p:cNvPr id="7" name="Rectangle 6"/>
          <p:cNvSpPr/>
          <p:nvPr/>
        </p:nvSpPr>
        <p:spPr>
          <a:xfrm>
            <a:off x="566928" y="4133087"/>
            <a:ext cx="38100" cy="548640"/>
          </a:xfrm>
          <a:prstGeom prst="rect">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4133087"/>
            <a:ext cx="10853928" cy="548640"/>
          </a:xfrm>
          <a:prstGeom prst="rect">
            <a:avLst/>
          </a:prstGeom>
          <a:noFill/>
        </p:spPr>
        <p:txBody>
          <a:bodyPr wrap="square" lIns="0" tIns="0" rIns="0" bIns="0" anchor="ctr">
            <a:spAutoFit/>
          </a:bodyPr>
          <a:lstStyle/>
          <a:p>
            <a:pPr>
              <a:lnSpc>
                <a:spcPct val="120000"/>
              </a:lnSpc>
            </a:pPr>
            <a:r>
              <a:rPr sz="1900" b="0" i="1">
                <a:solidFill>
                  <a:srgbClr val="E6ECF7"/>
                </a:solidFill>
                <a:latin typeface="Georgia"/>
              </a:rPr>
              <a:t>A YAML file cannot stop an agent from using a credential with too much access.</a:t>
            </a:r>
          </a:p>
        </p:txBody>
      </p:sp>
      <p:sp>
        <p:nvSpPr>
          <p:cNvPr id="9" name="TextBox 8"/>
          <p:cNvSpPr txBox="1"/>
          <p:nvPr/>
        </p:nvSpPr>
        <p:spPr>
          <a:xfrm>
            <a:off x="566928" y="4773168"/>
            <a:ext cx="11055096" cy="1005840"/>
          </a:xfrm>
          <a:prstGeom prst="rect">
            <a:avLst/>
          </a:prstGeom>
          <a:noFill/>
        </p:spPr>
        <p:txBody>
          <a:bodyPr wrap="square" lIns="0" tIns="0" rIns="0" bIns="0">
            <a:spAutoFit/>
          </a:bodyPr>
          <a:lstStyle/>
          <a:p>
            <a:pPr>
              <a:lnSpc>
                <a:spcPct val="116000"/>
              </a:lnSpc>
              <a:spcAft>
                <a:spcPts val="600"/>
              </a:spcAft>
            </a:pPr>
            <a:r>
              <a:rPr sz="1250" b="0" i="0">
                <a:solidFill>
                  <a:srgbClr val="E6ECF7"/>
                </a:solidFill>
                <a:latin typeface="Arial"/>
              </a:rPr>
              <a:t>Workflow-specific decisions stay with the team: model choice, prompts, business rules, authorization, acceptance levels, alerts, and when to release or roll back.</a:t>
            </a:r>
          </a:p>
          <a:p>
            <a:pPr>
              <a:lnSpc>
                <a:spcPct val="116000"/>
              </a:lnSpc>
              <a:spcAft>
                <a:spcPts val="600"/>
              </a:spcAft>
            </a:pPr>
            <a:r>
              <a:rPr sz="1250" b="0" i="0">
                <a:solidFill>
                  <a:srgbClr val="E6ECF7"/>
                </a:solidFill>
                <a:latin typeface="Arial"/>
              </a:rPr>
              <a:t>When teams still need the same manual help, the declared information becomes unreliable, or every system needs a custom adapter — the next addition (generator, gateway, authorization service, evaluation service, runtime) is a response to that signal, not a roadmap item.</a:t>
            </a:r>
          </a:p>
        </p:txBody>
      </p:sp>
      <p:sp>
        <p:nvSpPr>
          <p:cNvPr id="10" name="Rounded Rectangle 9"/>
          <p:cNvSpPr/>
          <p:nvPr/>
        </p:nvSpPr>
        <p:spPr>
          <a:xfrm>
            <a:off x="566928" y="5742432"/>
            <a:ext cx="11055096" cy="56692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66928" y="5833872"/>
            <a:ext cx="38100" cy="384048"/>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852160"/>
            <a:ext cx="10515600" cy="411480"/>
          </a:xfrm>
          <a:prstGeom prst="rect">
            <a:avLst/>
          </a:prstGeom>
          <a:noFill/>
        </p:spPr>
        <p:txBody>
          <a:bodyPr wrap="square" lIns="0" tIns="0" rIns="0" bIns="0">
            <a:spAutoFit/>
          </a:bodyPr>
          <a:lstStyle/>
          <a:p>
            <a:pPr>
              <a:lnSpc>
                <a:spcPct val="116000"/>
              </a:lnSpc>
              <a:spcAft>
                <a:spcPts val="700"/>
              </a:spcAft>
            </a:pPr>
            <a:r>
              <a:rPr sz="1150" b="0" i="0">
                <a:solidFill>
                  <a:srgbClr val="E6ECF7"/>
                </a:solidFill>
                <a:latin typeface="Arial"/>
              </a:rPr>
              <a:t>The condition on anything we add after the contract: it states its exit cost before we build it. The same standard applies to this platform — reduce, replace or remove it when something simpler achieves the same result.</a:t>
            </a:r>
          </a:p>
        </p:txBody>
      </p:sp>
      <p:sp>
        <p:nvSpPr>
          <p:cNvPr id="13" name="TextBox 12"/>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what it is not</a:t>
            </a:r>
          </a:p>
        </p:txBody>
      </p:sp>
      <p:sp>
        <p:nvSpPr>
          <p:cNvPr id="14" name="TextBox 13"/>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29D3E0"/>
                </a:solidFill>
                <a:latin typeface="Arial"/>
              </a:rPr>
              <a:t>SLIDE 10 · WHAT I DON'T KNOW YET</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What I don't know yet</a:t>
            </a:r>
          </a:p>
        </p:txBody>
      </p:sp>
      <p:sp>
        <p:nvSpPr>
          <p:cNvPr id="4" name="Rectangle 3"/>
          <p:cNvSpPr/>
          <p:nvPr/>
        </p:nvSpPr>
        <p:spPr>
          <a:xfrm>
            <a:off x="566928" y="1225296"/>
            <a:ext cx="1371600" cy="3175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89888"/>
            <a:ext cx="11055096" cy="1005840"/>
          </a:xfrm>
          <a:prstGeom prst="rect">
            <a:avLst/>
          </a:prstGeom>
          <a:noFill/>
        </p:spPr>
        <p:txBody>
          <a:bodyPr wrap="square" lIns="0" tIns="0" rIns="0" bIns="0">
            <a:spAutoFit/>
          </a:bodyPr>
          <a:lstStyle/>
          <a:p>
            <a:pPr>
              <a:lnSpc>
                <a:spcPct val="116000"/>
              </a:lnSpc>
              <a:spcAft>
                <a:spcPts val="700"/>
              </a:spcAft>
            </a:pPr>
            <a:r>
              <a:rPr sz="1300" b="0" i="0">
                <a:solidFill>
                  <a:srgbClr val="E6ECF7"/>
                </a:solidFill>
                <a:latin typeface="Arial"/>
              </a:rPr>
              <a:t>Prototype 0.1 has one problem worth stating directly: </a:t>
            </a:r>
            <a:r>
              <a:rPr sz="1300" b="1" i="0">
                <a:solidFill>
                  <a:srgbClr val="E6ECF7"/>
                </a:solidFill>
                <a:latin typeface="Arial"/>
              </a:rPr>
              <a:t>no team has used it.</a:t>
            </a:r>
            <a:r>
              <a:rPr sz="1300" b="0" i="0">
                <a:solidFill>
                  <a:srgbClr val="E6ECF7"/>
                </a:solidFill>
                <a:latin typeface="Arial"/>
              </a:rPr>
              <a:t> It is a file I wrote to find out whether the idea holds together — which is the same kind of evidence I said on slide 4 that I no longer trust.</a:t>
            </a:r>
          </a:p>
          <a:p>
            <a:pPr>
              <a:lnSpc>
                <a:spcPct val="116000"/>
              </a:lnSpc>
              <a:spcAft>
                <a:spcPts val="700"/>
              </a:spcAft>
            </a:pPr>
            <a:r>
              <a:rPr sz="1300" b="0" i="0">
                <a:solidFill>
                  <a:srgbClr val="E6ECF7"/>
                </a:solidFill>
                <a:latin typeface="Arial"/>
              </a:rPr>
              <a:t>So the open question is not what the contract should contain. It is how a contract nobody asked for reaches its first team. I see three ways and I do not know which is right.</a:t>
            </a:r>
          </a:p>
        </p:txBody>
      </p:sp>
      <p:sp>
        <p:nvSpPr>
          <p:cNvPr id="6" name="Rounded Rectangle 5"/>
          <p:cNvSpPr/>
          <p:nvPr/>
        </p:nvSpPr>
        <p:spPr>
          <a:xfrm>
            <a:off x="566928" y="2505456"/>
            <a:ext cx="3557016" cy="248716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66928" y="2596896"/>
            <a:ext cx="38100" cy="2304288"/>
          </a:xfrm>
          <a:prstGeom prst="rect">
            <a:avLst/>
          </a:prstGeom>
          <a:solidFill>
            <a:srgbClr val="8B7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615184"/>
            <a:ext cx="3099816" cy="365760"/>
          </a:xfrm>
          <a:prstGeom prst="rect">
            <a:avLst/>
          </a:prstGeom>
          <a:noFill/>
        </p:spPr>
        <p:txBody>
          <a:bodyPr wrap="square" lIns="0" tIns="0" rIns="0" bIns="0">
            <a:spAutoFit/>
          </a:bodyPr>
          <a:lstStyle/>
          <a:p>
            <a:pPr>
              <a:lnSpc>
                <a:spcPct val="116000"/>
              </a:lnSpc>
              <a:spcBef>
                <a:spcPts val="900"/>
              </a:spcBef>
              <a:spcAft>
                <a:spcPts val="700"/>
              </a:spcAft>
            </a:pPr>
            <a:r>
              <a:rPr sz="1350" b="1" i="0">
                <a:solidFill>
                  <a:srgbClr val="29D3E0"/>
                </a:solidFill>
                <a:latin typeface="Arial"/>
              </a:rPr>
              <a:t>Put it in the template</a:t>
            </a:r>
          </a:p>
        </p:txBody>
      </p:sp>
      <p:sp>
        <p:nvSpPr>
          <p:cNvPr id="9" name="TextBox 8"/>
          <p:cNvSpPr txBox="1"/>
          <p:nvPr/>
        </p:nvSpPr>
        <p:spPr>
          <a:xfrm>
            <a:off x="804672" y="3017520"/>
            <a:ext cx="3099816" cy="822960"/>
          </a:xfrm>
          <a:prstGeom prst="rect">
            <a:avLst/>
          </a:prstGeom>
          <a:noFill/>
        </p:spPr>
        <p:txBody>
          <a:bodyPr wrap="square" lIns="0" tIns="0" rIns="0" bIns="0">
            <a:spAutoFit/>
          </a:bodyPr>
          <a:lstStyle/>
          <a:p>
            <a:pPr>
              <a:lnSpc>
                <a:spcPct val="114000"/>
              </a:lnSpc>
            </a:pPr>
            <a:r>
              <a:rPr sz="1000" b="1" i="0">
                <a:solidFill>
                  <a:srgbClr val="3DBE72"/>
                </a:solidFill>
                <a:latin typeface="Arial"/>
              </a:rPr>
              <a:t>What it buys  </a:t>
            </a:r>
            <a:r>
              <a:rPr sz="1050" b="0" i="0">
                <a:solidFill>
                  <a:srgbClr val="98A4BC"/>
                </a:solidFill>
                <a:latin typeface="Arial"/>
              </a:rPr>
              <a:t>Fastest adoption. Every agent generated through the internal template gets a contract by default; teams receive it without asking</a:t>
            </a:r>
          </a:p>
        </p:txBody>
      </p:sp>
      <p:sp>
        <p:nvSpPr>
          <p:cNvPr id="10" name="TextBox 9"/>
          <p:cNvSpPr txBox="1"/>
          <p:nvPr/>
        </p:nvSpPr>
        <p:spPr>
          <a:xfrm>
            <a:off x="804672" y="3931920"/>
            <a:ext cx="3099816" cy="1005840"/>
          </a:xfrm>
          <a:prstGeom prst="rect">
            <a:avLst/>
          </a:prstGeom>
          <a:noFill/>
        </p:spPr>
        <p:txBody>
          <a:bodyPr wrap="square" lIns="0" tIns="0" rIns="0" bIns="0">
            <a:spAutoFit/>
          </a:bodyPr>
          <a:lstStyle/>
          <a:p>
            <a:pPr>
              <a:lnSpc>
                <a:spcPct val="114000"/>
              </a:lnSpc>
            </a:pPr>
            <a:r>
              <a:rPr sz="1000" b="1" i="0">
                <a:solidFill>
                  <a:srgbClr val="E06C6C"/>
                </a:solidFill>
                <a:latin typeface="Arial"/>
              </a:rPr>
              <a:t>What it costs  </a:t>
            </a:r>
            <a:r>
              <a:rPr sz="1050" b="0" i="0">
                <a:solidFill>
                  <a:srgbClr val="E6ECF7"/>
                </a:solidFill>
                <a:latin typeface="Arial"/>
              </a:rPr>
              <a:t>Nobody chose it. The adoption numbers would look good and mean nothing — the exact failure mode from slide 4. And if CI validates it and audit depends on it, no team can ship without one</a:t>
            </a:r>
          </a:p>
        </p:txBody>
      </p:sp>
      <p:sp>
        <p:nvSpPr>
          <p:cNvPr id="11" name="Rounded Rectangle 10"/>
          <p:cNvSpPr/>
          <p:nvPr/>
        </p:nvSpPr>
        <p:spPr>
          <a:xfrm>
            <a:off x="4315968" y="2505456"/>
            <a:ext cx="3557016" cy="248716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315968" y="2596896"/>
            <a:ext cx="38100" cy="2304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2615184"/>
            <a:ext cx="3099816" cy="365760"/>
          </a:xfrm>
          <a:prstGeom prst="rect">
            <a:avLst/>
          </a:prstGeom>
          <a:noFill/>
        </p:spPr>
        <p:txBody>
          <a:bodyPr wrap="square" lIns="0" tIns="0" rIns="0" bIns="0">
            <a:spAutoFit/>
          </a:bodyPr>
          <a:lstStyle/>
          <a:p>
            <a:pPr>
              <a:lnSpc>
                <a:spcPct val="116000"/>
              </a:lnSpc>
              <a:spcBef>
                <a:spcPts val="900"/>
              </a:spcBef>
              <a:spcAft>
                <a:spcPts val="700"/>
              </a:spcAft>
            </a:pPr>
            <a:r>
              <a:rPr sz="1350" b="1" i="0">
                <a:solidFill>
                  <a:srgbClr val="29D3E0"/>
                </a:solidFill>
                <a:latin typeface="Arial"/>
              </a:rPr>
              <a:t>Wait for the pull</a:t>
            </a:r>
          </a:p>
        </p:txBody>
      </p:sp>
      <p:sp>
        <p:nvSpPr>
          <p:cNvPr id="14" name="TextBox 13"/>
          <p:cNvSpPr txBox="1"/>
          <p:nvPr/>
        </p:nvSpPr>
        <p:spPr>
          <a:xfrm>
            <a:off x="4553712" y="3017520"/>
            <a:ext cx="3099816" cy="822960"/>
          </a:xfrm>
          <a:prstGeom prst="rect">
            <a:avLst/>
          </a:prstGeom>
          <a:noFill/>
        </p:spPr>
        <p:txBody>
          <a:bodyPr wrap="square" lIns="0" tIns="0" rIns="0" bIns="0">
            <a:spAutoFit/>
          </a:bodyPr>
          <a:lstStyle/>
          <a:p>
            <a:pPr>
              <a:lnSpc>
                <a:spcPct val="114000"/>
              </a:lnSpc>
            </a:pPr>
            <a:r>
              <a:rPr sz="1000" b="1" i="0">
                <a:solidFill>
                  <a:srgbClr val="3DBE72"/>
                </a:solidFill>
                <a:latin typeface="Arial"/>
              </a:rPr>
              <a:t>What it buys  </a:t>
            </a:r>
            <a:r>
              <a:rPr sz="1050" b="0" i="0">
                <a:solidFill>
                  <a:srgbClr val="98A4BC"/>
                </a:solidFill>
                <a:latin typeface="Arial"/>
              </a:rPr>
              <a:t>Real demand. We build when a team asks for something it enables: cost attribution, audit evidence, or a way to disable an agent during an incident</a:t>
            </a:r>
          </a:p>
        </p:txBody>
      </p:sp>
      <p:sp>
        <p:nvSpPr>
          <p:cNvPr id="15" name="TextBox 14"/>
          <p:cNvSpPr txBox="1"/>
          <p:nvPr/>
        </p:nvSpPr>
        <p:spPr>
          <a:xfrm>
            <a:off x="4553712" y="3931920"/>
            <a:ext cx="3099816" cy="1005840"/>
          </a:xfrm>
          <a:prstGeom prst="rect">
            <a:avLst/>
          </a:prstGeom>
          <a:noFill/>
        </p:spPr>
        <p:txBody>
          <a:bodyPr wrap="square" lIns="0" tIns="0" rIns="0" bIns="0">
            <a:spAutoFit/>
          </a:bodyPr>
          <a:lstStyle/>
          <a:p>
            <a:pPr>
              <a:lnSpc>
                <a:spcPct val="114000"/>
              </a:lnSpc>
            </a:pPr>
            <a:r>
              <a:rPr sz="1000" b="1" i="0">
                <a:solidFill>
                  <a:srgbClr val="E06C6C"/>
                </a:solidFill>
                <a:latin typeface="Arial"/>
              </a:rPr>
              <a:t>What it costs  </a:t>
            </a:r>
            <a:r>
              <a:rPr sz="1050" b="0" i="0">
                <a:solidFill>
                  <a:srgbClr val="E6ECF7"/>
                </a:solidFill>
                <a:latin typeface="Arial"/>
              </a:rPr>
              <a:t>The request arrives after agents are already in production — the most expensive moment to introduce a contract, and the least likely to get engineering time</a:t>
            </a:r>
          </a:p>
        </p:txBody>
      </p:sp>
      <p:sp>
        <p:nvSpPr>
          <p:cNvPr id="16" name="Rounded Rectangle 15"/>
          <p:cNvSpPr/>
          <p:nvPr/>
        </p:nvSpPr>
        <p:spPr>
          <a:xfrm>
            <a:off x="8065008" y="2505456"/>
            <a:ext cx="3557016" cy="2487168"/>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065008" y="2596896"/>
            <a:ext cx="38100" cy="2304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615184"/>
            <a:ext cx="3099816" cy="365760"/>
          </a:xfrm>
          <a:prstGeom prst="rect">
            <a:avLst/>
          </a:prstGeom>
          <a:noFill/>
        </p:spPr>
        <p:txBody>
          <a:bodyPr wrap="square" lIns="0" tIns="0" rIns="0" bIns="0">
            <a:spAutoFit/>
          </a:bodyPr>
          <a:lstStyle/>
          <a:p>
            <a:pPr>
              <a:lnSpc>
                <a:spcPct val="116000"/>
              </a:lnSpc>
              <a:spcBef>
                <a:spcPts val="900"/>
              </a:spcBef>
              <a:spcAft>
                <a:spcPts val="700"/>
              </a:spcAft>
            </a:pPr>
            <a:r>
              <a:rPr sz="1350" b="1" i="0">
                <a:solidFill>
                  <a:srgbClr val="29D3E0"/>
                </a:solidFill>
                <a:latin typeface="Arial"/>
              </a:rPr>
              <a:t>Don't build it</a:t>
            </a:r>
          </a:p>
        </p:txBody>
      </p:sp>
      <p:sp>
        <p:nvSpPr>
          <p:cNvPr id="19" name="TextBox 18"/>
          <p:cNvSpPr txBox="1"/>
          <p:nvPr/>
        </p:nvSpPr>
        <p:spPr>
          <a:xfrm>
            <a:off x="8302752" y="3017520"/>
            <a:ext cx="3099816" cy="822960"/>
          </a:xfrm>
          <a:prstGeom prst="rect">
            <a:avLst/>
          </a:prstGeom>
          <a:noFill/>
        </p:spPr>
        <p:txBody>
          <a:bodyPr wrap="square" lIns="0" tIns="0" rIns="0" bIns="0">
            <a:spAutoFit/>
          </a:bodyPr>
          <a:lstStyle/>
          <a:p>
            <a:pPr>
              <a:lnSpc>
                <a:spcPct val="114000"/>
              </a:lnSpc>
            </a:pPr>
            <a:r>
              <a:rPr sz="1000" b="1" i="0">
                <a:solidFill>
                  <a:srgbClr val="3DBE72"/>
                </a:solidFill>
                <a:latin typeface="Arial"/>
              </a:rPr>
              <a:t>What it buys  </a:t>
            </a:r>
            <a:r>
              <a:rPr sz="1050" b="0" i="0">
                <a:solidFill>
                  <a:srgbClr val="98A4BC"/>
                </a:solidFill>
                <a:latin typeface="Arial"/>
              </a:rPr>
              <a:t>Cheapest. Add the fields to the service contract the developer portal already uses. No new system to own, nothing to leave</a:t>
            </a:r>
          </a:p>
        </p:txBody>
      </p:sp>
      <p:sp>
        <p:nvSpPr>
          <p:cNvPr id="20" name="TextBox 19"/>
          <p:cNvSpPr txBox="1"/>
          <p:nvPr/>
        </p:nvSpPr>
        <p:spPr>
          <a:xfrm>
            <a:off x="8302752" y="3931920"/>
            <a:ext cx="3099816" cy="1005840"/>
          </a:xfrm>
          <a:prstGeom prst="rect">
            <a:avLst/>
          </a:prstGeom>
          <a:noFill/>
        </p:spPr>
        <p:txBody>
          <a:bodyPr wrap="square" lIns="0" tIns="0" rIns="0" bIns="0">
            <a:spAutoFit/>
          </a:bodyPr>
          <a:lstStyle/>
          <a:p>
            <a:pPr>
              <a:lnSpc>
                <a:spcPct val="114000"/>
              </a:lnSpc>
            </a:pPr>
            <a:r>
              <a:rPr sz="1000" b="1" i="0">
                <a:solidFill>
                  <a:srgbClr val="E06C6C"/>
                </a:solidFill>
                <a:latin typeface="Arial"/>
              </a:rPr>
              <a:t>What it costs  </a:t>
            </a:r>
            <a:r>
              <a:rPr sz="1050" b="0" i="0">
                <a:solidFill>
                  <a:srgbClr val="E6ECF7"/>
                </a:solidFill>
                <a:latin typeface="Arial"/>
              </a:rPr>
              <a:t>Puts AI-specific facts into a system that was not designed for them. Unclear whether that is reuse or a problem that grows slowly</a:t>
            </a:r>
          </a:p>
        </p:txBody>
      </p:sp>
      <p:sp>
        <p:nvSpPr>
          <p:cNvPr id="21" name="Rectangle 20"/>
          <p:cNvSpPr/>
          <p:nvPr/>
        </p:nvSpPr>
        <p:spPr>
          <a:xfrm>
            <a:off x="566928" y="5138928"/>
            <a:ext cx="38100" cy="402336"/>
          </a:xfrm>
          <a:prstGeom prst="rect">
            <a:avLst/>
          </a:prstGeom>
          <a:solidFill>
            <a:srgbClr val="E06C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5138928"/>
            <a:ext cx="10853928" cy="402336"/>
          </a:xfrm>
          <a:prstGeom prst="rect">
            <a:avLst/>
          </a:prstGeom>
          <a:noFill/>
        </p:spPr>
        <p:txBody>
          <a:bodyPr wrap="square" lIns="0" tIns="0" rIns="0" bIns="0" anchor="ctr">
            <a:spAutoFit/>
          </a:bodyPr>
          <a:lstStyle/>
          <a:p>
            <a:pPr>
              <a:lnSpc>
                <a:spcPct val="120000"/>
              </a:lnSpc>
            </a:pPr>
            <a:r>
              <a:rPr sz="1500" b="0" i="1">
                <a:solidFill>
                  <a:srgbClr val="E6ECF7"/>
                </a:solidFill>
                <a:latin typeface="Georgia"/>
              </a:rPr>
              <a:t>The first option is the one I want to pick, and wanting it is the reason I have not.</a:t>
            </a:r>
          </a:p>
        </p:txBody>
      </p:sp>
      <p:sp>
        <p:nvSpPr>
          <p:cNvPr id="23" name="Rounded Rectangle 22"/>
          <p:cNvSpPr/>
          <p:nvPr/>
        </p:nvSpPr>
        <p:spPr>
          <a:xfrm>
            <a:off x="566928" y="5650992"/>
            <a:ext cx="5431536" cy="713232"/>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66928" y="5742432"/>
            <a:ext cx="38100" cy="530352"/>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5724144"/>
            <a:ext cx="4937760" cy="640080"/>
          </a:xfrm>
          <a:prstGeom prst="rect">
            <a:avLst/>
          </a:prstGeom>
          <a:noFill/>
        </p:spPr>
        <p:txBody>
          <a:bodyPr wrap="square" lIns="0" tIns="0" rIns="0" bIns="0">
            <a:spAutoFit/>
          </a:bodyPr>
          <a:lstStyle/>
          <a:p>
            <a:pPr>
              <a:lnSpc>
                <a:spcPct val="116000"/>
              </a:lnSpc>
              <a:spcBef>
                <a:spcPts val="900"/>
              </a:spcBef>
              <a:spcAft>
                <a:spcPts val="100"/>
              </a:spcAft>
            </a:pPr>
            <a:r>
              <a:rPr sz="1200" b="1" i="0">
                <a:solidFill>
                  <a:srgbClr val="29D3E0"/>
                </a:solidFill>
                <a:latin typeface="Arial"/>
              </a:rPr>
              <a:t>What would help me most</a:t>
            </a:r>
          </a:p>
          <a:p>
            <a:pPr>
              <a:lnSpc>
                <a:spcPct val="116000"/>
              </a:lnSpc>
              <a:spcAft>
                <a:spcPts val="100"/>
              </a:spcAft>
            </a:pPr>
            <a:r>
              <a:rPr sz="1150" b="0" i="0">
                <a:solidFill>
                  <a:srgbClr val="E6ECF7"/>
                </a:solidFill>
                <a:latin typeface="Arial"/>
              </a:rPr>
              <a:t>Which of the three would you pick — and where does it break in your context? A concrete objection beats agreement.</a:t>
            </a:r>
          </a:p>
        </p:txBody>
      </p:sp>
      <p:sp>
        <p:nvSpPr>
          <p:cNvPr id="26" name="Rounded Rectangle 25"/>
          <p:cNvSpPr/>
          <p:nvPr/>
        </p:nvSpPr>
        <p:spPr>
          <a:xfrm>
            <a:off x="6190488" y="5650992"/>
            <a:ext cx="5431536" cy="713232"/>
          </a:xfrm>
          <a:prstGeom prst="roundRect">
            <a:avLst>
              <a:gd name="adj" fmla="val 4000"/>
            </a:avLst>
          </a:prstGeom>
          <a:solidFill>
            <a:srgbClr val="0E1420"/>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6190488" y="5742432"/>
            <a:ext cx="38100" cy="530352"/>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8232" y="5724144"/>
            <a:ext cx="4937760" cy="640080"/>
          </a:xfrm>
          <a:prstGeom prst="rect">
            <a:avLst/>
          </a:prstGeom>
          <a:noFill/>
        </p:spPr>
        <p:txBody>
          <a:bodyPr wrap="square" lIns="0" tIns="0" rIns="0" bIns="0">
            <a:spAutoFit/>
          </a:bodyPr>
          <a:lstStyle/>
          <a:p>
            <a:pPr>
              <a:lnSpc>
                <a:spcPct val="116000"/>
              </a:lnSpc>
              <a:spcBef>
                <a:spcPts val="900"/>
              </a:spcBef>
              <a:spcAft>
                <a:spcPts val="100"/>
              </a:spcAft>
            </a:pPr>
            <a:r>
              <a:rPr sz="1200" b="1" i="0">
                <a:solidFill>
                  <a:srgbClr val="29D3E0"/>
                </a:solidFill>
                <a:latin typeface="Arial"/>
              </a:rPr>
              <a:t>What would change my mind</a:t>
            </a:r>
          </a:p>
          <a:p>
            <a:pPr>
              <a:lnSpc>
                <a:spcPct val="116000"/>
              </a:lnSpc>
              <a:spcAft>
                <a:spcPts val="100"/>
              </a:spcAft>
            </a:pPr>
            <a:r>
              <a:rPr sz="1150" b="0" i="0">
                <a:solidFill>
                  <a:srgbClr val="E6ECF7"/>
                </a:solidFill>
                <a:latin typeface="Arial"/>
              </a:rPr>
              <a:t>A team that was handed a contract by default and actually used it. If you have been here before, what did it cost?</a:t>
            </a:r>
          </a:p>
        </p:txBody>
      </p:sp>
      <p:sp>
        <p:nvSpPr>
          <p:cNvPr id="29" name="TextBox 28"/>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Smallest AI platform · what I don't know yet</a:t>
            </a:r>
          </a:p>
        </p:txBody>
      </p:sp>
      <p:sp>
        <p:nvSpPr>
          <p:cNvPr id="30" name="TextBox 29"/>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E8A33D"/>
                </a:solidFill>
                <a:latin typeface="Arial"/>
              </a:rPr>
              <a:t>APPENDIX A1 · NOT PRESENTED</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Nine layers, capability by capability</a:t>
            </a:r>
          </a:p>
        </p:txBody>
      </p:sp>
      <p:sp>
        <p:nvSpPr>
          <p:cNvPr id="4" name="Rectangle 3"/>
          <p:cNvSpPr/>
          <p:nvPr/>
        </p:nvSpPr>
        <p:spPr>
          <a:xfrm>
            <a:off x="566928" y="1225296"/>
            <a:ext cx="1371600" cy="3175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35024"/>
            <a:ext cx="11055096" cy="274320"/>
          </a:xfrm>
          <a:prstGeom prst="rect">
            <a:avLst/>
          </a:prstGeom>
          <a:noFill/>
        </p:spPr>
        <p:txBody>
          <a:bodyPr wrap="square" lIns="0" tIns="0" rIns="0" bIns="0">
            <a:spAutoFit/>
          </a:bodyPr>
          <a:lstStyle/>
          <a:p>
            <a:r>
              <a:rPr sz="1100" b="0" i="1">
                <a:solidFill>
                  <a:srgbClr val="98A4BC"/>
                </a:solidFill>
                <a:latin typeface="Arial"/>
              </a:rPr>
              <a:t>Use when someone wants the full picture read out rather than shown.</a:t>
            </a:r>
          </a:p>
        </p:txBody>
      </p:sp>
      <p:graphicFrame>
        <p:nvGraphicFramePr>
          <p:cNvPr id="6" name="Table 5"/>
          <p:cNvGraphicFramePr>
            <a:graphicFrameLocks noGrp="1"/>
          </p:cNvGraphicFramePr>
          <p:nvPr/>
        </p:nvGraphicFramePr>
        <p:xfrm>
          <a:off x="566928" y="1700784"/>
          <a:ext cx="11055095" cy="3479292"/>
        </p:xfrm>
        <a:graphic>
          <a:graphicData uri="http://schemas.openxmlformats.org/drawingml/2006/table">
            <a:tbl>
              <a:tblPr>
                <a:tableStyleId>{5C22544A-7EE6-4342-B048-85BDC9FD1C3A}</a:tableStyleId>
              </a:tblPr>
              <a:tblGrid>
                <a:gridCol w="2432121">
                  <a:extLst>
                    <a:ext uri="{9D8B030D-6E8A-4147-A177-3AD203B41FA5}">
                      <a16:colId xmlns:a16="http://schemas.microsoft.com/office/drawing/2014/main" val="20000"/>
                    </a:ext>
                  </a:extLst>
                </a:gridCol>
                <a:gridCol w="8622974">
                  <a:extLst>
                    <a:ext uri="{9D8B030D-6E8A-4147-A177-3AD203B41FA5}">
                      <a16:colId xmlns:a16="http://schemas.microsoft.com/office/drawing/2014/main" val="20001"/>
                    </a:ext>
                  </a:extLst>
                </a:gridCol>
              </a:tblGrid>
              <a:tr h="310896">
                <a:tc>
                  <a:txBody>
                    <a:bodyPr/>
                    <a:lstStyle/>
                    <a:p>
                      <a:pPr>
                        <a:lnSpc>
                          <a:spcPct val="108000"/>
                        </a:lnSpc>
                      </a:pPr>
                      <a:r>
                        <a:rPr sz="1100" b="1" i="0">
                          <a:solidFill>
                            <a:srgbClr val="29D3E0"/>
                          </a:solidFill>
                          <a:latin typeface="Arial"/>
                        </a:rPr>
                        <a:t>Layer</a:t>
                      </a:r>
                    </a:p>
                  </a:txBody>
                  <a:tcPr marL="82296" marR="82296" marT="32004" marB="32004" anchor="ctr">
                    <a:solidFill>
                      <a:srgbClr val="162038"/>
                    </a:solidFill>
                  </a:tcPr>
                </a:tc>
                <a:tc>
                  <a:txBody>
                    <a:bodyPr/>
                    <a:lstStyle/>
                    <a:p>
                      <a:pPr>
                        <a:lnSpc>
                          <a:spcPct val="108000"/>
                        </a:lnSpc>
                      </a:pPr>
                      <a:r>
                        <a:rPr sz="1100" b="1" i="0">
                          <a:solidFill>
                            <a:srgbClr val="29D3E0"/>
                          </a:solidFill>
                          <a:latin typeface="Arial"/>
                        </a:rPr>
                        <a:t>What it provides</a:t>
                      </a:r>
                    </a:p>
                  </a:txBody>
                  <a:tcPr marL="82296" marR="82296" marT="32004" marB="32004" anchor="ctr">
                    <a:solidFill>
                      <a:srgbClr val="162038"/>
                    </a:solidFill>
                  </a:tcPr>
                </a:tc>
                <a:extLst>
                  <a:ext uri="{0D108BD9-81ED-4DB2-BD59-A6C34878D82A}">
                    <a16:rowId xmlns:a16="http://schemas.microsoft.com/office/drawing/2014/main" val="10000"/>
                  </a:ext>
                </a:extLst>
              </a:tr>
              <a:tr h="352044">
                <a:tc>
                  <a:txBody>
                    <a:bodyPr/>
                    <a:lstStyle/>
                    <a:p>
                      <a:pPr>
                        <a:lnSpc>
                          <a:spcPct val="108000"/>
                        </a:lnSpc>
                      </a:pPr>
                      <a:r>
                        <a:rPr sz="1100" b="1" i="0">
                          <a:solidFill>
                            <a:srgbClr val="E6ECF7"/>
                          </a:solidFill>
                          <a:latin typeface="Arial"/>
                        </a:rPr>
                        <a:t>Experience</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Chat/UI, playground, workflows, SDKs and APIs</a:t>
                      </a:r>
                    </a:p>
                  </a:txBody>
                  <a:tcPr marL="82296" marR="82296" marT="32004" marB="32004" anchor="ctr">
                    <a:solidFill>
                      <a:srgbClr val="0E1420"/>
                    </a:solidFill>
                  </a:tcPr>
                </a:tc>
                <a:extLst>
                  <a:ext uri="{0D108BD9-81ED-4DB2-BD59-A6C34878D82A}">
                    <a16:rowId xmlns:a16="http://schemas.microsoft.com/office/drawing/2014/main" val="10001"/>
                  </a:ext>
                </a:extLst>
              </a:tr>
              <a:tr h="352044">
                <a:tc>
                  <a:txBody>
                    <a:bodyPr/>
                    <a:lstStyle/>
                    <a:p>
                      <a:pPr>
                        <a:lnSpc>
                          <a:spcPct val="108000"/>
                        </a:lnSpc>
                      </a:pPr>
                      <a:r>
                        <a:rPr sz="1100" b="1" i="0">
                          <a:solidFill>
                            <a:srgbClr val="E6ECF7"/>
                          </a:solidFill>
                          <a:latin typeface="Arial"/>
                        </a:rPr>
                        <a:t>Agent</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Agent framework, tool use, multi-agent collaboration, task orchestration</a:t>
                      </a:r>
                    </a:p>
                  </a:txBody>
                  <a:tcPr marL="82296" marR="82296" marT="32004" marB="32004" anchor="ctr">
                    <a:solidFill>
                      <a:srgbClr val="121A2A"/>
                    </a:solidFill>
                  </a:tcPr>
                </a:tc>
                <a:extLst>
                  <a:ext uri="{0D108BD9-81ED-4DB2-BD59-A6C34878D82A}">
                    <a16:rowId xmlns:a16="http://schemas.microsoft.com/office/drawing/2014/main" val="10002"/>
                  </a:ext>
                </a:extLst>
              </a:tr>
              <a:tr h="352044">
                <a:tc>
                  <a:txBody>
                    <a:bodyPr/>
                    <a:lstStyle/>
                    <a:p>
                      <a:pPr>
                        <a:lnSpc>
                          <a:spcPct val="108000"/>
                        </a:lnSpc>
                      </a:pPr>
                      <a:r>
                        <a:rPr sz="1100" b="1" i="0">
                          <a:solidFill>
                            <a:srgbClr val="E6ECF7"/>
                          </a:solidFill>
                          <a:latin typeface="Arial"/>
                        </a:rPr>
                        <a:t>Context</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RAG/retrieval, vector DB, data connections, MCP and tool servers</a:t>
                      </a:r>
                    </a:p>
                  </a:txBody>
                  <a:tcPr marL="82296" marR="82296" marT="32004" marB="32004" anchor="ctr">
                    <a:solidFill>
                      <a:srgbClr val="0E1420"/>
                    </a:solidFill>
                  </a:tcPr>
                </a:tc>
                <a:extLst>
                  <a:ext uri="{0D108BD9-81ED-4DB2-BD59-A6C34878D82A}">
                    <a16:rowId xmlns:a16="http://schemas.microsoft.com/office/drawing/2014/main" val="10003"/>
                  </a:ext>
                </a:extLst>
              </a:tr>
              <a:tr h="352044">
                <a:tc>
                  <a:txBody>
                    <a:bodyPr/>
                    <a:lstStyle/>
                    <a:p>
                      <a:pPr>
                        <a:lnSpc>
                          <a:spcPct val="108000"/>
                        </a:lnSpc>
                      </a:pPr>
                      <a:r>
                        <a:rPr sz="1100" b="1" i="0">
                          <a:solidFill>
                            <a:srgbClr val="E6ECF7"/>
                          </a:solidFill>
                          <a:latin typeface="Arial"/>
                        </a:rPr>
                        <a:t>Model &amp; inference</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Model gateway and routing, model selection and fallback, caching, cost and latency optimization</a:t>
                      </a:r>
                    </a:p>
                  </a:txBody>
                  <a:tcPr marL="82296" marR="82296" marT="32004" marB="32004" anchor="ctr">
                    <a:solidFill>
                      <a:srgbClr val="121A2A"/>
                    </a:solidFill>
                  </a:tcPr>
                </a:tc>
                <a:extLst>
                  <a:ext uri="{0D108BD9-81ED-4DB2-BD59-A6C34878D82A}">
                    <a16:rowId xmlns:a16="http://schemas.microsoft.com/office/drawing/2014/main" val="10004"/>
                  </a:ext>
                </a:extLst>
              </a:tr>
              <a:tr h="352044">
                <a:tc>
                  <a:txBody>
                    <a:bodyPr/>
                    <a:lstStyle/>
                    <a:p>
                      <a:pPr>
                        <a:lnSpc>
                          <a:spcPct val="108000"/>
                        </a:lnSpc>
                      </a:pPr>
                      <a:r>
                        <a:rPr sz="1100" b="1" i="0">
                          <a:solidFill>
                            <a:srgbClr val="E6ECF7"/>
                          </a:solidFill>
                          <a:latin typeface="Arial"/>
                        </a:rPr>
                        <a:t>Models</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OpenAI, Anthropic, Google, Meta, our own hosted or fine-tuned models</a:t>
                      </a:r>
                    </a:p>
                  </a:txBody>
                  <a:tcPr marL="82296" marR="82296" marT="32004" marB="32004" anchor="ctr">
                    <a:solidFill>
                      <a:srgbClr val="0E1420"/>
                    </a:solidFill>
                  </a:tcPr>
                </a:tc>
                <a:extLst>
                  <a:ext uri="{0D108BD9-81ED-4DB2-BD59-A6C34878D82A}">
                    <a16:rowId xmlns:a16="http://schemas.microsoft.com/office/drawing/2014/main" val="10005"/>
                  </a:ext>
                </a:extLst>
              </a:tr>
              <a:tr h="352044">
                <a:tc>
                  <a:txBody>
                    <a:bodyPr/>
                    <a:lstStyle/>
                    <a:p>
                      <a:pPr>
                        <a:lnSpc>
                          <a:spcPct val="108000"/>
                        </a:lnSpc>
                      </a:pPr>
                      <a:r>
                        <a:rPr sz="1100" b="1" i="0">
                          <a:solidFill>
                            <a:srgbClr val="E6ECF7"/>
                          </a:solidFill>
                          <a:latin typeface="Arial"/>
                        </a:rPr>
                        <a:t>Evaluation</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Quality metrics, automated evaluations, human feedback, experiments and A/B testing</a:t>
                      </a:r>
                    </a:p>
                  </a:txBody>
                  <a:tcPr marL="82296" marR="82296" marT="32004" marB="32004" anchor="ctr">
                    <a:solidFill>
                      <a:srgbClr val="121A2A"/>
                    </a:solidFill>
                  </a:tcPr>
                </a:tc>
                <a:extLst>
                  <a:ext uri="{0D108BD9-81ED-4DB2-BD59-A6C34878D82A}">
                    <a16:rowId xmlns:a16="http://schemas.microsoft.com/office/drawing/2014/main" val="10006"/>
                  </a:ext>
                </a:extLst>
              </a:tr>
              <a:tr h="352044">
                <a:tc>
                  <a:txBody>
                    <a:bodyPr/>
                    <a:lstStyle/>
                    <a:p>
                      <a:pPr>
                        <a:lnSpc>
                          <a:spcPct val="108000"/>
                        </a:lnSpc>
                      </a:pPr>
                      <a:r>
                        <a:rPr sz="1100" b="1" i="0">
                          <a:solidFill>
                            <a:srgbClr val="E6ECF7"/>
                          </a:solidFill>
                          <a:latin typeface="Arial"/>
                        </a:rPr>
                        <a:t>Governance &amp; security</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Identity and access management, policies and guardrails, data privacy, audit logs and compliance</a:t>
                      </a:r>
                    </a:p>
                  </a:txBody>
                  <a:tcPr marL="82296" marR="82296" marT="32004" marB="32004" anchor="ctr">
                    <a:solidFill>
                      <a:srgbClr val="0E1420"/>
                    </a:solidFill>
                  </a:tcPr>
                </a:tc>
                <a:extLst>
                  <a:ext uri="{0D108BD9-81ED-4DB2-BD59-A6C34878D82A}">
                    <a16:rowId xmlns:a16="http://schemas.microsoft.com/office/drawing/2014/main" val="10007"/>
                  </a:ext>
                </a:extLst>
              </a:tr>
              <a:tr h="352044">
                <a:tc>
                  <a:txBody>
                    <a:bodyPr/>
                    <a:lstStyle/>
                    <a:p>
                      <a:pPr>
                        <a:lnSpc>
                          <a:spcPct val="108000"/>
                        </a:lnSpc>
                      </a:pPr>
                      <a:r>
                        <a:rPr sz="1100" b="1" i="0">
                          <a:solidFill>
                            <a:srgbClr val="E6ECF7"/>
                          </a:solidFill>
                          <a:latin typeface="Arial"/>
                        </a:rPr>
                        <a:t>Observability &amp; operations</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Monitoring and alerting, tracing and logging, usage/quotas/billing, reliability and SLOs</a:t>
                      </a:r>
                    </a:p>
                  </a:txBody>
                  <a:tcPr marL="82296" marR="82296" marT="32004" marB="32004" anchor="ctr">
                    <a:solidFill>
                      <a:srgbClr val="121A2A"/>
                    </a:solidFill>
                  </a:tcPr>
                </a:tc>
                <a:extLst>
                  <a:ext uri="{0D108BD9-81ED-4DB2-BD59-A6C34878D82A}">
                    <a16:rowId xmlns:a16="http://schemas.microsoft.com/office/drawing/2014/main" val="10008"/>
                  </a:ext>
                </a:extLst>
              </a:tr>
              <a:tr h="352044">
                <a:tc>
                  <a:txBody>
                    <a:bodyPr/>
                    <a:lstStyle/>
                    <a:p>
                      <a:pPr>
                        <a:lnSpc>
                          <a:spcPct val="108000"/>
                        </a:lnSpc>
                      </a:pPr>
                      <a:r>
                        <a:rPr sz="1100" b="1" i="0">
                          <a:solidFill>
                            <a:srgbClr val="E6ECF7"/>
                          </a:solidFill>
                          <a:latin typeface="Arial"/>
                        </a:rPr>
                        <a:t>Infrastructure</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Cloud, Kubernetes, GPU/CPU compute, networking, storage</a:t>
                      </a:r>
                    </a:p>
                  </a:txBody>
                  <a:tcPr marL="82296" marR="82296" marT="32004" marB="32004" anchor="ctr">
                    <a:solidFill>
                      <a:srgbClr val="0E1420"/>
                    </a:solidFill>
                  </a:tcPr>
                </a:tc>
                <a:extLst>
                  <a:ext uri="{0D108BD9-81ED-4DB2-BD59-A6C34878D82A}">
                    <a16:rowId xmlns:a16="http://schemas.microsoft.com/office/drawing/2014/main" val="10009"/>
                  </a:ext>
                </a:extLst>
              </a:tr>
            </a:tbl>
          </a:graphicData>
        </a:graphic>
      </p:graphicFrame>
      <p:sp>
        <p:nvSpPr>
          <p:cNvPr id="7" name="TextBox 6"/>
          <p:cNvSpPr txBox="1"/>
          <p:nvPr/>
        </p:nvSpPr>
        <p:spPr>
          <a:xfrm>
            <a:off x="566928" y="5266944"/>
            <a:ext cx="11055096" cy="640080"/>
          </a:xfrm>
          <a:prstGeom prst="rect">
            <a:avLst/>
          </a:prstGeom>
          <a:noFill/>
        </p:spPr>
        <p:txBody>
          <a:bodyPr wrap="square" lIns="0" tIns="0" rIns="0" bIns="0">
            <a:spAutoFit/>
          </a:bodyPr>
          <a:lstStyle/>
          <a:p>
            <a:pPr>
              <a:lnSpc>
                <a:spcPct val="116000"/>
              </a:lnSpc>
              <a:spcAft>
                <a:spcPts val="700"/>
              </a:spcAft>
            </a:pPr>
            <a:r>
              <a:rPr sz="1200" b="0" i="0">
                <a:solidFill>
                  <a:srgbClr val="E6ECF7"/>
                </a:solidFill>
                <a:latin typeface="Arial"/>
              </a:rPr>
              <a:t>The trust layer spans all of them: transparency (what happened and why), explainability (why this answer), verifiability (is it correct), accountability (who did what), safety and control (is it safe and compliant), reliability (can we depend on it).</a:t>
            </a:r>
          </a:p>
        </p:txBody>
      </p:sp>
      <p:sp>
        <p:nvSpPr>
          <p:cNvPr id="8" name="Rectangle 7"/>
          <p:cNvSpPr/>
          <p:nvPr/>
        </p:nvSpPr>
        <p:spPr>
          <a:xfrm>
            <a:off x="566928" y="5852160"/>
            <a:ext cx="38100" cy="42062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5852160"/>
            <a:ext cx="10853928" cy="420624"/>
          </a:xfrm>
          <a:prstGeom prst="rect">
            <a:avLst/>
          </a:prstGeom>
          <a:noFill/>
        </p:spPr>
        <p:txBody>
          <a:bodyPr wrap="square" lIns="0" tIns="0" rIns="0" bIns="0" anchor="ctr">
            <a:spAutoFit/>
          </a:bodyPr>
          <a:lstStyle/>
          <a:p>
            <a:pPr>
              <a:lnSpc>
                <a:spcPct val="120000"/>
              </a:lnSpc>
            </a:pPr>
            <a:r>
              <a:rPr sz="1200" b="0" i="1">
                <a:solidFill>
                  <a:srgbClr val="E6ECF7"/>
                </a:solidFill>
                <a:latin typeface="Georgia"/>
              </a:rPr>
              <a:t>A trustworthy AI platform gives humans confidence to delegate work to AI: the right result, for the right reason, in a safe and reliable way, with full visibility and control.</a:t>
            </a:r>
          </a:p>
        </p:txBody>
      </p:sp>
      <p:sp>
        <p:nvSpPr>
          <p:cNvPr id="10" name="TextBox 9"/>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Appendix · not presented</a:t>
            </a:r>
          </a:p>
        </p:txBody>
      </p:sp>
      <p:sp>
        <p:nvSpPr>
          <p:cNvPr id="11" name="TextBox 10"/>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A1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E8A33D"/>
                </a:solidFill>
                <a:latin typeface="Arial"/>
              </a:rPr>
              <a:t>APPENDIX A2 · NOT PRESENTED</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Which system owns each fact</a:t>
            </a:r>
          </a:p>
        </p:txBody>
      </p:sp>
      <p:sp>
        <p:nvSpPr>
          <p:cNvPr id="4" name="Rectangle 3"/>
          <p:cNvSpPr/>
          <p:nvPr/>
        </p:nvSpPr>
        <p:spPr>
          <a:xfrm>
            <a:off x="566928" y="1225296"/>
            <a:ext cx="1371600" cy="3175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35024"/>
            <a:ext cx="11055096" cy="274320"/>
          </a:xfrm>
          <a:prstGeom prst="rect">
            <a:avLst/>
          </a:prstGeom>
          <a:noFill/>
        </p:spPr>
        <p:txBody>
          <a:bodyPr wrap="square" lIns="0" tIns="0" rIns="0" bIns="0">
            <a:spAutoFit/>
          </a:bodyPr>
          <a:lstStyle/>
          <a:p>
            <a:r>
              <a:rPr sz="1100" b="0" i="1">
                <a:solidFill>
                  <a:srgbClr val="98A4BC"/>
                </a:solidFill>
                <a:latin typeface="Arial"/>
              </a:rPr>
              <a:t>Use when asked whether the contract becomes a second source of truth.</a:t>
            </a:r>
          </a:p>
        </p:txBody>
      </p:sp>
      <p:graphicFrame>
        <p:nvGraphicFramePr>
          <p:cNvPr id="6" name="Table 5"/>
          <p:cNvGraphicFramePr>
            <a:graphicFrameLocks noGrp="1"/>
          </p:cNvGraphicFramePr>
          <p:nvPr/>
        </p:nvGraphicFramePr>
        <p:xfrm>
          <a:off x="566928" y="1773936"/>
          <a:ext cx="11055095" cy="2779776"/>
        </p:xfrm>
        <a:graphic>
          <a:graphicData uri="http://schemas.openxmlformats.org/drawingml/2006/table">
            <a:tbl>
              <a:tblPr>
                <a:tableStyleId>{5C22544A-7EE6-4342-B048-85BDC9FD1C3A}</a:tableStyleId>
              </a:tblPr>
              <a:tblGrid>
                <a:gridCol w="2653223">
                  <a:extLst>
                    <a:ext uri="{9D8B030D-6E8A-4147-A177-3AD203B41FA5}">
                      <a16:colId xmlns:a16="http://schemas.microsoft.com/office/drawing/2014/main" val="20000"/>
                    </a:ext>
                  </a:extLst>
                </a:gridCol>
                <a:gridCol w="5085344">
                  <a:extLst>
                    <a:ext uri="{9D8B030D-6E8A-4147-A177-3AD203B41FA5}">
                      <a16:colId xmlns:a16="http://schemas.microsoft.com/office/drawing/2014/main" val="20001"/>
                    </a:ext>
                  </a:extLst>
                </a:gridCol>
                <a:gridCol w="3316528">
                  <a:extLst>
                    <a:ext uri="{9D8B030D-6E8A-4147-A177-3AD203B41FA5}">
                      <a16:colId xmlns:a16="http://schemas.microsoft.com/office/drawing/2014/main" val="20002"/>
                    </a:ext>
                  </a:extLst>
                </a:gridCol>
              </a:tblGrid>
              <a:tr h="310896">
                <a:tc>
                  <a:txBody>
                    <a:bodyPr/>
                    <a:lstStyle/>
                    <a:p>
                      <a:pPr>
                        <a:lnSpc>
                          <a:spcPct val="108000"/>
                        </a:lnSpc>
                      </a:pPr>
                      <a:r>
                        <a:rPr sz="1150" b="1" i="0">
                          <a:solidFill>
                            <a:srgbClr val="29D3E0"/>
                          </a:solidFill>
                          <a:latin typeface="Arial"/>
                        </a:rPr>
                        <a:t>Kind of fact</a:t>
                      </a:r>
                    </a:p>
                  </a:txBody>
                  <a:tcPr marL="82296" marR="82296" marT="32004" marB="32004" anchor="ctr">
                    <a:solidFill>
                      <a:srgbClr val="162038"/>
                    </a:solidFill>
                  </a:tcPr>
                </a:tc>
                <a:tc>
                  <a:txBody>
                    <a:bodyPr/>
                    <a:lstStyle/>
                    <a:p>
                      <a:pPr>
                        <a:lnSpc>
                          <a:spcPct val="108000"/>
                        </a:lnSpc>
                      </a:pPr>
                      <a:r>
                        <a:rPr sz="1150" b="1" i="0">
                          <a:solidFill>
                            <a:srgbClr val="29D3E0"/>
                          </a:solidFill>
                          <a:latin typeface="Arial"/>
                        </a:rPr>
                        <a:t>Examples</a:t>
                      </a:r>
                    </a:p>
                  </a:txBody>
                  <a:tcPr marL="82296" marR="82296" marT="32004" marB="32004" anchor="ctr">
                    <a:solidFill>
                      <a:srgbClr val="162038"/>
                    </a:solidFill>
                  </a:tcPr>
                </a:tc>
                <a:tc>
                  <a:txBody>
                    <a:bodyPr/>
                    <a:lstStyle/>
                    <a:p>
                      <a:pPr>
                        <a:lnSpc>
                          <a:spcPct val="108000"/>
                        </a:lnSpc>
                      </a:pPr>
                      <a:r>
                        <a:rPr sz="1150" b="1" i="0">
                          <a:solidFill>
                            <a:srgbClr val="29D3E0"/>
                          </a:solidFill>
                          <a:latin typeface="Arial"/>
                        </a:rPr>
                        <a:t>Source</a:t>
                      </a:r>
                    </a:p>
                  </a:txBody>
                  <a:tcPr marL="82296" marR="82296" marT="32004" marB="32004" anchor="ctr">
                    <a:solidFill>
                      <a:srgbClr val="162038"/>
                    </a:solidFill>
                  </a:tcPr>
                </a:tc>
                <a:extLst>
                  <a:ext uri="{0D108BD9-81ED-4DB2-BD59-A6C34878D82A}">
                    <a16:rowId xmlns:a16="http://schemas.microsoft.com/office/drawing/2014/main" val="10000"/>
                  </a:ext>
                </a:extLst>
              </a:tr>
              <a:tr h="822960">
                <a:tc>
                  <a:txBody>
                    <a:bodyPr/>
                    <a:lstStyle/>
                    <a:p>
                      <a:pPr>
                        <a:lnSpc>
                          <a:spcPct val="108000"/>
                        </a:lnSpc>
                      </a:pPr>
                      <a:r>
                        <a:rPr sz="1200" b="1" i="0">
                          <a:solidFill>
                            <a:srgbClr val="E6ECF7"/>
                          </a:solidFill>
                          <a:latin typeface="Arial"/>
                        </a:rPr>
                        <a:t>Declared with the code</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Purpose, owner, lifecycle, risk class, allowed data, model-access reference, incident contact</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Agent contract</a:t>
                      </a:r>
                    </a:p>
                  </a:txBody>
                  <a:tcPr marL="82296" marR="82296" marT="32004" marB="32004" anchor="ctr">
                    <a:solidFill>
                      <a:srgbClr val="0E1420"/>
                    </a:solidFill>
                  </a:tcPr>
                </a:tc>
                <a:extLst>
                  <a:ext uri="{0D108BD9-81ED-4DB2-BD59-A6C34878D82A}">
                    <a16:rowId xmlns:a16="http://schemas.microsoft.com/office/drawing/2014/main" val="10001"/>
                  </a:ext>
                </a:extLst>
              </a:tr>
              <a:tr h="822960">
                <a:tc>
                  <a:txBody>
                    <a:bodyPr/>
                    <a:lstStyle/>
                    <a:p>
                      <a:pPr>
                        <a:lnSpc>
                          <a:spcPct val="108000"/>
                        </a:lnSpc>
                      </a:pPr>
                      <a:r>
                        <a:rPr sz="1200" b="1" i="0">
                          <a:solidFill>
                            <a:srgbClr val="E6ECF7"/>
                          </a:solidFill>
                          <a:latin typeface="Arial"/>
                        </a:rPr>
                        <a:t>Observed while building or running</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Deployed revision, evaluation result, traces, cost</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CI, delivery, evaluation, observability, billing</a:t>
                      </a:r>
                    </a:p>
                  </a:txBody>
                  <a:tcPr marL="82296" marR="82296" marT="32004" marB="32004" anchor="ctr">
                    <a:solidFill>
                      <a:srgbClr val="121A2A"/>
                    </a:solidFill>
                  </a:tcPr>
                </a:tc>
                <a:extLst>
                  <a:ext uri="{0D108BD9-81ED-4DB2-BD59-A6C34878D82A}">
                    <a16:rowId xmlns:a16="http://schemas.microsoft.com/office/drawing/2014/main" val="10002"/>
                  </a:ext>
                </a:extLst>
              </a:tr>
              <a:tr h="822960">
                <a:tc>
                  <a:txBody>
                    <a:bodyPr/>
                    <a:lstStyle/>
                    <a:p>
                      <a:pPr>
                        <a:lnSpc>
                          <a:spcPct val="108000"/>
                        </a:lnSpc>
                      </a:pPr>
                      <a:r>
                        <a:rPr sz="1200" b="1" i="0">
                          <a:solidFill>
                            <a:srgbClr val="E6ECF7"/>
                          </a:solidFill>
                          <a:latin typeface="Arial"/>
                        </a:rPr>
                        <a:t>Confirmed by an accountable owner</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Approval, accepted exception, review decision, expiry</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The system where that decision is made</a:t>
                      </a:r>
                    </a:p>
                  </a:txBody>
                  <a:tcPr marL="82296" marR="82296" marT="32004" marB="32004" anchor="ctr">
                    <a:solidFill>
                      <a:srgbClr val="0E1420"/>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566928" y="4663440"/>
            <a:ext cx="38100" cy="73152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4663440"/>
            <a:ext cx="10853928" cy="731520"/>
          </a:xfrm>
          <a:prstGeom prst="rect">
            <a:avLst/>
          </a:prstGeom>
          <a:noFill/>
        </p:spPr>
        <p:txBody>
          <a:bodyPr wrap="square" lIns="0" tIns="0" rIns="0" bIns="0" anchor="ctr">
            <a:spAutoFit/>
          </a:bodyPr>
          <a:lstStyle/>
          <a:p>
            <a:pPr>
              <a:lnSpc>
                <a:spcPct val="120000"/>
              </a:lnSpc>
            </a:pPr>
            <a:r>
              <a:rPr sz="1400" b="0" i="1">
                <a:solidFill>
                  <a:srgbClr val="E6ECF7"/>
                </a:solidFill>
                <a:latin typeface="Georgia"/>
              </a:rPr>
              <a:t>A developer portal can combine these facts into one view without copying all of them into the repository. The contract carries identifiers and requirements; the original systems remain responsible for the current state.</a:t>
            </a:r>
          </a:p>
        </p:txBody>
      </p:sp>
      <p:sp>
        <p:nvSpPr>
          <p:cNvPr id="9" name="TextBox 8"/>
          <p:cNvSpPr txBox="1"/>
          <p:nvPr/>
        </p:nvSpPr>
        <p:spPr>
          <a:xfrm>
            <a:off x="566928" y="5577840"/>
            <a:ext cx="11055096" cy="640080"/>
          </a:xfrm>
          <a:prstGeom prst="rect">
            <a:avLst/>
          </a:prstGeom>
          <a:noFill/>
        </p:spPr>
        <p:txBody>
          <a:bodyPr wrap="square" lIns="0" tIns="0" rIns="0" bIns="0">
            <a:spAutoFit/>
          </a:bodyPr>
          <a:lstStyle/>
          <a:p>
            <a:pPr>
              <a:lnSpc>
                <a:spcPct val="116000"/>
              </a:lnSpc>
              <a:spcAft>
                <a:spcPts val="700"/>
              </a:spcAft>
            </a:pPr>
            <a:r>
              <a:rPr sz="1250" b="0" i="0">
                <a:solidFill>
                  <a:srgbClr val="E6ECF7"/>
                </a:solidFill>
                <a:latin typeface="Arial"/>
              </a:rPr>
              <a:t>High-impact actions, tool approvals, accepted exceptions and retained evidence get added when a workflow requires them. They do not need to be part of the initial scope.</a:t>
            </a:r>
          </a:p>
        </p:txBody>
      </p:sp>
      <p:sp>
        <p:nvSpPr>
          <p:cNvPr id="10" name="TextBox 9"/>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Appendix · not presented</a:t>
            </a:r>
          </a:p>
        </p:txBody>
      </p:sp>
      <p:sp>
        <p:nvSpPr>
          <p:cNvPr id="11" name="TextBox 10"/>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A2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E8A33D"/>
                </a:solidFill>
                <a:latin typeface="Arial"/>
              </a:rPr>
              <a:t>APPENDIX A3 · NOT PRESENTED</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Status of every layer for version 0.1</a:t>
            </a:r>
          </a:p>
        </p:txBody>
      </p:sp>
      <p:sp>
        <p:nvSpPr>
          <p:cNvPr id="4" name="Rectangle 3"/>
          <p:cNvSpPr/>
          <p:nvPr/>
        </p:nvSpPr>
        <p:spPr>
          <a:xfrm>
            <a:off x="566928" y="1225296"/>
            <a:ext cx="1371600" cy="3175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35024"/>
            <a:ext cx="11055096" cy="274320"/>
          </a:xfrm>
          <a:prstGeom prst="rect">
            <a:avLst/>
          </a:prstGeom>
          <a:noFill/>
        </p:spPr>
        <p:txBody>
          <a:bodyPr wrap="square" lIns="0" tIns="0" rIns="0" bIns="0">
            <a:spAutoFit/>
          </a:bodyPr>
          <a:lstStyle/>
          <a:p>
            <a:r>
              <a:rPr sz="1100" b="0" i="1">
                <a:solidFill>
                  <a:srgbClr val="98A4BC"/>
                </a:solidFill>
                <a:latin typeface="Arial"/>
              </a:rPr>
              <a:t>Use when asked to justify the boundary layer by layer.</a:t>
            </a:r>
          </a:p>
        </p:txBody>
      </p:sp>
      <p:graphicFrame>
        <p:nvGraphicFramePr>
          <p:cNvPr id="6" name="Table 5"/>
          <p:cNvGraphicFramePr>
            <a:graphicFrameLocks noGrp="1"/>
          </p:cNvGraphicFramePr>
          <p:nvPr/>
        </p:nvGraphicFramePr>
        <p:xfrm>
          <a:off x="566928" y="1700784"/>
          <a:ext cx="11055095" cy="4112964"/>
        </p:xfrm>
        <a:graphic>
          <a:graphicData uri="http://schemas.openxmlformats.org/drawingml/2006/table">
            <a:tbl>
              <a:tblPr>
                <a:tableStyleId>{5C22544A-7EE6-4342-B048-85BDC9FD1C3A}</a:tableStyleId>
              </a:tblPr>
              <a:tblGrid>
                <a:gridCol w="1989917">
                  <a:extLst>
                    <a:ext uri="{9D8B030D-6E8A-4147-A177-3AD203B41FA5}">
                      <a16:colId xmlns:a16="http://schemas.microsoft.com/office/drawing/2014/main" val="20000"/>
                    </a:ext>
                  </a:extLst>
                </a:gridCol>
                <a:gridCol w="9065178">
                  <a:extLst>
                    <a:ext uri="{9D8B030D-6E8A-4147-A177-3AD203B41FA5}">
                      <a16:colId xmlns:a16="http://schemas.microsoft.com/office/drawing/2014/main" val="20001"/>
                    </a:ext>
                  </a:extLst>
                </a:gridCol>
              </a:tblGrid>
              <a:tr h="310896">
                <a:tc>
                  <a:txBody>
                    <a:bodyPr/>
                    <a:lstStyle/>
                    <a:p>
                      <a:pPr>
                        <a:lnSpc>
                          <a:spcPct val="108000"/>
                        </a:lnSpc>
                      </a:pPr>
                      <a:r>
                        <a:rPr sz="1100" b="1" i="0">
                          <a:solidFill>
                            <a:srgbClr val="29D3E0"/>
                          </a:solidFill>
                          <a:latin typeface="Arial"/>
                        </a:rPr>
                        <a:t>Layer</a:t>
                      </a:r>
                    </a:p>
                  </a:txBody>
                  <a:tcPr marL="82296" marR="82296" marT="32004" marB="32004" anchor="ctr">
                    <a:solidFill>
                      <a:srgbClr val="162038"/>
                    </a:solidFill>
                  </a:tcPr>
                </a:tc>
                <a:tc>
                  <a:txBody>
                    <a:bodyPr/>
                    <a:lstStyle/>
                    <a:p>
                      <a:pPr>
                        <a:lnSpc>
                          <a:spcPct val="108000"/>
                        </a:lnSpc>
                      </a:pPr>
                      <a:r>
                        <a:rPr sz="1100" b="1" i="0">
                          <a:solidFill>
                            <a:srgbClr val="29D3E0"/>
                          </a:solidFill>
                          <a:latin typeface="Arial"/>
                        </a:rPr>
                        <a:t>Status for version 0.1</a:t>
                      </a:r>
                    </a:p>
                  </a:txBody>
                  <a:tcPr marL="82296" marR="82296" marT="32004" marB="32004" anchor="ctr">
                    <a:solidFill>
                      <a:srgbClr val="162038"/>
                    </a:solidFill>
                  </a:tcPr>
                </a:tc>
                <a:extLst>
                  <a:ext uri="{0D108BD9-81ED-4DB2-BD59-A6C34878D82A}">
                    <a16:rowId xmlns:a16="http://schemas.microsoft.com/office/drawing/2014/main" val="10000"/>
                  </a:ext>
                </a:extLst>
              </a:tr>
              <a:tr h="422452">
                <a:tc>
                  <a:txBody>
                    <a:bodyPr/>
                    <a:lstStyle/>
                    <a:p>
                      <a:pPr>
                        <a:lnSpc>
                          <a:spcPct val="108000"/>
                        </a:lnSpc>
                      </a:pPr>
                      <a:r>
                        <a:rPr sz="1100" b="1" i="0">
                          <a:solidFill>
                            <a:srgbClr val="E6ECF7"/>
                          </a:solidFill>
                          <a:latin typeface="Arial"/>
                        </a:rPr>
                        <a:t>Experience</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Already have it. The Playground covers the entry point; the product surface belongs to the team</a:t>
                      </a:r>
                    </a:p>
                  </a:txBody>
                  <a:tcPr marL="82296" marR="82296" marT="32004" marB="32004" anchor="ctr">
                    <a:solidFill>
                      <a:srgbClr val="0E1420"/>
                    </a:solidFill>
                  </a:tcPr>
                </a:tc>
                <a:extLst>
                  <a:ext uri="{0D108BD9-81ED-4DB2-BD59-A6C34878D82A}">
                    <a16:rowId xmlns:a16="http://schemas.microsoft.com/office/drawing/2014/main" val="10001"/>
                  </a:ext>
                </a:extLst>
              </a:tr>
              <a:tr h="422452">
                <a:tc>
                  <a:txBody>
                    <a:bodyPr/>
                    <a:lstStyle/>
                    <a:p>
                      <a:pPr>
                        <a:lnSpc>
                          <a:spcPct val="108000"/>
                        </a:lnSpc>
                      </a:pPr>
                      <a:r>
                        <a:rPr sz="1100" b="1" i="0">
                          <a:solidFill>
                            <a:srgbClr val="E6ECF7"/>
                          </a:solidFill>
                          <a:latin typeface="Arial"/>
                        </a:rPr>
                        <a:t>Agent</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Team owns it. Framework, tool use, orchestration. The contract only declares identity, purpose, owner and lifecycle</a:t>
                      </a:r>
                    </a:p>
                  </a:txBody>
                  <a:tcPr marL="82296" marR="82296" marT="32004" marB="32004" anchor="ctr">
                    <a:solidFill>
                      <a:srgbClr val="121A2A"/>
                    </a:solidFill>
                  </a:tcPr>
                </a:tc>
                <a:extLst>
                  <a:ext uri="{0D108BD9-81ED-4DB2-BD59-A6C34878D82A}">
                    <a16:rowId xmlns:a16="http://schemas.microsoft.com/office/drawing/2014/main" val="10002"/>
                  </a:ext>
                </a:extLst>
              </a:tr>
              <a:tr h="422452">
                <a:tc>
                  <a:txBody>
                    <a:bodyPr/>
                    <a:lstStyle/>
                    <a:p>
                      <a:pPr>
                        <a:lnSpc>
                          <a:spcPct val="108000"/>
                        </a:lnSpc>
                      </a:pPr>
                      <a:r>
                        <a:rPr sz="1100" b="1" i="0">
                          <a:solidFill>
                            <a:srgbClr val="E6ECF7"/>
                          </a:solidFill>
                          <a:latin typeface="Arial"/>
                        </a:rPr>
                        <a:t>Context</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Team owns it. Retrieval, vector stores, data connections. The contract declares the allowed data class, not the wiring</a:t>
                      </a:r>
                    </a:p>
                  </a:txBody>
                  <a:tcPr marL="82296" marR="82296" marT="32004" marB="32004" anchor="ctr">
                    <a:solidFill>
                      <a:srgbClr val="0E1420"/>
                    </a:solidFill>
                  </a:tcPr>
                </a:tc>
                <a:extLst>
                  <a:ext uri="{0D108BD9-81ED-4DB2-BD59-A6C34878D82A}">
                    <a16:rowId xmlns:a16="http://schemas.microsoft.com/office/drawing/2014/main" val="10003"/>
                  </a:ext>
                </a:extLst>
              </a:tr>
              <a:tr h="422452">
                <a:tc>
                  <a:txBody>
                    <a:bodyPr/>
                    <a:lstStyle/>
                    <a:p>
                      <a:pPr>
                        <a:lnSpc>
                          <a:spcPct val="108000"/>
                        </a:lnSpc>
                      </a:pPr>
                      <a:r>
                        <a:rPr sz="1100" b="1" i="0">
                          <a:solidFill>
                            <a:srgbClr val="E6ECF7"/>
                          </a:solidFill>
                          <a:latin typeface="Arial"/>
                        </a:rPr>
                        <a:t>Model &amp; inference</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Declared reference + deferred. The contract points at approved model access. Gateway, routing, fallback and caching wait for a signal</a:t>
                      </a:r>
                    </a:p>
                  </a:txBody>
                  <a:tcPr marL="82296" marR="82296" marT="32004" marB="32004" anchor="ctr">
                    <a:solidFill>
                      <a:srgbClr val="121A2A"/>
                    </a:solidFill>
                  </a:tcPr>
                </a:tc>
                <a:extLst>
                  <a:ext uri="{0D108BD9-81ED-4DB2-BD59-A6C34878D82A}">
                    <a16:rowId xmlns:a16="http://schemas.microsoft.com/office/drawing/2014/main" val="10004"/>
                  </a:ext>
                </a:extLst>
              </a:tr>
              <a:tr h="422452">
                <a:tc>
                  <a:txBody>
                    <a:bodyPr/>
                    <a:lstStyle/>
                    <a:p>
                      <a:pPr>
                        <a:lnSpc>
                          <a:spcPct val="108000"/>
                        </a:lnSpc>
                      </a:pPr>
                      <a:r>
                        <a:rPr sz="1100" b="1" i="0">
                          <a:solidFill>
                            <a:srgbClr val="E6ECF7"/>
                          </a:solidFill>
                          <a:latin typeface="Arial"/>
                        </a:rPr>
                        <a:t>Models</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External. Approved provider and region are a declared reference, not something we build</a:t>
                      </a:r>
                    </a:p>
                  </a:txBody>
                  <a:tcPr marL="82296" marR="82296" marT="32004" marB="32004" anchor="ctr">
                    <a:solidFill>
                      <a:srgbClr val="0E1420"/>
                    </a:solidFill>
                  </a:tcPr>
                </a:tc>
                <a:extLst>
                  <a:ext uri="{0D108BD9-81ED-4DB2-BD59-A6C34878D82A}">
                    <a16:rowId xmlns:a16="http://schemas.microsoft.com/office/drawing/2014/main" val="10005"/>
                  </a:ext>
                </a:extLst>
              </a:tr>
              <a:tr h="422452">
                <a:tc>
                  <a:txBody>
                    <a:bodyPr/>
                    <a:lstStyle/>
                    <a:p>
                      <a:pPr>
                        <a:lnSpc>
                          <a:spcPct val="108000"/>
                        </a:lnSpc>
                      </a:pPr>
                      <a:r>
                        <a:rPr sz="1100" b="1" i="0">
                          <a:solidFill>
                            <a:srgbClr val="E6ECF7"/>
                          </a:solidFill>
                          <a:latin typeface="Arial"/>
                        </a:rPr>
                        <a:t>Evaluation</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Reference now, runner later. The domain team defines the cases, the possible harm, and what is good enough to release</a:t>
                      </a:r>
                    </a:p>
                  </a:txBody>
                  <a:tcPr marL="82296" marR="82296" marT="32004" marB="32004" anchor="ctr">
                    <a:solidFill>
                      <a:srgbClr val="121A2A"/>
                    </a:solidFill>
                  </a:tcPr>
                </a:tc>
                <a:extLst>
                  <a:ext uri="{0D108BD9-81ED-4DB2-BD59-A6C34878D82A}">
                    <a16:rowId xmlns:a16="http://schemas.microsoft.com/office/drawing/2014/main" val="10006"/>
                  </a:ext>
                </a:extLst>
              </a:tr>
              <a:tr h="422452">
                <a:tc>
                  <a:txBody>
                    <a:bodyPr/>
                    <a:lstStyle/>
                    <a:p>
                      <a:pPr>
                        <a:lnSpc>
                          <a:spcPct val="108000"/>
                        </a:lnSpc>
                      </a:pPr>
                      <a:r>
                        <a:rPr sz="1100" b="1" i="0">
                          <a:solidFill>
                            <a:srgbClr val="E6ECF7"/>
                          </a:solidFill>
                          <a:latin typeface="Arial"/>
                        </a:rPr>
                        <a:t>Governance &amp; security</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Existing systems + contract. Our identity platform issues identities; the resource owner authorizes business actions. CI validates the declarations</a:t>
                      </a:r>
                    </a:p>
                  </a:txBody>
                  <a:tcPr marL="82296" marR="82296" marT="32004" marB="32004" anchor="ctr">
                    <a:solidFill>
                      <a:srgbClr val="0E1420"/>
                    </a:solidFill>
                  </a:tcPr>
                </a:tc>
                <a:extLst>
                  <a:ext uri="{0D108BD9-81ED-4DB2-BD59-A6C34878D82A}">
                    <a16:rowId xmlns:a16="http://schemas.microsoft.com/office/drawing/2014/main" val="10007"/>
                  </a:ext>
                </a:extLst>
              </a:tr>
              <a:tr h="422452">
                <a:tc>
                  <a:txBody>
                    <a:bodyPr/>
                    <a:lstStyle/>
                    <a:p>
                      <a:pPr>
                        <a:lnSpc>
                          <a:spcPct val="108000"/>
                        </a:lnSpc>
                      </a:pPr>
                      <a:r>
                        <a:rPr sz="1100" b="1" i="0">
                          <a:solidFill>
                            <a:srgbClr val="E6ECF7"/>
                          </a:solidFill>
                          <a:latin typeface="Arial"/>
                        </a:rPr>
                        <a:t>Observability &amp; operations</a:t>
                      </a:r>
                    </a:p>
                  </a:txBody>
                  <a:tcPr marL="82296" marR="82296" marT="32004" marB="32004" anchor="ctr">
                    <a:solidFill>
                      <a:srgbClr val="121A2A"/>
                    </a:solidFill>
                  </a:tcPr>
                </a:tc>
                <a:tc>
                  <a:txBody>
                    <a:bodyPr/>
                    <a:lstStyle/>
                    <a:p>
                      <a:pPr>
                        <a:lnSpc>
                          <a:spcPct val="108000"/>
                        </a:lnSpc>
                      </a:pPr>
                      <a:r>
                        <a:rPr sz="1100" b="0" i="0">
                          <a:solidFill>
                            <a:srgbClr val="98A4BC"/>
                          </a:solidFill>
                          <a:latin typeface="Arial"/>
                        </a:rPr>
                        <a:t>Existing systems + identifiers. Observability and billing own the data; the contract carries the trace and cost identifiers</a:t>
                      </a:r>
                    </a:p>
                  </a:txBody>
                  <a:tcPr marL="82296" marR="82296" marT="32004" marB="32004" anchor="ctr">
                    <a:solidFill>
                      <a:srgbClr val="121A2A"/>
                    </a:solidFill>
                  </a:tcPr>
                </a:tc>
                <a:extLst>
                  <a:ext uri="{0D108BD9-81ED-4DB2-BD59-A6C34878D82A}">
                    <a16:rowId xmlns:a16="http://schemas.microsoft.com/office/drawing/2014/main" val="10008"/>
                  </a:ext>
                </a:extLst>
              </a:tr>
              <a:tr h="422452">
                <a:tc>
                  <a:txBody>
                    <a:bodyPr/>
                    <a:lstStyle/>
                    <a:p>
                      <a:pPr>
                        <a:lnSpc>
                          <a:spcPct val="108000"/>
                        </a:lnSpc>
                      </a:pPr>
                      <a:r>
                        <a:rPr sz="1100" b="1" i="0">
                          <a:solidFill>
                            <a:srgbClr val="E6ECF7"/>
                          </a:solidFill>
                          <a:latin typeface="Arial"/>
                        </a:rPr>
                        <a:t>Infrastructure</a:t>
                      </a:r>
                    </a:p>
                  </a:txBody>
                  <a:tcPr marL="82296" marR="82296" marT="32004" marB="32004" anchor="ctr">
                    <a:solidFill>
                      <a:srgbClr val="0E1420"/>
                    </a:solidFill>
                  </a:tcPr>
                </a:tc>
                <a:tc>
                  <a:txBody>
                    <a:bodyPr/>
                    <a:lstStyle/>
                    <a:p>
                      <a:pPr>
                        <a:lnSpc>
                          <a:spcPct val="108000"/>
                        </a:lnSpc>
                      </a:pPr>
                      <a:r>
                        <a:rPr sz="1100" b="0" i="0">
                          <a:solidFill>
                            <a:srgbClr val="98A4BC"/>
                          </a:solidFill>
                          <a:latin typeface="Arial"/>
                        </a:rPr>
                        <a:t>Untouched. The existing application runtime and cloud. We introduce no new runtime</a:t>
                      </a:r>
                    </a:p>
                  </a:txBody>
                  <a:tcPr marL="82296" marR="82296" marT="32004" marB="32004" anchor="ctr">
                    <a:solidFill>
                      <a:srgbClr val="0E1420"/>
                    </a:solidFill>
                  </a:tcPr>
                </a:tc>
                <a:extLst>
                  <a:ext uri="{0D108BD9-81ED-4DB2-BD59-A6C34878D82A}">
                    <a16:rowId xmlns:a16="http://schemas.microsoft.com/office/drawing/2014/main" val="10009"/>
                  </a:ext>
                </a:extLst>
              </a:tr>
            </a:tbl>
          </a:graphicData>
        </a:graphic>
      </p:graphicFrame>
      <p:sp>
        <p:nvSpPr>
          <p:cNvPr id="7" name="Rectangle 6"/>
          <p:cNvSpPr/>
          <p:nvPr/>
        </p:nvSpPr>
        <p:spPr>
          <a:xfrm>
            <a:off x="566928" y="5907024"/>
            <a:ext cx="38100" cy="402336"/>
          </a:xfrm>
          <a:prstGeom prst="rect">
            <a:avLst/>
          </a:prstGeom>
          <a:solidFill>
            <a:srgbClr val="3DBE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5907024"/>
            <a:ext cx="10853928" cy="402336"/>
          </a:xfrm>
          <a:prstGeom prst="rect">
            <a:avLst/>
          </a:prstGeom>
          <a:noFill/>
        </p:spPr>
        <p:txBody>
          <a:bodyPr wrap="square" lIns="0" tIns="0" rIns="0" bIns="0" anchor="ctr">
            <a:spAutoFit/>
          </a:bodyPr>
          <a:lstStyle/>
          <a:p>
            <a:pPr>
              <a:lnSpc>
                <a:spcPct val="120000"/>
              </a:lnSpc>
            </a:pPr>
            <a:r>
              <a:rPr sz="1350" b="0" i="1">
                <a:solidFill>
                  <a:srgbClr val="E6ECF7"/>
                </a:solidFill>
                <a:latin typeface="Georgia"/>
              </a:rPr>
              <a:t>One file, CI validation, and a portal view.</a:t>
            </a:r>
          </a:p>
        </p:txBody>
      </p:sp>
      <p:sp>
        <p:nvSpPr>
          <p:cNvPr id="9" name="TextBox 8"/>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Appendix · not presented</a:t>
            </a:r>
          </a:p>
        </p:txBody>
      </p:sp>
      <p:sp>
        <p:nvSpPr>
          <p:cNvPr id="10" name="TextBox 9"/>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A3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57839" cy="256032"/>
          </a:xfrm>
          <a:prstGeom prst="rect">
            <a:avLst/>
          </a:prstGeom>
          <a:noFill/>
        </p:spPr>
        <p:txBody>
          <a:bodyPr wrap="square" lIns="0" tIns="0" rIns="0" bIns="0">
            <a:spAutoFit/>
          </a:bodyPr>
          <a:lstStyle/>
          <a:p>
            <a:r>
              <a:rPr sz="1050" b="1" i="0">
                <a:solidFill>
                  <a:srgbClr val="E8A33D"/>
                </a:solidFill>
                <a:latin typeface="Arial"/>
              </a:rPr>
              <a:t>APPENDIX A4 · NOT PRESENTED</a:t>
            </a:r>
          </a:p>
        </p:txBody>
      </p:sp>
      <p:sp>
        <p:nvSpPr>
          <p:cNvPr id="3" name="TextBox 2"/>
          <p:cNvSpPr txBox="1"/>
          <p:nvPr/>
        </p:nvSpPr>
        <p:spPr>
          <a:xfrm>
            <a:off x="566928" y="566928"/>
            <a:ext cx="11057839" cy="658368"/>
          </a:xfrm>
          <a:prstGeom prst="rect">
            <a:avLst/>
          </a:prstGeom>
          <a:noFill/>
        </p:spPr>
        <p:txBody>
          <a:bodyPr wrap="square" lIns="0" tIns="0" rIns="0" bIns="0">
            <a:spAutoFit/>
          </a:bodyPr>
          <a:lstStyle/>
          <a:p>
            <a:r>
              <a:rPr sz="2700" b="1" i="0">
                <a:solidFill>
                  <a:srgbClr val="E6ECF7"/>
                </a:solidFill>
                <a:latin typeface="Georgia"/>
              </a:rPr>
              <a:t>The trust column, answered per agent</a:t>
            </a:r>
          </a:p>
        </p:txBody>
      </p:sp>
      <p:sp>
        <p:nvSpPr>
          <p:cNvPr id="4" name="Rectangle 3"/>
          <p:cNvSpPr/>
          <p:nvPr/>
        </p:nvSpPr>
        <p:spPr>
          <a:xfrm>
            <a:off x="566928" y="1225296"/>
            <a:ext cx="1371600" cy="3175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335024"/>
            <a:ext cx="11055096" cy="274320"/>
          </a:xfrm>
          <a:prstGeom prst="rect">
            <a:avLst/>
          </a:prstGeom>
          <a:noFill/>
        </p:spPr>
        <p:txBody>
          <a:bodyPr wrap="square" lIns="0" tIns="0" rIns="0" bIns="0">
            <a:spAutoFit/>
          </a:bodyPr>
          <a:lstStyle/>
          <a:p>
            <a:r>
              <a:rPr sz="1100" b="0" i="1">
                <a:solidFill>
                  <a:srgbClr val="98A4BC"/>
                </a:solidFill>
                <a:latin typeface="Arial"/>
              </a:rPr>
              <a:t>Use when asked what the contract actually buys.</a:t>
            </a:r>
          </a:p>
        </p:txBody>
      </p:sp>
      <p:graphicFrame>
        <p:nvGraphicFramePr>
          <p:cNvPr id="6" name="Table 5"/>
          <p:cNvGraphicFramePr>
            <a:graphicFrameLocks noGrp="1"/>
          </p:cNvGraphicFramePr>
          <p:nvPr/>
        </p:nvGraphicFramePr>
        <p:xfrm>
          <a:off x="566928" y="1773936"/>
          <a:ext cx="11055095" cy="3493008"/>
        </p:xfrm>
        <a:graphic>
          <a:graphicData uri="http://schemas.openxmlformats.org/drawingml/2006/table">
            <a:tbl>
              <a:tblPr>
                <a:tableStyleId>{5C22544A-7EE6-4342-B048-85BDC9FD1C3A}</a:tableStyleId>
              </a:tblPr>
              <a:tblGrid>
                <a:gridCol w="2211019">
                  <a:extLst>
                    <a:ext uri="{9D8B030D-6E8A-4147-A177-3AD203B41FA5}">
                      <a16:colId xmlns:a16="http://schemas.microsoft.com/office/drawing/2014/main" val="20000"/>
                    </a:ext>
                  </a:extLst>
                </a:gridCol>
                <a:gridCol w="5306446">
                  <a:extLst>
                    <a:ext uri="{9D8B030D-6E8A-4147-A177-3AD203B41FA5}">
                      <a16:colId xmlns:a16="http://schemas.microsoft.com/office/drawing/2014/main" val="20001"/>
                    </a:ext>
                  </a:extLst>
                </a:gridCol>
                <a:gridCol w="3537630">
                  <a:extLst>
                    <a:ext uri="{9D8B030D-6E8A-4147-A177-3AD203B41FA5}">
                      <a16:colId xmlns:a16="http://schemas.microsoft.com/office/drawing/2014/main" val="20002"/>
                    </a:ext>
                  </a:extLst>
                </a:gridCol>
              </a:tblGrid>
              <a:tr h="310896">
                <a:tc>
                  <a:txBody>
                    <a:bodyPr/>
                    <a:lstStyle/>
                    <a:p>
                      <a:pPr>
                        <a:lnSpc>
                          <a:spcPct val="108000"/>
                        </a:lnSpc>
                      </a:pPr>
                      <a:r>
                        <a:rPr sz="1150" b="1" i="0">
                          <a:solidFill>
                            <a:srgbClr val="29D3E0"/>
                          </a:solidFill>
                          <a:latin typeface="Arial"/>
                        </a:rPr>
                        <a:t>Trust property</a:t>
                      </a:r>
                    </a:p>
                  </a:txBody>
                  <a:tcPr marL="82296" marR="82296" marT="32004" marB="32004" anchor="ctr">
                    <a:solidFill>
                      <a:srgbClr val="162038"/>
                    </a:solidFill>
                  </a:tcPr>
                </a:tc>
                <a:tc>
                  <a:txBody>
                    <a:bodyPr/>
                    <a:lstStyle/>
                    <a:p>
                      <a:pPr>
                        <a:lnSpc>
                          <a:spcPct val="108000"/>
                        </a:lnSpc>
                      </a:pPr>
                      <a:r>
                        <a:rPr sz="1150" b="1" i="0">
                          <a:solidFill>
                            <a:srgbClr val="29D3E0"/>
                          </a:solidFill>
                          <a:latin typeface="Arial"/>
                        </a:rPr>
                        <a:t>What makes it answerable</a:t>
                      </a:r>
                    </a:p>
                  </a:txBody>
                  <a:tcPr marL="82296" marR="82296" marT="32004" marB="32004" anchor="ctr">
                    <a:solidFill>
                      <a:srgbClr val="162038"/>
                    </a:solidFill>
                  </a:tcPr>
                </a:tc>
                <a:tc>
                  <a:txBody>
                    <a:bodyPr/>
                    <a:lstStyle/>
                    <a:p>
                      <a:pPr>
                        <a:lnSpc>
                          <a:spcPct val="108000"/>
                        </a:lnSpc>
                      </a:pPr>
                      <a:r>
                        <a:rPr sz="1150" b="1" i="0">
                          <a:solidFill>
                            <a:srgbClr val="29D3E0"/>
                          </a:solidFill>
                          <a:latin typeface="Arial"/>
                        </a:rPr>
                        <a:t>Who answers it</a:t>
                      </a:r>
                    </a:p>
                  </a:txBody>
                  <a:tcPr marL="82296" marR="82296" marT="32004" marB="32004" anchor="ctr">
                    <a:solidFill>
                      <a:srgbClr val="162038"/>
                    </a:solidFill>
                  </a:tcPr>
                </a:tc>
                <a:extLst>
                  <a:ext uri="{0D108BD9-81ED-4DB2-BD59-A6C34878D82A}">
                    <a16:rowId xmlns:a16="http://schemas.microsoft.com/office/drawing/2014/main" val="10000"/>
                  </a:ext>
                </a:extLst>
              </a:tr>
              <a:tr h="530352">
                <a:tc>
                  <a:txBody>
                    <a:bodyPr/>
                    <a:lstStyle/>
                    <a:p>
                      <a:pPr>
                        <a:lnSpc>
                          <a:spcPct val="108000"/>
                        </a:lnSpc>
                      </a:pPr>
                      <a:r>
                        <a:rPr sz="1200" b="1" i="0">
                          <a:solidFill>
                            <a:srgbClr val="E6ECF7"/>
                          </a:solidFill>
                          <a:latin typeface="Arial"/>
                        </a:rPr>
                        <a:t>Transparency</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Declared purpose, model access, data class, runtime</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Contract</a:t>
                      </a:r>
                    </a:p>
                  </a:txBody>
                  <a:tcPr marL="82296" marR="82296" marT="32004" marB="32004" anchor="ctr">
                    <a:solidFill>
                      <a:srgbClr val="0E1420"/>
                    </a:solidFill>
                  </a:tcPr>
                </a:tc>
                <a:extLst>
                  <a:ext uri="{0D108BD9-81ED-4DB2-BD59-A6C34878D82A}">
                    <a16:rowId xmlns:a16="http://schemas.microsoft.com/office/drawing/2014/main" val="10001"/>
                  </a:ext>
                </a:extLst>
              </a:tr>
              <a:tr h="530352">
                <a:tc>
                  <a:txBody>
                    <a:bodyPr/>
                    <a:lstStyle/>
                    <a:p>
                      <a:pPr>
                        <a:lnSpc>
                          <a:spcPct val="108000"/>
                        </a:lnSpc>
                      </a:pPr>
                      <a:r>
                        <a:rPr sz="1200" b="1" i="0">
                          <a:solidFill>
                            <a:srgbClr val="E6ECF7"/>
                          </a:solidFill>
                          <a:latin typeface="Arial"/>
                        </a:rPr>
                        <a:t>Accountability</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Declared owner and lifecycle; approvals and exceptions</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Contract + the deciding system</a:t>
                      </a:r>
                    </a:p>
                  </a:txBody>
                  <a:tcPr marL="82296" marR="82296" marT="32004" marB="32004" anchor="ctr">
                    <a:solidFill>
                      <a:srgbClr val="121A2A"/>
                    </a:solidFill>
                  </a:tcPr>
                </a:tc>
                <a:extLst>
                  <a:ext uri="{0D108BD9-81ED-4DB2-BD59-A6C34878D82A}">
                    <a16:rowId xmlns:a16="http://schemas.microsoft.com/office/drawing/2014/main" val="10002"/>
                  </a:ext>
                </a:extLst>
              </a:tr>
              <a:tr h="530352">
                <a:tc>
                  <a:txBody>
                    <a:bodyPr/>
                    <a:lstStyle/>
                    <a:p>
                      <a:pPr>
                        <a:lnSpc>
                          <a:spcPct val="108000"/>
                        </a:lnSpc>
                      </a:pPr>
                      <a:r>
                        <a:rPr sz="1200" b="1" i="0">
                          <a:solidFill>
                            <a:srgbClr val="E6ECF7"/>
                          </a:solidFill>
                          <a:latin typeface="Arial"/>
                        </a:rPr>
                        <a:t>Verifiability</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Evaluation reference</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Contract + evaluation system</a:t>
                      </a:r>
                    </a:p>
                  </a:txBody>
                  <a:tcPr marL="82296" marR="82296" marT="32004" marB="32004" anchor="ctr">
                    <a:solidFill>
                      <a:srgbClr val="0E1420"/>
                    </a:solidFill>
                  </a:tcPr>
                </a:tc>
                <a:extLst>
                  <a:ext uri="{0D108BD9-81ED-4DB2-BD59-A6C34878D82A}">
                    <a16:rowId xmlns:a16="http://schemas.microsoft.com/office/drawing/2014/main" val="10003"/>
                  </a:ext>
                </a:extLst>
              </a:tr>
              <a:tr h="530352">
                <a:tc>
                  <a:txBody>
                    <a:bodyPr/>
                    <a:lstStyle/>
                    <a:p>
                      <a:pPr>
                        <a:lnSpc>
                          <a:spcPct val="108000"/>
                        </a:lnSpc>
                      </a:pPr>
                      <a:r>
                        <a:rPr sz="1200" b="1" i="0">
                          <a:solidFill>
                            <a:srgbClr val="E6ECF7"/>
                          </a:solidFill>
                          <a:latin typeface="Arial"/>
                        </a:rPr>
                        <a:t>Safety &amp; control</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Risk class, allowed data, incident contact, disable instructions</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Contract + enforcing systems</a:t>
                      </a:r>
                    </a:p>
                  </a:txBody>
                  <a:tcPr marL="82296" marR="82296" marT="32004" marB="32004" anchor="ctr">
                    <a:solidFill>
                      <a:srgbClr val="121A2A"/>
                    </a:solidFill>
                  </a:tcPr>
                </a:tc>
                <a:extLst>
                  <a:ext uri="{0D108BD9-81ED-4DB2-BD59-A6C34878D82A}">
                    <a16:rowId xmlns:a16="http://schemas.microsoft.com/office/drawing/2014/main" val="10004"/>
                  </a:ext>
                </a:extLst>
              </a:tr>
              <a:tr h="530352">
                <a:tc>
                  <a:txBody>
                    <a:bodyPr/>
                    <a:lstStyle/>
                    <a:p>
                      <a:pPr>
                        <a:lnSpc>
                          <a:spcPct val="108000"/>
                        </a:lnSpc>
                      </a:pPr>
                      <a:r>
                        <a:rPr sz="1200" b="1" i="0">
                          <a:solidFill>
                            <a:srgbClr val="E6ECF7"/>
                          </a:solidFill>
                          <a:latin typeface="Arial"/>
                        </a:rPr>
                        <a:t>Reliability</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Trace and cost identifiers</a:t>
                      </a:r>
                    </a:p>
                  </a:txBody>
                  <a:tcPr marL="82296" marR="82296" marT="32004" marB="32004" anchor="ctr">
                    <a:solidFill>
                      <a:srgbClr val="0E1420"/>
                    </a:solidFill>
                  </a:tcPr>
                </a:tc>
                <a:tc>
                  <a:txBody>
                    <a:bodyPr/>
                    <a:lstStyle/>
                    <a:p>
                      <a:pPr>
                        <a:lnSpc>
                          <a:spcPct val="108000"/>
                        </a:lnSpc>
                      </a:pPr>
                      <a:r>
                        <a:rPr sz="1200" b="0" i="0">
                          <a:solidFill>
                            <a:srgbClr val="98A4BC"/>
                          </a:solidFill>
                          <a:latin typeface="Arial"/>
                        </a:rPr>
                        <a:t>Contract + observability and billing</a:t>
                      </a:r>
                    </a:p>
                  </a:txBody>
                  <a:tcPr marL="82296" marR="82296" marT="32004" marB="32004" anchor="ctr">
                    <a:solidFill>
                      <a:srgbClr val="0E1420"/>
                    </a:solidFill>
                  </a:tcPr>
                </a:tc>
                <a:extLst>
                  <a:ext uri="{0D108BD9-81ED-4DB2-BD59-A6C34878D82A}">
                    <a16:rowId xmlns:a16="http://schemas.microsoft.com/office/drawing/2014/main" val="10005"/>
                  </a:ext>
                </a:extLst>
              </a:tr>
              <a:tr h="530352">
                <a:tc>
                  <a:txBody>
                    <a:bodyPr/>
                    <a:lstStyle/>
                    <a:p>
                      <a:pPr>
                        <a:lnSpc>
                          <a:spcPct val="108000"/>
                        </a:lnSpc>
                      </a:pPr>
                      <a:r>
                        <a:rPr sz="1200" b="1" i="0">
                          <a:solidFill>
                            <a:srgbClr val="E6ECF7"/>
                          </a:solidFill>
                          <a:latin typeface="Arial"/>
                        </a:rPr>
                        <a:t>Explainability</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Sources and reasoning steps</a:t>
                      </a:r>
                    </a:p>
                  </a:txBody>
                  <a:tcPr marL="82296" marR="82296" marT="32004" marB="32004" anchor="ctr">
                    <a:solidFill>
                      <a:srgbClr val="121A2A"/>
                    </a:solidFill>
                  </a:tcPr>
                </a:tc>
                <a:tc>
                  <a:txBody>
                    <a:bodyPr/>
                    <a:lstStyle/>
                    <a:p>
                      <a:pPr>
                        <a:lnSpc>
                          <a:spcPct val="108000"/>
                        </a:lnSpc>
                      </a:pPr>
                      <a:r>
                        <a:rPr sz="1200" b="0" i="0">
                          <a:solidFill>
                            <a:srgbClr val="98A4BC"/>
                          </a:solidFill>
                          <a:latin typeface="Arial"/>
                        </a:rPr>
                        <a:t>The team's product, not the platform</a:t>
                      </a:r>
                    </a:p>
                  </a:txBody>
                  <a:tcPr marL="82296" marR="82296" marT="32004" marB="32004" anchor="ctr">
                    <a:solidFill>
                      <a:srgbClr val="121A2A"/>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566928" y="5394960"/>
            <a:ext cx="38100" cy="64008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5394960"/>
            <a:ext cx="10853928" cy="640080"/>
          </a:xfrm>
          <a:prstGeom prst="rect">
            <a:avLst/>
          </a:prstGeom>
          <a:noFill/>
        </p:spPr>
        <p:txBody>
          <a:bodyPr wrap="square" lIns="0" tIns="0" rIns="0" bIns="0" anchor="ctr">
            <a:spAutoFit/>
          </a:bodyPr>
          <a:lstStyle/>
          <a:p>
            <a:pPr>
              <a:lnSpc>
                <a:spcPct val="120000"/>
              </a:lnSpc>
            </a:pPr>
            <a:r>
              <a:rPr sz="1400" b="0" i="1">
                <a:solidFill>
                  <a:srgbClr val="E6ECF7"/>
                </a:solidFill>
                <a:latin typeface="Georgia"/>
              </a:rPr>
              <a:t>One file, validated in CI, is the cheapest thing I can find that makes six trust properties answerable for a specific agent rather than for the platform in general.</a:t>
            </a:r>
          </a:p>
        </p:txBody>
      </p:sp>
      <p:sp>
        <p:nvSpPr>
          <p:cNvPr id="9" name="TextBox 8"/>
          <p:cNvSpPr txBox="1"/>
          <p:nvPr/>
        </p:nvSpPr>
        <p:spPr>
          <a:xfrm>
            <a:off x="566928" y="6437376"/>
            <a:ext cx="8229600" cy="219456"/>
          </a:xfrm>
          <a:prstGeom prst="rect">
            <a:avLst/>
          </a:prstGeom>
          <a:noFill/>
        </p:spPr>
        <p:txBody>
          <a:bodyPr wrap="square" lIns="0" tIns="0" rIns="0" bIns="0">
            <a:spAutoFit/>
          </a:bodyPr>
          <a:lstStyle/>
          <a:p>
            <a:r>
              <a:rPr sz="900" b="0" i="0">
                <a:solidFill>
                  <a:srgbClr val="6B7891"/>
                </a:solidFill>
                <a:latin typeface="Arial"/>
              </a:rPr>
              <a:t>Appendix · not presented</a:t>
            </a:r>
          </a:p>
        </p:txBody>
      </p:sp>
      <p:sp>
        <p:nvSpPr>
          <p:cNvPr id="10" name="TextBox 9"/>
          <p:cNvSpPr txBox="1"/>
          <p:nvPr/>
        </p:nvSpPr>
        <p:spPr>
          <a:xfrm>
            <a:off x="10527487" y="6437376"/>
            <a:ext cx="1097280" cy="219456"/>
          </a:xfrm>
          <a:prstGeom prst="rect">
            <a:avLst/>
          </a:prstGeom>
          <a:noFill/>
        </p:spPr>
        <p:txBody>
          <a:bodyPr wrap="square" lIns="0" tIns="0" rIns="0" bIns="0">
            <a:spAutoFit/>
          </a:bodyPr>
          <a:lstStyle/>
          <a:p>
            <a:pPr algn="r"/>
            <a:r>
              <a:rPr sz="900" b="0" i="0">
                <a:solidFill>
                  <a:srgbClr val="6B7891"/>
                </a:solidFill>
                <a:latin typeface="Arial"/>
              </a:rPr>
              <a:t>A4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3066</Words>
  <Application>Microsoft Macintosh PowerPoint</Application>
  <PresentationFormat>Widescreen</PresentationFormat>
  <Paragraphs>269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Sven Malvik</cp:lastModifiedBy>
  <cp:revision>1</cp:revision>
  <dcterms:created xsi:type="dcterms:W3CDTF">2013-01-27T09:14:16Z</dcterms:created>
  <dcterms:modified xsi:type="dcterms:W3CDTF">2026-08-17T14:58:15Z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32e73b5-7a0e-4eff-9b97-b1be62bf21f0_Enabled">
    <vt:lpwstr>true</vt:lpwstr>
  </property>
  <property fmtid="{D5CDD505-2E9C-101B-9397-08002B2CF9AE}" pid="3" name="MSIP_Label_332e73b5-7a0e-4eff-9b97-b1be62bf21f0_SetDate">
    <vt:lpwstr>2026-08-17T14:58:15Z</vt:lpwstr>
  </property>
  <property fmtid="{D5CDD505-2E9C-101B-9397-08002B2CF9AE}" pid="4" name="MSIP_Label_332e73b5-7a0e-4eff-9b97-b1be62bf21f0_Method">
    <vt:lpwstr>Standard</vt:lpwstr>
  </property>
  <property fmtid="{D5CDD505-2E9C-101B-9397-08002B2CF9AE}" pid="5" name="MSIP_Label_332e73b5-7a0e-4eff-9b97-b1be62bf21f0_Name">
    <vt:lpwstr>332e73b5-7a0e-4eff-9b97-b1be62bf21f0</vt:lpwstr>
  </property>
  <property fmtid="{D5CDD505-2E9C-101B-9397-08002B2CF9AE}" pid="6" name="MSIP_Label_332e73b5-7a0e-4eff-9b97-b1be62bf21f0_SiteId">
    <vt:lpwstr>805bc25d-8e64-4ed6-8d24-3883c9068c5a</vt:lpwstr>
  </property>
  <property fmtid="{D5CDD505-2E9C-101B-9397-08002B2CF9AE}" pid="7" name="MSIP_Label_332e73b5-7a0e-4eff-9b97-b1be62bf21f0_ActionId">
    <vt:lpwstr>716c0dee-ee2c-49e8-a86a-7b0cd6ec1bdd</vt:lpwstr>
  </property>
  <property fmtid="{D5CDD505-2E9C-101B-9397-08002B2CF9AE}" pid="8" name="MSIP_Label_332e73b5-7a0e-4eff-9b97-b1be62bf21f0_ContentBits">
    <vt:lpwstr>0</vt:lpwstr>
  </property>
  <property fmtid="{D5CDD505-2E9C-101B-9397-08002B2CF9AE}" pid="9" name="MSIP_Label_332e73b5-7a0e-4eff-9b97-b1be62bf21f0_Tag">
    <vt:lpwstr>50, 3, 0, 1</vt:lpwstr>
  </property>
</Properties>
</file>